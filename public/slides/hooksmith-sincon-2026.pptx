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presProps.xml" ContentType="application/vnd.openxmlformats-officedocument.presentationml.presProps+xml"/>
  <Override PartName="/ppt/media/media45.mp4" ContentType="video/mp4"/>
  <Override PartName="/ppt/media/media41.mp4" ContentType="video/mp4"/>
  <Override PartName="/ppt/media/media21.mp4" ContentType="video/mp4"/>
  <Override PartName="/ppt/media/media19.mp4" ContentType="video/mp4"/>
  <Override PartName="/ppt/media/media43.mp4" ContentType="video/mp4"/>
  <Override PartName="/ppt/media/media23.mp4" ContentType="video/mp4"/>
  <Override PartName="/ppt/media/media39.mp4" ContentType="video/mp4"/>
  <Override PartName="/ppt/media/media37.mp4" ContentType="video/mp4"/>
  <Override PartName="/ppt/media/media17.mp4" ContentType="video/mp4"/>
  <Override PartName="/ppt/media/media51.mp4" ContentType="video/mp4"/>
  <Override PartName="/ppt/notesMasters/notesMaster1.xml" ContentType="application/vnd.openxmlformats-officedocument.presentationml.notesMaster+xml"/>
  <Override PartName="/ppt/slides/slide29.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49.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48.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47.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43.xml" ContentType="application/vnd.openxmlformats-officedocument.presentationml.notesSlide+xml"/>
  <Override PartName="/ppt/notesSlides/notesSlide1.xml" ContentType="application/vnd.openxmlformats-officedocument.presentationml.notesSlide+xml"/>
  <Override PartName="/ppt/notesSlides/notesSlide41.xml" ContentType="application/vnd.openxmlformats-officedocument.presentationml.notesSlide+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49.xml" ContentType="application/vnd.openxmlformats-officedocument.presentationml.notesSlide+xml"/>
  <Override PartName="/ppt/notesSlides/notesSlide46.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3200" b="0" u="none" strike="noStrike">
                <a:solidFill>
                  <a:schemeClr val="lt1"/>
                </a:solidFill>
                <a:effectLst/>
                <a:uFillTx/>
                <a:latin typeface="JetBrains Mono"/>
              </a:rPr>
              <a:t>Click to move the slide</a:t>
            </a:r>
            <a:endParaRPr lang="en-US" sz="3200" b="0" u="none" strike="noStrike">
              <a:solidFill>
                <a:schemeClr val="lt1"/>
              </a:solidFill>
              <a:effectLst/>
              <a:uFillTx/>
              <a:latin typeface="JetBrains Mono"/>
            </a:endParaRPr>
          </a:p>
        </p:txBody>
      </p:sp>
      <p:sp>
        <p:nvSpPr>
          <p:cNvPr id="2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2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23"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4"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43AFBDB-B061-4BB9-A5AA-4B033BCE39C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685800" y="1143000"/>
            <a:ext cx="5485680" cy="3085560"/>
          </a:xfrm>
          <a:prstGeom prst="rect">
            <a:avLst/>
          </a:prstGeom>
          <a:ln w="0">
            <a:noFill/>
          </a:ln>
        </p:spPr>
      </p:sp>
      <p:sp>
        <p:nvSpPr>
          <p:cNvPr id="6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on, say hi, point at the phone before I even start talking — that picture is the whole talk. Every finding ends up in one of four buckets, nothing else. Mention HookSmith is going open source today, and that there are six demos, all run for real while prepping this (not staged screenshots pretending to be live). I've got about 45 minutes; the content runs closer to 34, so there's real breathing room for questions and for a demo to misbehave without it wrecking the schedule. Colour code holds for the whole deck: green is PROVEN, yellow REFUTED, orange UNREACHABLE, magenta UNVALIDATED — always next to the word, never standing alone.</a:t>
            </a:r>
            <a:endParaRPr lang="en-US" sz="2000" b="0" u="none" strike="noStrike">
              <a:solidFill>
                <a:srgbClr val="000000"/>
              </a:solidFill>
              <a:effectLst/>
              <a:uFillTx/>
              <a:latin typeface="Arial"/>
            </a:endParaRPr>
          </a:p>
        </p:txBody>
      </p:sp>
      <p:sp>
        <p:nvSpPr>
          <p:cNvPr id="678"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14998E4-B586-4698-80F6-DDF51147E75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685800" y="1143000"/>
            <a:ext cx="5485680" cy="3085560"/>
          </a:xfrm>
          <a:prstGeom prst="rect">
            <a:avLst/>
          </a:prstGeom>
          <a:ln w="0">
            <a:noFill/>
          </a:ln>
        </p:spPr>
      </p:sp>
      <p:sp>
        <p:nvSpPr>
          <p:cNvPr id="68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NEEDS YOUR INPUT before this is final: I only had your actual name, location and the fact that you're releasing HookSmith today to work with — I deliberately didn't invent an employer, certifications, years of experience or social handles, since I have no way to verify any of that and getting it wrong on a SINCON badge slide would be worse than leaving it plain. Tell me what to add — company/role, OSCP-style letters, X/GitHub handle, whatever you actually want on screen — and I'll drop it straight in. Said out loud, keep it to two sentences: who you are, and that HookSmith goes open source today.</a:t>
            </a:r>
            <a:endParaRPr lang="en-US" sz="2000" b="0" u="none" strike="noStrike">
              <a:solidFill>
                <a:srgbClr val="000000"/>
              </a:solidFill>
              <a:effectLst/>
              <a:uFillTx/>
              <a:latin typeface="Arial"/>
            </a:endParaRPr>
          </a:p>
        </p:txBody>
      </p:sp>
      <p:sp>
        <p:nvSpPr>
          <p:cNvPr id="681"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7091682-6426-4313-AAD0-7FF8556F2FA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685800" y="1143000"/>
            <a:ext cx="5485680" cy="3085560"/>
          </a:xfrm>
          <a:prstGeom prst="rect">
            <a:avLst/>
          </a:prstGeom>
          <a:ln w="0">
            <a:noFill/>
          </a:ln>
        </p:spPr>
      </p:sp>
      <p:sp>
        <p:nvSpPr>
          <p:cNvPr id="6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T+0:30 (0:40). Make it personal before you make it technical. Ask for a show of hands — who's written 'potential' or 'possible' in a report because there just wasn't time to check? Let the hands stay up a second, let people look around. Then land it: it's a list of guesses, dressed up as evidence.</a:t>
            </a:r>
            <a:endParaRPr lang="en-US" sz="2000" b="0" u="none" strike="noStrike">
              <a:solidFill>
                <a:srgbClr val="000000"/>
              </a:solidFill>
              <a:effectLst/>
              <a:uFillTx/>
              <a:latin typeface="Arial"/>
            </a:endParaRPr>
          </a:p>
        </p:txBody>
      </p:sp>
      <p:sp>
        <p:nvSpPr>
          <p:cNvPr id="684"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3F3A0BB-40C8-4C9D-89BD-1E520AA2C76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685800" y="1143000"/>
            <a:ext cx="5485680" cy="3085560"/>
          </a:xfrm>
          <a:prstGeom prst="rect">
            <a:avLst/>
          </a:prstGeom>
          <a:ln w="0">
            <a:noFill/>
          </a:ln>
        </p:spPr>
      </p:sp>
      <p:sp>
        <p:nvSpPr>
          <p:cNvPr id="6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T+1:30 (0:40). This is the whole talk on one slide. Left is the sentence everyone writes. Right is the same finding, same bug, but now there's a verdict and the evidence to back it — the client can actually replay it themselves. Demo 3 produces exactly this, live, on a real OWASP MASTG app. Everything between here and there is just how we get from left to right without burning a day per app.</a:t>
            </a:r>
            <a:endParaRPr lang="en-US" sz="2000" b="0" u="none" strike="noStrike">
              <a:solidFill>
                <a:srgbClr val="000000"/>
              </a:solidFill>
              <a:effectLst/>
              <a:uFillTx/>
              <a:latin typeface="Arial"/>
            </a:endParaRPr>
          </a:p>
        </p:txBody>
      </p:sp>
      <p:sp>
        <p:nvSpPr>
          <p:cNvPr id="687"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774E538-BCCA-49C7-961F-FD424512B5C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685800" y="1143000"/>
            <a:ext cx="5485680" cy="3085560"/>
          </a:xfrm>
          <a:prstGeom prst="rect">
            <a:avLst/>
          </a:prstGeom>
          <a:ln w="0">
            <a:noFill/>
          </a:ln>
        </p:spPr>
      </p:sp>
      <p:sp>
        <p:nvSpPr>
          <p:cNvPr id="6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T+2:10 (0:40). The bars are drawn to scale — 40 minutes to under a minute is a 40-to-1 ratio, so that sliver isn't me being cheeky, it's just what the math looks like. Thirty to forty minutes for a skilled Frida hook, and under a minute with HookSmith — both numbers are in the abstract and the README. Don't over-explain, just let the bars sit there, then tease: now multiply that by how many findings a real app actually has.</a:t>
            </a:r>
            <a:endParaRPr lang="en-US" sz="2000" b="0" u="none" strike="noStrike">
              <a:solidFill>
                <a:srgbClr val="000000"/>
              </a:solidFill>
              <a:effectLst/>
              <a:uFillTx/>
              <a:latin typeface="Arial"/>
            </a:endParaRPr>
          </a:p>
        </p:txBody>
      </p:sp>
      <p:sp>
        <p:nvSpPr>
          <p:cNvPr id="690"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7D4FDA6-FB83-4490-9361-A7D567900D7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685800" y="1143000"/>
            <a:ext cx="5485680" cy="3085560"/>
          </a:xfrm>
          <a:prstGeom prst="rect">
            <a:avLst/>
          </a:prstGeom>
          <a:ln w="0">
            <a:noFill/>
          </a:ln>
        </p:spPr>
      </p:sp>
      <p:sp>
        <p:nvSpPr>
          <p:cNvPr id="6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T+2:50 (0:40). 200 findings at 40 minutes each is 8,000 minutes — 133 hours, basically three and a half working weeks on one app. At a minute each with HookSmith that's 200 minutes, 3.3 hours, and the README says under a minute so that's really the ceiling, not the floor. 200 findings is a made-up round number for the arithmetic — if you've got a real figure from your own assessment work, swap it in here, it'll land harder. The line itself comes from the two stated per-finding costs, not a stopwatch on a full run, and I'll say that if anyone asks.</a:t>
            </a:r>
            <a:endParaRPr lang="en-US" sz="2000" b="0" u="none" strike="noStrike">
              <a:solidFill>
                <a:srgbClr val="000000"/>
              </a:solidFill>
              <a:effectLst/>
              <a:uFillTx/>
              <a:latin typeface="Arial"/>
            </a:endParaRPr>
          </a:p>
        </p:txBody>
      </p:sp>
      <p:sp>
        <p:nvSpPr>
          <p:cNvPr id="693"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F16A2D4-B524-4F9A-89F7-0680E0575B3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685800" y="1143000"/>
            <a:ext cx="5485680" cy="3085560"/>
          </a:xfrm>
          <a:prstGeom prst="rect">
            <a:avLst/>
          </a:prstGeom>
          <a:ln w="0">
            <a:noFill/>
          </a:ln>
        </p:spPr>
      </p:sp>
      <p:sp>
        <p:nvSpPr>
          <p:cNvPr id="6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T+3:30 (0:30). The cost of proof quietly rewrites what the report says. Finding something is cheap, proving it costs forty minutes, so the wording absorbs that gap instead — and the client ends up reading certainty levels nobody actually measured. If you've got a real example from the MSTG apps or your own assessment work, this is the spot to tell it.</a:t>
            </a:r>
            <a:endParaRPr lang="en-US" sz="2000" b="0" u="none" strike="noStrike">
              <a:solidFill>
                <a:srgbClr val="000000"/>
              </a:solidFill>
              <a:effectLst/>
              <a:uFillTx/>
              <a:latin typeface="Arial"/>
            </a:endParaRPr>
          </a:p>
        </p:txBody>
      </p:sp>
      <p:sp>
        <p:nvSpPr>
          <p:cNvPr id="696"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2268996-FA90-4FF1-8664-D162A6C8622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685800" y="1143000"/>
            <a:ext cx="5485680" cy="3085560"/>
          </a:xfrm>
          <a:prstGeom prst="rect">
            <a:avLst/>
          </a:prstGeom>
          <a:ln w="0">
            <a:noFill/>
          </a:ln>
        </p:spPr>
      </p:sp>
      <p:sp>
        <p:nvSpPr>
          <p:cNvPr id="6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T+4:00 (0:40). This is the pivot of the whole talk — pause here, let it sit for a beat before moving on. Every static finding leaves the assessment with a runtime verdict attached. No fifth bucket, no 'probably fine' hiding in the margins. And it's a methodology before it's a tool — works fine with pen and paper, the tool just makes it cheap enough to actually do every time. This and the cover are the only two slides carrying the tagline on them; everywhere else it's just the name.</a:t>
            </a:r>
            <a:endParaRPr lang="en-US" sz="2000" b="0" u="none" strike="noStrike">
              <a:solidFill>
                <a:srgbClr val="000000"/>
              </a:solidFill>
              <a:effectLst/>
              <a:uFillTx/>
              <a:latin typeface="Arial"/>
            </a:endParaRPr>
          </a:p>
        </p:txBody>
      </p:sp>
      <p:sp>
        <p:nvSpPr>
          <p:cNvPr id="699"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ACB0A8-F250-4825-A7DC-BC4B5CA1596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685800" y="1143000"/>
            <a:ext cx="5485680" cy="3085560"/>
          </a:xfrm>
          <a:prstGeom prst="rect">
            <a:avLst/>
          </a:prstGeom>
          <a:ln w="0">
            <a:noFill/>
          </a:ln>
        </p:spPr>
      </p:sp>
      <p:sp>
        <p:nvSpPr>
          <p:cNvPr id="7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T+5:05 (1:10). Before: every finding dumped into one grey pile, all labelled 'potential'. After: four buckets, each one telling you what to actually do next. PROVEN — hook attached, method called, behaviour matched the claim, log kept: file it. REFUTED — same path, but the behaviour contradicted the claim: a false positive, and you've got proof, so close it. UNREACHABLE — hook attached but it never fired on the paths we exercised, could be real, could be dead code: try a longer timeout, --agent-plan, or just poke the app by hand. UNVALIDATED — couldn't even attach a hook (obfuscation, native code, a hallucinated hook) and the reason is written down, not guessed at. Worth saying out loud: the last two are legitimate outcomes, not failures of the tool — 'probably fine' is the only answer that isn't allowed. The dot grid is a drawing, not a real distribution, don't let anyone read numbers into it.</a:t>
            </a:r>
            <a:endParaRPr lang="en-US" sz="2000" b="0" u="none" strike="noStrike">
              <a:solidFill>
                <a:srgbClr val="000000"/>
              </a:solidFill>
              <a:effectLst/>
              <a:uFillTx/>
              <a:latin typeface="Arial"/>
            </a:endParaRPr>
          </a:p>
        </p:txBody>
      </p:sp>
      <p:sp>
        <p:nvSpPr>
          <p:cNvPr id="702"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0CB6382-E1CF-4A87-956D-92C220C8366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685800" y="1143000"/>
            <a:ext cx="5485680" cy="3085560"/>
          </a:xfrm>
          <a:prstGeom prst="rect">
            <a:avLst/>
          </a:prstGeom>
          <a:ln w="0">
            <a:noFill/>
          </a:ln>
        </p:spPr>
      </p:sp>
      <p:sp>
        <p:nvSpPr>
          <p:cNvPr id="7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Worth being precise here so nobody mistakes the pitch: HookSmith doesn't compete with MobSF or any static scanner — it consumes their output (`--report mobsf.json` is a real flag) and does the one thing they structurally can't: run the claim and watch what the app actually does. It also isn't trying to be a full dynamic-analysis or pentest replacement — there's no business-logic reasoning, no chaining findings into an exploit chain, no judgment about what's actually exploitable in context, and it won't try to be. The honest positioning is the narrow middle step: turn a pile of "potential" into PROVEN or REFUTED automatically, so the manual hours left in an engagement go to the findings that actually need a human — which is also exactly what the ROI argument from the cost slides earlier was about.</a:t>
            </a:r>
            <a:endParaRPr lang="en-US" sz="2000" b="0" u="none" strike="noStrike">
              <a:solidFill>
                <a:srgbClr val="000000"/>
              </a:solidFill>
              <a:effectLst/>
              <a:uFillTx/>
              <a:latin typeface="Arial"/>
            </a:endParaRPr>
          </a:p>
        </p:txBody>
      </p:sp>
      <p:sp>
        <p:nvSpPr>
          <p:cNvPr id="705"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C49B885-C40A-4097-8A7B-36D8A6D0FC8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685800" y="1143000"/>
            <a:ext cx="5485680" cy="3085560"/>
          </a:xfrm>
          <a:prstGeom prst="rect">
            <a:avLst/>
          </a:prstGeom>
          <a:ln w="0">
            <a:noFill/>
          </a:ln>
        </p:spPr>
      </p:sp>
      <p:sp>
        <p:nvSpPr>
          <p:cNvPr id="7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hero demo, the video should show the phone and the terminal side by side, exactly what --record captured on a real AVD (Android 13, Frida 17.22.2). Freestyle over it as it plays: the app launches, the Secret String field gets tapped, VERIFY, OK, and the result lands PROVEN with the real key 8d127684cbc37c17616d806cf50473cc. Worth a line while it runs: getting this working on a real app surfaced three genuine bugs I fixed rather than papered over, a misparsed constructor, a wrongly declined one-letter method, and a key search that only looked in the hooked class instead of the whole decompiled tree.</a:t>
            </a:r>
            <a:endParaRPr lang="en-US" sz="2000" b="0" u="none" strike="noStrike">
              <a:solidFill>
                <a:srgbClr val="000000"/>
              </a:solidFill>
              <a:effectLst/>
              <a:uFillTx/>
              <a:latin typeface="Arial"/>
            </a:endParaRPr>
          </a:p>
        </p:txBody>
      </p:sp>
      <p:sp>
        <p:nvSpPr>
          <p:cNvPr id="708"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E23A70B-5693-43D5-9522-BC9693191F5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685800" y="1143000"/>
            <a:ext cx="5485680" cy="3085560"/>
          </a:xfrm>
          <a:prstGeom prst="rect">
            <a:avLst/>
          </a:prstGeom>
          <a:ln w="0">
            <a:noFill/>
          </a:ln>
        </p:spPr>
      </p:sp>
      <p:sp>
        <p:nvSpPr>
          <p:cNvPr id="7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All real: the four phone frames come straight from the --record screen capture of the live run (splash screen, the app itself, the field focused, keyboard up). Terminal shots are the same run — PROVEN, the raw log with the key, and the final table. One thing worth remembering: on a cold run with --record, I hit 'Invalid cross-device link' because the recording gets moved out of /tmp across filesystems — pointing TMPDIR at the same disk as the output folder fixed it. Set that the same way before the talk.</a:t>
            </a:r>
            <a:endParaRPr lang="en-US" sz="2000" b="0" u="none" strike="noStrike">
              <a:solidFill>
                <a:srgbClr val="000000"/>
              </a:solidFill>
              <a:effectLst/>
              <a:uFillTx/>
              <a:latin typeface="Arial"/>
            </a:endParaRPr>
          </a:p>
        </p:txBody>
      </p:sp>
      <p:sp>
        <p:nvSpPr>
          <p:cNvPr id="711"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29A60D3-251B-42EA-A2C8-389DCC891CF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685800" y="1143000"/>
            <a:ext cx="5485680" cy="3085560"/>
          </a:xfrm>
          <a:prstGeom prst="rect">
            <a:avLst/>
          </a:prstGeom>
          <a:ln w="0">
            <a:noFill/>
          </a:ln>
        </p:spPr>
      </p:sp>
      <p:sp>
        <p:nvSpPr>
          <p:cNvPr id="7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reference signal library for three common finding types — two more cover TLS, next slide. Hardcoded key is PROVEN when a 16, 24 or 32-byte key observed at runtime matches a constant in the decompiled class, REFUTED when the key changes between calls — you saw both in Demo 1. Cleartext HTTP is PROVEN on any http:// URL to a non-loopback host, REFUTED if everything was https or loopback. Insecure RNG is PROVEN when Random or Math.random shows up in a security-relevant method, REFUTED when it's SecureRandom or there's no security context. Every rule reads that same structured log, so the same input always gives the same verdict, and the model never gets a vote.</a:t>
            </a:r>
            <a:endParaRPr lang="en-US" sz="2000" b="0" u="none" strike="noStrike">
              <a:solidFill>
                <a:srgbClr val="000000"/>
              </a:solidFill>
              <a:effectLst/>
              <a:uFillTx/>
              <a:latin typeface="Arial"/>
            </a:endParaRPr>
          </a:p>
        </p:txBody>
      </p:sp>
      <p:sp>
        <p:nvSpPr>
          <p:cNvPr id="714"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1495BC8-522E-487F-9454-25241D8A835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685800" y="1143000"/>
            <a:ext cx="5485680" cy="3085560"/>
          </a:xfrm>
          <a:prstGeom prst="rect">
            <a:avLst/>
          </a:prstGeom>
          <a:ln w="0">
            <a:noFill/>
          </a:ln>
        </p:spPr>
      </p:sp>
      <p:sp>
        <p:nvSpPr>
          <p:cNvPr id="7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Evidence is really the product, and you've been seeing it all talk without me labelling it — that photo in the middle is a real evidence folder, ls'd, with the real runtime.log and verdict.json for an actual PROVEN finding. Every generated hook gets kept, validated or not, plus the raw log and a verdict that says exactly what the signal library saw. screen.mp4 only shows up if that run used --record. run.json pins the APK hash, model, temperature, prompt hash, Frida version and device, so a verdict can actually be reproduced, not just trusted. `hooksmith evidence &lt;run&gt; &lt;finding&gt;` prints the whole bundle, and `--replay-from` replays logs recorded earlier — exactly how demos 5 and 6 work.</a:t>
            </a:r>
            <a:endParaRPr lang="en-US" sz="2000" b="0" u="none" strike="noStrike">
              <a:solidFill>
                <a:srgbClr val="000000"/>
              </a:solidFill>
              <a:effectLst/>
              <a:uFillTx/>
              <a:latin typeface="Arial"/>
            </a:endParaRPr>
          </a:p>
        </p:txBody>
      </p:sp>
      <p:sp>
        <p:nvSpPr>
          <p:cNvPr id="717"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A11AF99-7EAC-489E-9A12-F0C06A9049F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685800" y="1143000"/>
            <a:ext cx="5485680" cy="3085560"/>
          </a:xfrm>
          <a:prstGeom prst="rect">
            <a:avLst/>
          </a:prstGeom>
          <a:ln w="0">
            <a:noFill/>
          </a:ln>
        </p:spPr>
      </p:sp>
      <p:sp>
        <p:nvSpPr>
          <p:cNvPr id="7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T+6:15 (1:10). The whole architecture in two rows. It's a LangGraph state machine. Top row runs before any device is touched: triage once up front, decompile with jadx, work out how to reach the code — deep links, exported activities, taps — then generate the hook and validate it against seven static checks. Bottom row is the device: run the hook with Frida, let the signal library classify what came back, write the evidence to disk, and once every finding has a verdict, write one bug report per PROVEN finding. The design decision worth remembering: the model writes the hook and nothing past that — every verdict is plain code reading a structured log, never the model's opinion. Up next, Demo 1 runs the whole thing start to finish on a sample app.</a:t>
            </a:r>
            <a:endParaRPr lang="en-US" sz="2000" b="0" u="none" strike="noStrike">
              <a:solidFill>
                <a:srgbClr val="000000"/>
              </a:solidFill>
              <a:effectLst/>
              <a:uFillTx/>
              <a:latin typeface="Arial"/>
            </a:endParaRPr>
          </a:p>
        </p:txBody>
      </p:sp>
      <p:sp>
        <p:nvSpPr>
          <p:cNvPr id="720"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6B170E5-CE8B-4FA8-BA9A-5E296FDA99B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685800" y="1143000"/>
            <a:ext cx="5485680" cy="3085560"/>
          </a:xfrm>
          <a:prstGeom prst="rect">
            <a:avLst/>
          </a:prstGeom>
          <a:ln w="0">
            <a:noFill/>
          </a:ln>
        </p:spPr>
      </p:sp>
      <p:sp>
        <p:nvSpPr>
          <p:cNvPr id="7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replaces the generic 'a model writes the hook' hand-wave with what the model's actually handed, straight out of the prompts folder. Layer 1, system.txt: write hooks that OBSERVE one method, output only JavaScript, wrap it in Java.perform, always call the original, report only through console.log with an HS| prefix, no eval, no Runtime.exec, no sockets. Layer 2 is the finding-type file — the claim to test plus what evidence to log. Layer 3 is one worked example to copy the structure from. Layer 4 is the actual target. Temperature's 0.1. You can point this at the Cloudflare Worker, any OpenAI-compatible endpoint, RunPod, or an offline template with no model at all. Be straight if asked: the Worker's bundled but not yet deployed, and I haven't benchmarked its output quality.</a:t>
            </a:r>
            <a:endParaRPr lang="en-US" sz="2000" b="0" u="none" strike="noStrike">
              <a:solidFill>
                <a:srgbClr val="000000"/>
              </a:solidFill>
              <a:effectLst/>
              <a:uFillTx/>
              <a:latin typeface="Arial"/>
            </a:endParaRPr>
          </a:p>
        </p:txBody>
      </p:sp>
      <p:sp>
        <p:nvSpPr>
          <p:cNvPr id="723"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F5E58DF-3E7C-40D6-AFCA-6C4C6989CAE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5680" cy="3085560"/>
          </a:xfrm>
          <a:prstGeom prst="rect">
            <a:avLst/>
          </a:prstGeom>
          <a:ln w="0">
            <a:noFill/>
          </a:ln>
        </p:spPr>
      </p:sp>
      <p:sp>
        <p:nvSpPr>
          <p:cNvPr id="7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T+13:50 (1:05). These are the patterns worth taking home. 01: parses as JavaScript, because Frida runs modern JS and node --check is a cheap sanity check. 02: contains Java.perform. 03: Java.use hits exactly the finding's class — models will happily hook a plausible-sounding neighbour instead. 04: hooks the requested method, overload-aware. 05: actually produces observable output. 06: calls the original implementation — skip that and the hook breaks app flow and stops firing after one call. 07: avoids dangerous APIs, eval, Runtime.exec, sockets, file writes, Interceptor.replace, memory writes. The two highlighted here are the two that actually fired in Demo 1: TokenGen failed gate 03 on attempt one (hooked TokenFactory, that's the real validator message on screen), got regenerated, passed. PinStore failed gate 06 on both attempts and ended UNVALIDATED with no recovery. Worth being upfront: these gates catch structural problems, not a well-formed hook pointed at the wrong overload — that's a real gap, not swept under anything.</a:t>
            </a:r>
            <a:endParaRPr lang="en-US" sz="2000" b="0" u="none" strike="noStrike">
              <a:solidFill>
                <a:srgbClr val="000000"/>
              </a:solidFill>
              <a:effectLst/>
              <a:uFillTx/>
              <a:latin typeface="Arial"/>
            </a:endParaRPr>
          </a:p>
        </p:txBody>
      </p:sp>
      <p:sp>
        <p:nvSpPr>
          <p:cNvPr id="726"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984092E-E7A5-4279-B298-565DF01BF54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685800" y="1143000"/>
            <a:ext cx="5485680" cy="3085560"/>
          </a:xfrm>
          <a:prstGeom prst="rect">
            <a:avLst/>
          </a:prstGeom>
          <a:ln w="0">
            <a:noFill/>
          </a:ln>
        </p:spPr>
      </p:sp>
      <p:sp>
        <p:nvSpPr>
          <p:cNvPr id="7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T+12:55 (0:55). This is a real runtime.log, trimmed, from the recorded UnCrackable-Level1 run. The hook talks back through one line format, HS| plus JSON, so nothing downstream ever has to parse free text. 'ready' fires once, the moment the hook's installed. 'call' fires every time the target method runs. 'key' is the actual evidence — bytes in hex plus the algorithm, captured where the key enters SecretKeySpec while that method's on the stack. That hex, 8d127684cbc37c17616d806cf50473cc, is the real 16-byte key from that run. The model never sees this log and gets no vote on what it means — signals.py compares those bytes against constants pulled from the decompiled source and makes the call. Next: how a hook gets checked before it ever touches a device.</a:t>
            </a:r>
            <a:endParaRPr lang="en-US" sz="2000" b="0" u="none" strike="noStrike">
              <a:solidFill>
                <a:srgbClr val="000000"/>
              </a:solidFill>
              <a:effectLst/>
              <a:uFillTx/>
              <a:latin typeface="Arial"/>
            </a:endParaRPr>
          </a:p>
        </p:txBody>
      </p:sp>
      <p:sp>
        <p:nvSpPr>
          <p:cNvPr id="729"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AA211E4-AAE8-4DD8-BE3B-1B0000A3E88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685800" y="1143000"/>
            <a:ext cx="5485680" cy="3085560"/>
          </a:xfrm>
          <a:prstGeom prst="rect">
            <a:avLst/>
          </a:prstGeom>
          <a:ln w="0">
            <a:noFill/>
          </a:ln>
        </p:spPr>
      </p:sp>
      <p:sp>
        <p:nvSpPr>
          <p:cNvPr id="7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Spawn the app suspended, attach, load the hook, resume it, exercise, collect the log. The photo is a real frame pulled from a --record capture on a live device, not a mockup — it's the splash screen right as a real run starts. Exercising means walking the manifest's deep links and activities, then poking the UI, then a short monkey burst. Navigation only — uiautomator taps controls in the target package, never types text, hard-blocked from anything labelled delete, log out, purchase or payment. The three bugs are real field notes from the first time I ran this on an actual device: console.log stopped being a message in Frida 15+, register a log handler or everything silently looks UNREACHABLE; Frida 17 pulled the Java bridge, hooks now bundle through frida-compile (cached after the first time); hooks on the app's own classes just wouldn't fire because ART had compiled around them, Java.deoptimizeEverything() fixed it.</a:t>
            </a:r>
            <a:endParaRPr lang="en-US" sz="2000" b="0" u="none" strike="noStrike">
              <a:solidFill>
                <a:srgbClr val="000000"/>
              </a:solidFill>
              <a:effectLst/>
              <a:uFillTx/>
              <a:latin typeface="Arial"/>
            </a:endParaRPr>
          </a:p>
        </p:txBody>
      </p:sp>
      <p:sp>
        <p:nvSpPr>
          <p:cNvPr id="732"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8F347FA-BAFB-47A4-BFA9-8BEFCF905BA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sldImg"/>
          </p:nvPr>
        </p:nvSpPr>
        <p:spPr>
          <a:xfrm>
            <a:off x="685800" y="1143000"/>
            <a:ext cx="5485680" cy="3085560"/>
          </a:xfrm>
          <a:prstGeom prst="rect">
            <a:avLst/>
          </a:prstGeom>
          <a:ln w="0">
            <a:noFill/>
          </a:ln>
        </p:spPr>
      </p:sp>
      <p:sp>
        <p:nvSpPr>
          <p:cNvPr id="7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T+20:10 (0:40). This is the slide that earns trust, so don't rush past it. The trust-manager and hostname-verifier signals only mean something if the app actually got exercised against a bad certificate. PROVEN means the original call accepted a self-signed or expired chain, or returned true for a host the cert doesn't cover. REFUTED means it rejected one. If the app only ever talked to properly configured servers, a trust-all manager and a correct one look identical from inside a hook — so the verdict is UNVALIDATED, with that exact reason, not a guess dressed up as one. To actually get a decision, you exercise the app against an endpoint with a deliberately bad cert. Demos 4 and 5 both include TLS findings decided this way, against badssl.com hosts.</a:t>
            </a:r>
            <a:endParaRPr lang="en-US" sz="2000" b="0" u="none" strike="noStrike">
              <a:solidFill>
                <a:srgbClr val="000000"/>
              </a:solidFill>
              <a:effectLst/>
              <a:uFillTx/>
              <a:latin typeface="Arial"/>
            </a:endParaRPr>
          </a:p>
        </p:txBody>
      </p:sp>
      <p:sp>
        <p:nvSpPr>
          <p:cNvPr id="735"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93CE552-940B-4016-827F-C3F92683B80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sldImg"/>
          </p:nvPr>
        </p:nvSpPr>
        <p:spPr>
          <a:xfrm>
            <a:off x="685800" y="1143000"/>
            <a:ext cx="5485680" cy="3085560"/>
          </a:xfrm>
          <a:prstGeom prst="rect">
            <a:avLst/>
          </a:prstGeom>
          <a:ln w="0">
            <a:noFill/>
          </a:ln>
        </p:spPr>
      </p:sp>
      <p:sp>
        <p:nvSpPr>
          <p:cNvPr id="7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Real terminal, both runs for real: the clean pass first, exit 0, all 11 verdicts matched, replayed deterministically. Then the flipped-pin pass — VL-2 changed from REFUTED to PROVEN in a copy of expected.json, run again, 'harness: FAILED', exit 1, naming exactly what differed. Mention --fail-on and --max-unvalidated in passing. This is the slide that turns the whole talk practical.</a:t>
            </a:r>
            <a:endParaRPr lang="en-US" sz="2000" b="0" u="none" strike="noStrike">
              <a:solidFill>
                <a:srgbClr val="000000"/>
              </a:solidFill>
              <a:effectLst/>
              <a:uFillTx/>
              <a:latin typeface="Arial"/>
            </a:endParaRPr>
          </a:p>
        </p:txBody>
      </p:sp>
      <p:sp>
        <p:nvSpPr>
          <p:cNvPr id="738"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8CC7E9B-9F6C-47AD-868A-1AE0D219AEA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sldImg"/>
          </p:nvPr>
        </p:nvSpPr>
        <p:spPr>
          <a:xfrm>
            <a:off x="685800" y="1143000"/>
            <a:ext cx="5485680" cy="3085560"/>
          </a:xfrm>
          <a:prstGeom prst="rect">
            <a:avLst/>
          </a:prstGeom>
          <a:ln w="0">
            <a:noFill/>
          </a:ln>
        </p:spPr>
      </p:sp>
      <p:sp>
        <p:nvSpPr>
          <p:cNvPr id="7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Real output of the pin-and-gate flow — the clean pass, then the flipped pin breaking exactly as expected, naming VL-2 by hand.</a:t>
            </a:r>
            <a:endParaRPr lang="en-US" sz="2000" b="0" u="none" strike="noStrike">
              <a:solidFill>
                <a:srgbClr val="000000"/>
              </a:solidFill>
              <a:effectLst/>
              <a:uFillTx/>
              <a:latin typeface="Arial"/>
            </a:endParaRPr>
          </a:p>
        </p:txBody>
      </p:sp>
      <p:sp>
        <p:nvSpPr>
          <p:cNvPr id="741"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633DC9F-5637-4985-A912-B822D72B213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sldImg"/>
          </p:nvPr>
        </p:nvSpPr>
        <p:spPr>
          <a:xfrm>
            <a:off x="685800" y="1143000"/>
            <a:ext cx="5485680" cy="3085560"/>
          </a:xfrm>
          <a:prstGeom prst="rect">
            <a:avLst/>
          </a:prstGeom>
          <a:ln w="0">
            <a:noFill/>
          </a:ln>
        </p:spPr>
      </p:sp>
      <p:sp>
        <p:nvSpPr>
          <p:cNvPr id="7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T+24:30 (0:40). This is the honest account I promised in the abstract. Native JNI methods are always UNVALIDATED in v1 — Interceptor.attach needs offsets a model just can't reliably produce, and Demo 1 showed NativeCrypto landing there. Obfuscation's next, and Demo 5. Hallucination slipping past the validator is real — those checks catch structural problems, not a well-formed hook pointed at the wrong overload. Say plainly that a validated-but-wrong hook is the failure mode worth losing sleep over. UI gaps mean methods buried behind complex flows can genuinely never fire, so that's UNREACHABLE, not a guessed verdict. Also worth a mention: method lookup is a regex reader, not a full Java parser. Each of these maps cleanly onto one of the four buckets — that's the whole point, failure gets labelled, not hidden. Good moment to remind the room: only ever use this on apps and devices you're actually authorised to test.</a:t>
            </a:r>
            <a:endParaRPr lang="en-US" sz="2000" b="0" u="none" strike="noStrike">
              <a:solidFill>
                <a:srgbClr val="000000"/>
              </a:solidFill>
              <a:effectLst/>
              <a:uFillTx/>
              <a:latin typeface="Arial"/>
            </a:endParaRPr>
          </a:p>
        </p:txBody>
      </p:sp>
      <p:sp>
        <p:nvSpPr>
          <p:cNvPr id="744"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865971A-E8B0-4F3A-B762-726BF7892B1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sldImg"/>
          </p:nvPr>
        </p:nvSpPr>
        <p:spPr>
          <a:xfrm>
            <a:off x="685800" y="1143000"/>
            <a:ext cx="5485680" cy="3085560"/>
          </a:xfrm>
          <a:prstGeom prst="rect">
            <a:avLst/>
          </a:prstGeom>
          <a:ln w="0">
            <a:noFill/>
          </a:ln>
        </p:spPr>
      </p:sp>
      <p:sp>
        <p:nvSpPr>
          <p:cNvPr id="7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T+30:05 (0:40). Straight from the README, keep it honest on the day. AVD row: Android 13, x86_64, Google APIs, Frida 17.22, run for real on VulnLab (R8 build included) and on UnCrackable-Level1. Corellium row: a real Android 16 arm64 device over the Corellium VPN, all seven original VulnLab findings landed right; the REST lifecycle client itself is only tested against a mock. TWO ROWS NEED MY ATTENTION BEFORE I'M ON STAGE: Edge LLM — the Worker's bundled but not deployed, and I haven't measured output quality, so if I deploy it and run the benchmark before the talk, this row goes green with real numbers. iOS — the parser, templates and validator are hermetic-tested against a fake executor, never a real device, and that code's still uncommitted; either say 'in progress' or just drop the row, don't imply it works on hardware. OpenAI-compatible and RunPod providers are request-shape tested only, mention that if asked.</a:t>
            </a:r>
            <a:endParaRPr lang="en-US" sz="2000" b="0" u="none" strike="noStrike">
              <a:solidFill>
                <a:srgbClr val="000000"/>
              </a:solidFill>
              <a:effectLst/>
              <a:uFillTx/>
              <a:latin typeface="Arial"/>
            </a:endParaRPr>
          </a:p>
        </p:txBody>
      </p:sp>
      <p:sp>
        <p:nvSpPr>
          <p:cNvPr id="747"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7ACEA7C-8733-46E4-8EE3-687C9E3E8B0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sldImg"/>
          </p:nvPr>
        </p:nvSpPr>
        <p:spPr>
          <a:xfrm>
            <a:off x="685800" y="1143000"/>
            <a:ext cx="5485680" cy="3085560"/>
          </a:xfrm>
          <a:prstGeom prst="rect">
            <a:avLst/>
          </a:prstGeom>
          <a:ln w="0">
            <a:noFill/>
          </a:ln>
        </p:spPr>
      </p:sp>
      <p:sp>
        <p:nvSpPr>
          <p:cNvPr id="7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T+30:45 (1:00). This is the workflow I actually want people to walk out with — each step maps straight back to a demo: scan to Demo 2, prove to Demos 3 and 4, sort to the evidence slide, gate to Demo 6. Scan with your own MobSF or Semgrep report, or hooksmith scan if you don't have one. Prove with hooksmith test — one command, a verdict table, --provider template needs no API key at all. Sort — file the PROVEN, close the REFUTED, triage the rest by the reason given. Gate — pin verdicts with --expect, break CI when they drift. Even if someone never installs this tool, step 3 alone changes what their report says, because every finding leaves with one of four labels instead of a hedge.</a:t>
            </a:r>
            <a:endParaRPr lang="en-US" sz="2000" b="0" u="none" strike="noStrike">
              <a:solidFill>
                <a:srgbClr val="000000"/>
              </a:solidFill>
              <a:effectLst/>
              <a:uFillTx/>
              <a:latin typeface="Arial"/>
            </a:endParaRPr>
          </a:p>
        </p:txBody>
      </p:sp>
      <p:sp>
        <p:nvSpPr>
          <p:cNvPr id="750"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9ACD92D-2E19-43BD-95AE-B62FFFDF89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sldImg"/>
          </p:nvPr>
        </p:nvSpPr>
        <p:spPr>
          <a:xfrm>
            <a:off x="685800" y="1143000"/>
            <a:ext cx="5485680" cy="3085560"/>
          </a:xfrm>
          <a:prstGeom prst="rect">
            <a:avLst/>
          </a:prstGeom>
          <a:ln w="0">
            <a:noFill/>
          </a:ln>
        </p:spPr>
      </p:sp>
      <p:sp>
        <p:nvSpPr>
          <p:cNvPr id="7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is yours, not mine — no timing note, no script, just stay here and take the room. Swap in the real repo URL before the day, and a QR code once that link's final. Remind people: only run this against apps and devices you're actually authorised to test. If the questions dry up before the room does, these are the ones worth having a real answer ready for: how good is the edge model (honestly, not benchmarked yet), what about iOS (slide covered it — template-only, never run on a real device), how does it handle anti-Frida and root detection (it doesn't try to beat those, it just reports what it can't reach), can it run in CI (just showed that), what does it cost per app to run, and why not just have an LLM write the whole report instead of a verdict (because then nobody's checking the LLM's work).</a:t>
            </a:r>
            <a:endParaRPr lang="en-US" sz="2000" b="0" u="none" strike="noStrike">
              <a:solidFill>
                <a:srgbClr val="000000"/>
              </a:solidFill>
              <a:effectLst/>
              <a:uFillTx/>
              <a:latin typeface="Arial"/>
            </a:endParaRPr>
          </a:p>
        </p:txBody>
      </p:sp>
      <p:sp>
        <p:nvSpPr>
          <p:cNvPr id="753"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92091FC-C357-45EB-953F-99A37EFC479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6">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edit the title text format</a:t>
            </a:r>
            <a:endParaRPr lang="en-US" sz="3200" b="0" u="none" strike="noStrike">
              <a:solidFill>
                <a:schemeClr val="lt1"/>
              </a:solidFill>
              <a:effectLst/>
              <a:uFillTx/>
              <a:latin typeface="JetBrains Mono"/>
            </a:endParaRPr>
          </a:p>
        </p:txBody>
      </p:sp>
      <p:sp>
        <p:nvSpPr>
          <p:cNvPr id="3"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7">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edit the title text format</a:t>
            </a:r>
            <a:endParaRPr lang="en-US" sz="3200" b="0" u="none" strike="noStrike">
              <a:solidFill>
                <a:schemeClr val="lt1"/>
              </a:solidFill>
              <a:effectLst/>
              <a:uFillTx/>
              <a:latin typeface="JetBrains Mono"/>
            </a:endParaRPr>
          </a:p>
        </p:txBody>
      </p:sp>
      <p:sp>
        <p:nvSpPr>
          <p:cNvPr id="5"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240B2E"/>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8">
    <p:bg>
      <p:bgPr>
        <a:blipFill rotWithShape="0">
          <a:blip r:embed="rId2"/>
          <a:stretch/>
        </a:blip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a:t>
            </a:r>
            <a:r>
              <a:rPr lang="en-US" sz="3200" b="0" u="none" strike="noStrike">
                <a:solidFill>
                  <a:schemeClr val="lt1"/>
                </a:solidFill>
                <a:effectLst/>
                <a:uFillTx/>
                <a:latin typeface="JetBrains Mono"/>
              </a:rPr>
              <a:t>to </a:t>
            </a:r>
            <a:r>
              <a:rPr lang="en-US" sz="3200" b="0" u="none" strike="noStrike">
                <a:solidFill>
                  <a:schemeClr val="lt1"/>
                </a:solidFill>
                <a:effectLst/>
                <a:uFillTx/>
                <a:latin typeface="JetBrains Mono"/>
              </a:rPr>
              <a:t>edit </a:t>
            </a:r>
            <a:r>
              <a:rPr lang="en-US" sz="3200" b="0" u="none" strike="noStrike">
                <a:solidFill>
                  <a:schemeClr val="lt1"/>
                </a:solidFill>
                <a:effectLst/>
                <a:uFillTx/>
                <a:latin typeface="JetBrains Mono"/>
              </a:rPr>
              <a:t>the </a:t>
            </a:r>
            <a:r>
              <a:rPr lang="en-US" sz="3200" b="0" u="none" strike="noStrike">
                <a:solidFill>
                  <a:schemeClr val="lt1"/>
                </a:solidFill>
                <a:effectLst/>
                <a:uFillTx/>
                <a:latin typeface="JetBrains Mono"/>
              </a:rPr>
              <a:t>title </a:t>
            </a:r>
            <a:r>
              <a:rPr lang="en-US" sz="3200" b="0" u="none" strike="noStrike">
                <a:solidFill>
                  <a:schemeClr val="lt1"/>
                </a:solidFill>
                <a:effectLst/>
                <a:uFillTx/>
                <a:latin typeface="JetBrains Mono"/>
              </a:rPr>
              <a:t>text </a:t>
            </a:r>
            <a:r>
              <a:rPr lang="en-US" sz="3200" b="0" u="none" strike="noStrike">
                <a:solidFill>
                  <a:schemeClr val="lt1"/>
                </a:solidFill>
                <a:effectLst/>
                <a:uFillTx/>
                <a:latin typeface="JetBrains Mono"/>
              </a:rPr>
              <a:t>for</a:t>
            </a:r>
            <a:r>
              <a:rPr lang="en-US" sz="3200" b="0" u="none" strike="noStrike">
                <a:solidFill>
                  <a:schemeClr val="lt1"/>
                </a:solidFill>
                <a:effectLst/>
                <a:uFillTx/>
                <a:latin typeface="JetBrains Mono"/>
              </a:rPr>
              <a:t>mat</a:t>
            </a:r>
            <a:endParaRPr lang="en-US" sz="3200" b="0" u="none" strike="noStrike">
              <a:solidFill>
                <a:schemeClr val="lt1"/>
              </a:solidFill>
              <a:effectLst/>
              <a:uFillTx/>
              <a:latin typeface="JetBrains Mono"/>
            </a:endParaRPr>
          </a:p>
        </p:txBody>
      </p:sp>
      <p:sp>
        <p:nvSpPr>
          <p:cNvPr id="7"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240B2E"/>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a:t>
            </a:r>
            <a:r>
              <a:rPr lang="en-US" sz="3200" b="0" u="none" strike="noStrike">
                <a:solidFill>
                  <a:schemeClr val="lt1"/>
                </a:solidFill>
                <a:effectLst/>
                <a:uFillTx/>
                <a:latin typeface="JetBrains Mono"/>
              </a:rPr>
              <a:t>edit the </a:t>
            </a:r>
            <a:r>
              <a:rPr lang="en-US" sz="3200" b="0" u="none" strike="noStrike">
                <a:solidFill>
                  <a:schemeClr val="lt1"/>
                </a:solidFill>
                <a:effectLst/>
                <a:uFillTx/>
                <a:latin typeface="JetBrains Mono"/>
              </a:rPr>
              <a:t>title text </a:t>
            </a:r>
            <a:r>
              <a:rPr lang="en-US" sz="3200" b="0" u="none" strike="noStrike">
                <a:solidFill>
                  <a:schemeClr val="lt1"/>
                </a:solidFill>
                <a:effectLst/>
                <a:uFillTx/>
                <a:latin typeface="JetBrains Mono"/>
              </a:rPr>
              <a:t>format</a:t>
            </a:r>
            <a:endParaRPr lang="en-US" sz="3200" b="0" u="none" strike="noStrike">
              <a:solidFill>
                <a:schemeClr val="lt1"/>
              </a:solidFill>
              <a:effectLst/>
              <a:uFillTx/>
              <a:latin typeface="JetBrains Mono"/>
            </a:endParaRPr>
          </a:p>
        </p:txBody>
      </p:sp>
      <p:sp>
        <p:nvSpPr>
          <p:cNvPr id="9"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1">
    <p:bg>
      <p:bgPr>
        <a:blipFill rotWithShape="0">
          <a:blip r:embed="rId2"/>
          <a:stretch/>
        </a:blip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edit the title text format</a:t>
            </a:r>
            <a:endParaRPr lang="en-US" sz="3200" b="0" u="none" strike="noStrike">
              <a:solidFill>
                <a:schemeClr val="lt1"/>
              </a:solidFill>
              <a:effectLst/>
              <a:uFillTx/>
              <a:latin typeface="JetBrains Mono"/>
            </a:endParaRPr>
          </a:p>
        </p:txBody>
      </p:sp>
      <p:sp>
        <p:nvSpPr>
          <p:cNvPr id="11"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2">
    <p:bg>
      <p:bgPr>
        <a:blipFill rotWithShape="0">
          <a:blip r:embed="rId2"/>
          <a:stretch/>
        </a:blip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edit the title text format</a:t>
            </a:r>
            <a:endParaRPr lang="en-US" sz="3200" b="0" u="none" strike="noStrike">
              <a:solidFill>
                <a:schemeClr val="lt1"/>
              </a:solidFill>
              <a:effectLst/>
              <a:uFillTx/>
              <a:latin typeface="JetBrains Mono"/>
            </a:endParaRPr>
          </a:p>
        </p:txBody>
      </p:sp>
      <p:sp>
        <p:nvSpPr>
          <p:cNvPr id="13"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3">
    <p:bg>
      <p:bgPr>
        <a:blipFill rotWithShape="0">
          <a:blip r:embed="rId2"/>
          <a:stretch/>
        </a:blip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edit the title text format</a:t>
            </a:r>
            <a:endParaRPr lang="en-US" sz="3200" b="0" u="none" strike="noStrike">
              <a:solidFill>
                <a:schemeClr val="lt1"/>
              </a:solidFill>
              <a:effectLst/>
              <a:uFillTx/>
              <a:latin typeface="JetBrains Mono"/>
            </a:endParaRPr>
          </a:p>
        </p:txBody>
      </p:sp>
      <p:sp>
        <p:nvSpPr>
          <p:cNvPr id="15"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4">
    <p:bg>
      <p:bgPr>
        <a:blipFill rotWithShape="0">
          <a:blip r:embed="rId2"/>
          <a:stretch/>
        </a:blip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edit the title text format</a:t>
            </a:r>
            <a:endParaRPr lang="en-US" sz="3200" b="0" u="none" strike="noStrike">
              <a:solidFill>
                <a:schemeClr val="lt1"/>
              </a:solidFill>
              <a:effectLst/>
              <a:uFillTx/>
              <a:latin typeface="JetBrains Mono"/>
            </a:endParaRPr>
          </a:p>
        </p:txBody>
      </p:sp>
      <p:sp>
        <p:nvSpPr>
          <p:cNvPr id="17"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background 5">
    <p:bg>
      <p:bgPr>
        <a:blipFill rotWithShape="0">
          <a:blip r:embed="rId2"/>
          <a:stretch/>
        </a:blip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371760" y="1725120"/>
            <a:ext cx="5447880" cy="446400"/>
          </a:xfrm>
          <a:prstGeom prst="rect">
            <a:avLst/>
          </a:prstGeom>
          <a:noFill/>
          <a:ln w="0">
            <a:noFill/>
          </a:ln>
        </p:spPr>
        <p:txBody>
          <a:bodyPr lIns="0" tIns="0" rIns="0" bIns="0" anchor="t">
            <a:noAutofit/>
          </a:bodyPr>
          <a:lstStyle>
            <a:lvl1pPr indent="0" algn="l">
              <a:lnSpc>
                <a:spcPct val="100000"/>
              </a:lnSpc>
              <a:buNone/>
              <a:tabLst>
                <a:tab pos="0" algn="l"/>
              </a:tabLst>
              <a:defRPr lang="en-US" sz="3200" b="0" u="none" strike="noStrike">
                <a:solidFill>
                  <a:schemeClr val="lt1"/>
                </a:solidFill>
                <a:effectLst/>
                <a:uFillTx/>
                <a:latin typeface="JetBrains Mono"/>
              </a:defRPr>
            </a:lvl1pPr>
          </a:lstStyle>
          <a:p>
            <a:pPr indent="0" algn="l">
              <a:lnSpc>
                <a:spcPct val="100000"/>
              </a:lnSpc>
              <a:buNone/>
              <a:tabLst>
                <a:tab pos="0" algn="l"/>
              </a:tabLst>
            </a:pPr>
            <a:r>
              <a:rPr lang="en-US" sz="3200" b="0" u="none" strike="noStrike">
                <a:solidFill>
                  <a:schemeClr val="lt1"/>
                </a:solidFill>
                <a:effectLst/>
                <a:uFillTx/>
                <a:latin typeface="JetBrains Mono"/>
              </a:rPr>
              <a:t>Click to edit the title text format</a:t>
            </a:r>
            <a:endParaRPr lang="en-US" sz="3200" b="0" u="none" strike="noStrike">
              <a:solidFill>
                <a:schemeClr val="lt1"/>
              </a:solidFill>
              <a:effectLst/>
              <a:uFillTx/>
              <a:latin typeface="JetBrains Mono"/>
            </a:endParaRPr>
          </a:p>
        </p:txBody>
      </p:sp>
      <p:sp>
        <p:nvSpPr>
          <p:cNvPr id="19" name="PlaceHolder 2"/>
          <p:cNvSpPr>
            <a:spLocks noGrp="1"/>
          </p:cNvSpPr>
          <p:nvPr>
            <p:ph type="body"/>
          </p:nvPr>
        </p:nvSpPr>
        <p:spPr>
          <a:xfrm>
            <a:off x="3371760" y="2476800"/>
            <a:ext cx="8006760" cy="3567600"/>
          </a:xfrm>
          <a:prstGeom prst="rect">
            <a:avLst/>
          </a:prstGeom>
          <a:noFill/>
          <a:ln w="0">
            <a:noFill/>
          </a:ln>
        </p:spPr>
        <p:txBody>
          <a:bodyPr lIns="0" tIns="0" rIns="0" bIns="0" anchor="t">
            <a:noAutofit/>
          </a:bodyPr>
          <a:lstStyle>
            <a:lvl1pPr algn="l">
              <a:lnSpc>
                <a:spcPct val="100000"/>
              </a:lnSpc>
              <a:spcBef>
                <a:spcPts val="1417"/>
              </a:spcBef>
              <a:buClr>
                <a:srgbClr val="FFFFFF"/>
              </a:buClr>
              <a:buSzPct val="45000"/>
              <a:buFont typeface="Wingdings" charset="2"/>
              <a:buChar char=""/>
              <a:defRPr lang="en-US" sz="1600" b="0" u="none" strike="noStrike">
                <a:solidFill>
                  <a:schemeClr val="lt1"/>
                </a:solidFill>
                <a:effectLst/>
                <a:uFillTx/>
                <a:latin typeface="JetBrains Mono"/>
              </a:defRPr>
            </a:lvl1pPr>
            <a:lvl2pPr lvl="1" algn="l">
              <a:lnSpc>
                <a:spcPct val="100000"/>
              </a:lnSpc>
              <a:spcBef>
                <a:spcPts val="1134"/>
              </a:spcBef>
              <a:buClr>
                <a:srgbClr val="FFFFFF"/>
              </a:buClr>
              <a:buSzPct val="75000"/>
              <a:buFont typeface="Symbol" charset="2"/>
              <a:buChar char=""/>
              <a:defRPr lang="en-US" sz="1600" b="0" u="none" strike="noStrike">
                <a:solidFill>
                  <a:schemeClr val="lt1"/>
                </a:solidFill>
                <a:effectLst/>
                <a:uFillTx/>
                <a:latin typeface="JetBrains Mono"/>
              </a:defRPr>
            </a:lvl2pPr>
            <a:lvl3pPr lvl="2" algn="l">
              <a:lnSpc>
                <a:spcPct val="100000"/>
              </a:lnSpc>
              <a:spcBef>
                <a:spcPts val="850"/>
              </a:spcBef>
              <a:buClr>
                <a:srgbClr val="FFFFFF"/>
              </a:buClr>
              <a:buSzPct val="45000"/>
              <a:buFont typeface="Wingdings" charset="2"/>
              <a:buChar char=""/>
              <a:defRPr lang="en-US" sz="1600" b="0" u="none" strike="noStrike">
                <a:solidFill>
                  <a:schemeClr val="lt1"/>
                </a:solidFill>
                <a:effectLst/>
                <a:uFillTx/>
                <a:latin typeface="JetBrains Mono"/>
              </a:defRPr>
            </a:lvl3pPr>
            <a:lvl4pPr lvl="3" algn="l">
              <a:lnSpc>
                <a:spcPct val="100000"/>
              </a:lnSpc>
              <a:spcBef>
                <a:spcPts val="567"/>
              </a:spcBef>
              <a:buClr>
                <a:srgbClr val="FFFFFF"/>
              </a:buClr>
              <a:buSzPct val="75000"/>
              <a:buFont typeface="Symbol" charset="2"/>
              <a:buChar char=""/>
              <a:defRPr lang="en-US" sz="1600" b="0" u="none" strike="noStrike">
                <a:solidFill>
                  <a:schemeClr val="lt1"/>
                </a:solidFill>
                <a:effectLst/>
                <a:uFillTx/>
                <a:latin typeface="JetBrains Mono"/>
              </a:defRPr>
            </a:lvl4pPr>
            <a:lvl5pPr lvl="4"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5pPr>
            <a:lvl6pPr lvl="5"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6pPr>
            <a:lvl7pPr lvl="6" algn="l">
              <a:lnSpc>
                <a:spcPct val="100000"/>
              </a:lnSpc>
              <a:spcBef>
                <a:spcPts val="283"/>
              </a:spcBef>
              <a:buClr>
                <a:srgbClr val="FFFFFF"/>
              </a:buClr>
              <a:buSzPct val="45000"/>
              <a:buFont typeface="Wingdings" charset="2"/>
              <a:buChar char=""/>
              <a:defRPr lang="en-US" sz="1600" b="0" u="none" strike="noStrike">
                <a:solidFill>
                  <a:schemeClr val="lt1"/>
                </a:solidFill>
                <a:effectLst/>
                <a:uFillTx/>
                <a:latin typeface="JetBrains Mono"/>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chemeClr val="lt1"/>
                </a:solidFill>
                <a:effectLst/>
                <a:uFillTx/>
                <a:latin typeface="JetBrains Mono"/>
              </a:rPr>
              <a:t>Click to edit the outline text format</a:t>
            </a:r>
            <a:endParaRPr lang="en-US" sz="1600" b="0" u="none" strike="noStrike">
              <a:solidFill>
                <a:schemeClr val="lt1"/>
              </a:solidFill>
              <a:effectLst/>
              <a:uFillTx/>
              <a:latin typeface="JetBrains Mono"/>
            </a:endParaRPr>
          </a:p>
          <a:p>
            <a:pPr marL="743040" lvl="1" indent="-285840" algn="l">
              <a:lnSpc>
                <a:spcPct val="100000"/>
              </a:lnSpc>
              <a:spcBef>
                <a:spcPts val="1134"/>
              </a:spcBef>
              <a:buClr>
                <a:srgbClr val="FFFFFF"/>
              </a:buClr>
              <a:buSzPct val="75000"/>
              <a:buFont typeface="Symbol" charset="2"/>
              <a:buChar char=""/>
            </a:pPr>
            <a:r>
              <a:rPr lang="en-US" sz="1600" b="0" u="none" strike="noStrike">
                <a:solidFill>
                  <a:schemeClr val="lt1"/>
                </a:solidFill>
                <a:effectLst/>
                <a:uFillTx/>
                <a:latin typeface="JetBrains Mono"/>
              </a:rPr>
              <a:t>Second Outline Level</a:t>
            </a:r>
            <a:endParaRPr lang="en-US" sz="1600" b="0" u="none" strike="noStrike">
              <a:solidFill>
                <a:schemeClr val="lt1"/>
              </a:solidFill>
              <a:effectLst/>
              <a:uFillTx/>
              <a:latin typeface="JetBrains Mono"/>
            </a:endParaRPr>
          </a:p>
          <a:p>
            <a:pPr marL="1143000" lvl="2" indent="-228600" algn="l">
              <a:lnSpc>
                <a:spcPct val="100000"/>
              </a:lnSpc>
              <a:spcBef>
                <a:spcPts val="850"/>
              </a:spcBef>
              <a:buClr>
                <a:srgbClr val="FFFFFF"/>
              </a:buClr>
              <a:buSzPct val="45000"/>
              <a:buFont typeface="Wingdings" charset="2"/>
              <a:buChar char=""/>
            </a:pPr>
            <a:r>
              <a:rPr lang="en-US" sz="1600" b="0" u="none" strike="noStrike">
                <a:solidFill>
                  <a:schemeClr val="lt1"/>
                </a:solidFill>
                <a:effectLst/>
                <a:uFillTx/>
                <a:latin typeface="JetBrains Mono"/>
              </a:rPr>
              <a:t>Third Outline Level</a:t>
            </a:r>
            <a:endParaRPr lang="en-US" sz="1600" b="0" u="none" strike="noStrike">
              <a:solidFill>
                <a:schemeClr val="lt1"/>
              </a:solidFill>
              <a:effectLst/>
              <a:uFillTx/>
              <a:latin typeface="JetBrains Mono"/>
            </a:endParaRPr>
          </a:p>
          <a:p>
            <a:pPr marL="1600200" lvl="3" indent="-228600" algn="l">
              <a:lnSpc>
                <a:spcPct val="100000"/>
              </a:lnSpc>
              <a:spcBef>
                <a:spcPts val="567"/>
              </a:spcBef>
              <a:buClr>
                <a:srgbClr val="FFFFFF"/>
              </a:buClr>
              <a:buSzPct val="75000"/>
              <a:buFont typeface="Symbol" charset="2"/>
              <a:buChar char=""/>
            </a:pPr>
            <a:r>
              <a:rPr lang="en-US" sz="1600" b="0" u="none" strike="noStrike">
                <a:solidFill>
                  <a:schemeClr val="lt1"/>
                </a:solidFill>
                <a:effectLst/>
                <a:uFillTx/>
                <a:latin typeface="JetBrains Mono"/>
              </a:rPr>
              <a:t>Fourth Outline Level</a:t>
            </a:r>
            <a:endParaRPr lang="en-US" sz="1600" b="0" u="none" strike="noStrike">
              <a:solidFill>
                <a:schemeClr val="lt1"/>
              </a:solidFill>
              <a:effectLst/>
              <a:uFillTx/>
              <a:latin typeface="JetBrains Mono"/>
            </a:endParaRPr>
          </a:p>
          <a:p>
            <a:pPr marL="2057400" lvl="4"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Fifth Outline Level</a:t>
            </a:r>
            <a:endParaRPr lang="en-US" sz="1600" b="0" u="none" strike="noStrike">
              <a:solidFill>
                <a:schemeClr val="lt1"/>
              </a:solidFill>
              <a:effectLst/>
              <a:uFillTx/>
              <a:latin typeface="JetBrains Mono"/>
            </a:endParaRPr>
          </a:p>
          <a:p>
            <a:pPr marL="2514600" lvl="5"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Sixth Outline Level</a:t>
            </a:r>
            <a:endParaRPr lang="en-US" sz="1600" b="0" u="none" strike="noStrike">
              <a:solidFill>
                <a:schemeClr val="lt1"/>
              </a:solidFill>
              <a:effectLst/>
              <a:uFillTx/>
              <a:latin typeface="JetBrains Mono"/>
            </a:endParaRPr>
          </a:p>
          <a:p>
            <a:pPr marL="2971800" lvl="6" indent="-228600" algn="l">
              <a:lnSpc>
                <a:spcPct val="100000"/>
              </a:lnSpc>
              <a:spcBef>
                <a:spcPts val="283"/>
              </a:spcBef>
              <a:buClr>
                <a:srgbClr val="FFFFFF"/>
              </a:buClr>
              <a:buSzPct val="45000"/>
              <a:buFont typeface="Wingdings" charset="2"/>
              <a:buChar char=""/>
            </a:pPr>
            <a:r>
              <a:rPr lang="en-US" sz="1600" b="0" u="none" strike="noStrike">
                <a:solidFill>
                  <a:schemeClr val="lt1"/>
                </a:solidFill>
                <a:effectLst/>
                <a:uFillTx/>
                <a:latin typeface="JetBrains Mono"/>
              </a:rPr>
              <a:t>Seventh Outline Level</a:t>
            </a:r>
            <a:endParaRPr lang="en-US" sz="1600" b="0" u="none" strike="noStrike">
              <a:solidFill>
                <a:schemeClr val="lt1"/>
              </a:solidFill>
              <a:effectLst/>
              <a:uFillTx/>
              <a:latin typeface="JetBrains Mono"/>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6.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7.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png"/><Relationship Id="rId3" Type="http://schemas.openxmlformats.org/officeDocument/2006/relationships/slideLayout" Target="../slideLayouts/slideLayout7.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6.png"/><Relationship Id="rId3" Type="http://schemas.openxmlformats.org/officeDocument/2006/relationships/slideLayout" Target="../slideLayouts/slideLayout7.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17.mp4"/><Relationship Id="rId3" Type="http://schemas.microsoft.com/office/2007/relationships/media" Target="../media/media17.mp4"/><Relationship Id="rId4" Type="http://schemas.openxmlformats.org/officeDocument/2006/relationships/image" Target="../media/image18.png"/><Relationship Id="rId5"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19.mp4"/><Relationship Id="rId3" Type="http://schemas.microsoft.com/office/2007/relationships/media" Target="../media/media19.mp4"/><Relationship Id="rId4" Type="http://schemas.openxmlformats.org/officeDocument/2006/relationships/image" Target="../media/image20.png"/><Relationship Id="rId5"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21.mp4"/><Relationship Id="rId3" Type="http://schemas.microsoft.com/office/2007/relationships/media" Target="../media/media21.mp4"/><Relationship Id="rId4" Type="http://schemas.openxmlformats.org/officeDocument/2006/relationships/image" Target="../media/image22.png"/><Relationship Id="rId5" Type="http://schemas.openxmlformats.org/officeDocument/2006/relationships/slideLayout" Target="../slideLayouts/slideLayout7.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23.mp4"/><Relationship Id="rId3" Type="http://schemas.microsoft.com/office/2007/relationships/media" Target="../media/media23.mp4"/><Relationship Id="rId4" Type="http://schemas.openxmlformats.org/officeDocument/2006/relationships/image" Target="../media/image24.png"/><Relationship Id="rId5"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slideLayout" Target="../slideLayouts/slideLayout5.xml"/><Relationship Id="rId10"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32.png"/><Relationship Id="rId3" Type="http://schemas.openxmlformats.org/officeDocument/2006/relationships/slideLayout" Target="../slideLayouts/slideLayout7.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33.png"/><Relationship Id="rId3" Type="http://schemas.openxmlformats.org/officeDocument/2006/relationships/slideLayout" Target="../slideLayouts/slideLayout8.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slideLayout" Target="../slideLayouts/slideLayout8.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2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2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2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6.png"/><Relationship Id="rId3" Type="http://schemas.openxmlformats.org/officeDocument/2006/relationships/slideLayout" Target="../slideLayouts/slideLayout7.xml"/><Relationship Id="rId4"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3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37.mp4"/><Relationship Id="rId3" Type="http://schemas.microsoft.com/office/2007/relationships/media" Target="../media/media37.mp4"/><Relationship Id="rId4" Type="http://schemas.openxmlformats.org/officeDocument/2006/relationships/image" Target="../media/image38.png"/><Relationship Id="rId5" Type="http://schemas.openxmlformats.org/officeDocument/2006/relationships/slideLayout" Target="../slideLayouts/slideLayout8.xml"/>
</Relationships>
</file>

<file path=ppt/slides/_rels/slide3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39.mp4"/><Relationship Id="rId3" Type="http://schemas.microsoft.com/office/2007/relationships/media" Target="../media/media39.mp4"/><Relationship Id="rId4" Type="http://schemas.openxmlformats.org/officeDocument/2006/relationships/image" Target="../media/image40.png"/><Relationship Id="rId5" Type="http://schemas.openxmlformats.org/officeDocument/2006/relationships/video" Target="../media/media41.mp4"/><Relationship Id="rId6" Type="http://schemas.microsoft.com/office/2007/relationships/media" Target="../media/media41.mp4"/><Relationship Id="rId7" Type="http://schemas.openxmlformats.org/officeDocument/2006/relationships/image" Target="../media/image42.png"/><Relationship Id="rId8" Type="http://schemas.openxmlformats.org/officeDocument/2006/relationships/slideLayout" Target="../slideLayouts/slideLayout8.xml"/>
</Relationships>
</file>

<file path=ppt/slides/_rels/slide3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3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3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3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3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3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4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4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43.mp4"/><Relationship Id="rId3" Type="http://schemas.microsoft.com/office/2007/relationships/media" Target="../media/media43.mp4"/><Relationship Id="rId4" Type="http://schemas.openxmlformats.org/officeDocument/2006/relationships/image" Target="../media/image44.png"/><Relationship Id="rId5" Type="http://schemas.openxmlformats.org/officeDocument/2006/relationships/slideLayout" Target="../slideLayouts/slideLayout8.xml"/><Relationship Id="rId6"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45.mp4"/><Relationship Id="rId3" Type="http://schemas.microsoft.com/office/2007/relationships/media" Target="../media/media45.mp4"/><Relationship Id="rId4" Type="http://schemas.openxmlformats.org/officeDocument/2006/relationships/image" Target="../media/image46.png"/><Relationship Id="rId5" Type="http://schemas.openxmlformats.org/officeDocument/2006/relationships/slideLayout" Target="../slideLayouts/slideLayout8.xml"/>
</Relationships>
</file>

<file path=ppt/slides/_rels/slide4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slideLayout" Target="../slideLayouts/slideLayout5.xml"/><Relationship Id="rId7"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
</Relationships>
</file>

<file path=ppt/slides/_rels/slide4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media/media51.mp4"/><Relationship Id="rId3" Type="http://schemas.microsoft.com/office/2007/relationships/media" Target="../media/media51.mp4"/><Relationship Id="rId4" Type="http://schemas.openxmlformats.org/officeDocument/2006/relationships/image" Target="../media/image52.png"/><Relationship Id="rId5" Type="http://schemas.openxmlformats.org/officeDocument/2006/relationships/slideLayout" Target="../slideLayouts/slideLayout8.xml"/>
</Relationships>
</file>

<file path=ppt/slides/_rels/slide4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slideLayout" Target="../slideLayouts/slideLayout7.xml"/><Relationship Id="rId7"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57.png"/><Relationship Id="rId3" Type="http://schemas.openxmlformats.org/officeDocument/2006/relationships/slideLayout" Target="../slideLayouts/slideLayout4.xml"/><Relationship Id="rId4" Type="http://schemas.openxmlformats.org/officeDocument/2006/relationships/notesSlide" Target="../notesSlides/notesSlide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 name="Image 0" descr="Neon wave background"/>
          <p:cNvPicPr/>
          <p:nvPr/>
        </p:nvPicPr>
        <p:blipFill>
          <a:blip r:embed="rId1"/>
          <a:stretch/>
        </p:blipFill>
        <p:spPr>
          <a:xfrm>
            <a:off x="0" y="0"/>
            <a:ext cx="12191400" cy="6857280"/>
          </a:xfrm>
          <a:prstGeom prst="rect">
            <a:avLst/>
          </a:prstGeom>
          <a:noFill/>
          <a:ln w="0">
            <a:noFill/>
          </a:ln>
        </p:spPr>
      </p:pic>
      <p:sp>
        <p:nvSpPr>
          <p:cNvPr id="27" name="Text 0"/>
          <p:cNvSpPr/>
          <p:nvPr/>
        </p:nvSpPr>
        <p:spPr>
          <a:xfrm>
            <a:off x="812880" y="2235960"/>
            <a:ext cx="69321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99" strike="noStrike">
                <a:solidFill>
                  <a:srgbClr val="39FF9C"/>
                </a:solidFill>
                <a:effectLst/>
                <a:uFillTx/>
                <a:latin typeface="JetBrains Mono"/>
                <a:ea typeface="JetBrains Mono"/>
              </a:rPr>
              <a:t>$ whoami --</a:t>
            </a:r>
            <a:r>
              <a:rPr lang="en-US" sz="1200" b="0" u="none" spc="99" strike="noStrike">
                <a:solidFill>
                  <a:srgbClr val="39FF9C"/>
                </a:solidFill>
                <a:effectLst/>
                <a:uFillTx/>
                <a:latin typeface="JetBrains Mono"/>
                <a:ea typeface="JetBrains Mono"/>
              </a:rPr>
              <a:t>talk</a:t>
            </a:r>
            <a:endParaRPr lang="en-US" sz="1200" b="0" u="none" strike="noStrike">
              <a:solidFill>
                <a:srgbClr val="FFFFFF"/>
              </a:solidFill>
              <a:effectLst/>
              <a:uFillTx/>
              <a:latin typeface="Arial"/>
            </a:endParaRPr>
          </a:p>
        </p:txBody>
      </p:sp>
      <p:sp>
        <p:nvSpPr>
          <p:cNvPr id="28" name="PlaceHolder 1"/>
          <p:cNvSpPr>
            <a:spLocks noGrp="1"/>
          </p:cNvSpPr>
          <p:nvPr>
            <p:ph type="title"/>
          </p:nvPr>
        </p:nvSpPr>
        <p:spPr>
          <a:xfrm>
            <a:off x="812880" y="2677680"/>
            <a:ext cx="6932160" cy="878040"/>
          </a:xfrm>
          <a:prstGeom prst="rect">
            <a:avLst/>
          </a:prstGeom>
          <a:noFill/>
          <a:ln w="0">
            <a:noFill/>
          </a:ln>
        </p:spPr>
        <p:txBody>
          <a:bodyPr lIns="0" tIns="0" rIns="0" bIns="0" anchor="t">
            <a:normAutofit/>
          </a:bodyPr>
          <a:p>
            <a:pPr indent="0" algn="l" defTabSz="914400">
              <a:lnSpc>
                <a:spcPts val="6721"/>
              </a:lnSpc>
              <a:buNone/>
              <a:tabLst>
                <a:tab pos="0" algn="l"/>
              </a:tabLst>
            </a:pPr>
            <a:r>
              <a:rPr lang="en-US" sz="6400" b="1" u="none" spc="-99" strike="noStrike">
                <a:solidFill>
                  <a:srgbClr val="FFF4FD"/>
                </a:solidFill>
                <a:effectLst/>
                <a:uFillTx/>
                <a:latin typeface="Space Grotesk"/>
                <a:ea typeface="Space Grotesk"/>
              </a:rPr>
              <a:t>Prove or </a:t>
            </a:r>
            <a:r>
              <a:rPr lang="en-US" sz="6400" b="1" u="none" spc="-99" strike="noStrike">
                <a:solidFill>
                  <a:srgbClr val="FFF4FD"/>
                </a:solidFill>
                <a:effectLst/>
                <a:uFillTx/>
                <a:latin typeface="Space Grotesk"/>
                <a:ea typeface="Space Grotesk"/>
              </a:rPr>
              <a:t>Delete</a:t>
            </a:r>
            <a:endParaRPr lang="en-US" sz="6400" b="0" u="none" strike="noStrike">
              <a:solidFill>
                <a:schemeClr val="lt1"/>
              </a:solidFill>
              <a:effectLst/>
              <a:uFillTx/>
              <a:latin typeface="JetBrains Mono"/>
            </a:endParaRPr>
          </a:p>
        </p:txBody>
      </p:sp>
      <p:sp>
        <p:nvSpPr>
          <p:cNvPr id="29" name="Text 2"/>
          <p:cNvSpPr/>
          <p:nvPr/>
        </p:nvSpPr>
        <p:spPr>
          <a:xfrm>
            <a:off x="812880" y="3759840"/>
            <a:ext cx="6932160" cy="374040"/>
          </a:xfrm>
          <a:prstGeom prst="rect">
            <a:avLst/>
          </a:prstGeom>
          <a:noFill/>
          <a:ln w="0">
            <a:noFill/>
          </a:ln>
        </p:spPr>
        <p:style>
          <a:lnRef idx="0"/>
          <a:fillRef idx="0"/>
          <a:effectRef idx="0"/>
          <a:fontRef idx="minor"/>
        </p:style>
        <p:txBody>
          <a:bodyPr lIns="0" tIns="0" rIns="0" bIns="0" anchor="t">
            <a:normAutofit/>
          </a:bodyPr>
          <a:p>
            <a:pPr defTabSz="914400">
              <a:lnSpc>
                <a:spcPts val="2750"/>
              </a:lnSpc>
              <a:tabLst>
                <a:tab pos="0" algn="l"/>
              </a:tabLst>
            </a:pPr>
            <a:r>
              <a:rPr lang="en-US" sz="2200" b="0" u="none" strike="noStrike">
                <a:solidFill>
                  <a:srgbClr val="00F0FF"/>
                </a:solidFill>
                <a:effectLst/>
                <a:uFillTx/>
                <a:latin typeface="Space Grotesk"/>
                <a:ea typeface="Space Grotesk"/>
              </a:rPr>
              <a:t>End</a:t>
            </a:r>
            <a:r>
              <a:rPr lang="en-US" sz="2200" b="0" u="none" strike="noStrike">
                <a:solidFill>
                  <a:srgbClr val="00F0FF"/>
                </a:solidFill>
                <a:effectLst/>
                <a:uFillTx/>
                <a:latin typeface="Space Grotesk"/>
                <a:ea typeface="Space Grotesk"/>
              </a:rPr>
              <a:t>ing </a:t>
            </a:r>
            <a:r>
              <a:rPr lang="en-US" sz="2200" b="0" u="none" strike="noStrike">
                <a:solidFill>
                  <a:srgbClr val="00F0FF"/>
                </a:solidFill>
                <a:effectLst/>
                <a:uFillTx/>
                <a:latin typeface="Space Grotesk"/>
                <a:ea typeface="Space Grotesk"/>
              </a:rPr>
              <a:t>the </a:t>
            </a:r>
            <a:r>
              <a:rPr lang="en-US" sz="2200" b="0" u="none" strike="noStrike">
                <a:solidFill>
                  <a:srgbClr val="00F0FF"/>
                </a:solidFill>
                <a:effectLst/>
                <a:uFillTx/>
                <a:latin typeface="Space Grotesk"/>
                <a:ea typeface="Space Grotesk"/>
              </a:rPr>
              <a:t>gue</a:t>
            </a:r>
            <a:r>
              <a:rPr lang="en-US" sz="2200" b="0" u="none" strike="noStrike">
                <a:solidFill>
                  <a:srgbClr val="00F0FF"/>
                </a:solidFill>
                <a:effectLst/>
                <a:uFillTx/>
                <a:latin typeface="Space Grotesk"/>
                <a:ea typeface="Space Grotesk"/>
              </a:rPr>
              <a:t>ssw</a:t>
            </a:r>
            <a:r>
              <a:rPr lang="en-US" sz="2200" b="0" u="none" strike="noStrike">
                <a:solidFill>
                  <a:srgbClr val="00F0FF"/>
                </a:solidFill>
                <a:effectLst/>
                <a:uFillTx/>
                <a:latin typeface="Space Grotesk"/>
                <a:ea typeface="Space Grotesk"/>
              </a:rPr>
              <a:t>ork </a:t>
            </a:r>
            <a:r>
              <a:rPr lang="en-US" sz="2200" b="0" u="none" strike="noStrike">
                <a:solidFill>
                  <a:srgbClr val="00F0FF"/>
                </a:solidFill>
                <a:effectLst/>
                <a:uFillTx/>
                <a:latin typeface="Space Grotesk"/>
                <a:ea typeface="Space Grotesk"/>
              </a:rPr>
              <a:t>in </a:t>
            </a:r>
            <a:r>
              <a:rPr lang="en-US" sz="2200" b="0" u="none" strike="noStrike">
                <a:solidFill>
                  <a:srgbClr val="00F0FF"/>
                </a:solidFill>
                <a:effectLst/>
                <a:uFillTx/>
                <a:latin typeface="Space Grotesk"/>
                <a:ea typeface="Space Grotesk"/>
              </a:rPr>
              <a:t>mo</a:t>
            </a:r>
            <a:r>
              <a:rPr lang="en-US" sz="2200" b="0" u="none" strike="noStrike">
                <a:solidFill>
                  <a:srgbClr val="00F0FF"/>
                </a:solidFill>
                <a:effectLst/>
                <a:uFillTx/>
                <a:latin typeface="Space Grotesk"/>
                <a:ea typeface="Space Grotesk"/>
              </a:rPr>
              <a:t>bile </a:t>
            </a:r>
            <a:r>
              <a:rPr lang="en-US" sz="2200" b="0" u="none" strike="noStrike">
                <a:solidFill>
                  <a:srgbClr val="00F0FF"/>
                </a:solidFill>
                <a:effectLst/>
                <a:uFillTx/>
                <a:latin typeface="Space Grotesk"/>
                <a:ea typeface="Space Grotesk"/>
              </a:rPr>
              <a:t>pen</a:t>
            </a:r>
            <a:r>
              <a:rPr lang="en-US" sz="2200" b="0" u="none" strike="noStrike">
                <a:solidFill>
                  <a:srgbClr val="00F0FF"/>
                </a:solidFill>
                <a:effectLst/>
                <a:uFillTx/>
                <a:latin typeface="Space Grotesk"/>
                <a:ea typeface="Space Grotesk"/>
              </a:rPr>
              <a:t>test</a:t>
            </a:r>
            <a:r>
              <a:rPr lang="en-US" sz="2200" b="0" u="none" strike="noStrike">
                <a:solidFill>
                  <a:srgbClr val="00F0FF"/>
                </a:solidFill>
                <a:effectLst/>
                <a:uFillTx/>
                <a:latin typeface="Space Grotesk"/>
                <a:ea typeface="Space Grotesk"/>
              </a:rPr>
              <a:t>ing</a:t>
            </a:r>
            <a:endParaRPr lang="en-US" sz="2200" b="0" u="none" strike="noStrike">
              <a:solidFill>
                <a:srgbClr val="FFFFFF"/>
              </a:solidFill>
              <a:effectLst/>
              <a:uFillTx/>
              <a:latin typeface="Arial"/>
            </a:endParaRPr>
          </a:p>
        </p:txBody>
      </p:sp>
      <p:sp>
        <p:nvSpPr>
          <p:cNvPr id="30" name="Text 3"/>
          <p:cNvSpPr/>
          <p:nvPr/>
        </p:nvSpPr>
        <p:spPr>
          <a:xfrm>
            <a:off x="812880" y="4337640"/>
            <a:ext cx="693216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1" u="none" strike="noStrike">
                <a:solidFill>
                  <a:srgbClr val="E8F7FF"/>
                </a:solidFill>
                <a:effectLst/>
                <a:uFillTx/>
                <a:latin typeface="Space Grotesk"/>
                <a:ea typeface="Space Grotesk"/>
              </a:rPr>
              <a:t>Jack Sessions</a:t>
            </a:r>
            <a:endParaRPr lang="en-US" sz="1600" b="0" u="none" strike="noStrike">
              <a:solidFill>
                <a:srgbClr val="FFFFFF"/>
              </a:solidFill>
              <a:effectLst/>
              <a:uFillTx/>
              <a:latin typeface="Arial"/>
            </a:endParaRPr>
          </a:p>
        </p:txBody>
      </p:sp>
      <p:sp>
        <p:nvSpPr>
          <p:cNvPr id="31" name="Shape 4"/>
          <p:cNvSpPr/>
          <p:nvPr/>
        </p:nvSpPr>
        <p:spPr>
          <a:xfrm>
            <a:off x="8477280" y="831960"/>
            <a:ext cx="2882160" cy="5193720"/>
          </a:xfrm>
          <a:prstGeom prst="roundRect">
            <a:avLst>
              <a:gd name="adj" fmla="val 15198"/>
            </a:avLst>
          </a:prstGeom>
          <a:solidFill>
            <a:srgbClr val="05070F"/>
          </a:solidFill>
          <a:ln w="38100">
            <a:solidFill>
              <a:srgbClr val="00F0FF"/>
            </a:solidFill>
            <a:round/>
          </a:ln>
          <a:effectLst>
            <a:outerShdw algn="bl" blurRad="380880" dir="0" dist="0" kx="0" ky="0" rotWithShape="0" sx="100000" sy="100000">
              <a:srgbClr val="00F0FF">
                <a:alpha val="5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2" name="Text 5"/>
          <p:cNvSpPr/>
          <p:nvPr/>
        </p:nvSpPr>
        <p:spPr>
          <a:xfrm>
            <a:off x="8671320" y="1076760"/>
            <a:ext cx="547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E8F7FF"/>
                </a:solidFill>
                <a:effectLst/>
                <a:uFillTx/>
                <a:latin typeface="JetBrains Mono"/>
                <a:ea typeface="JetBrains Mono"/>
              </a:rPr>
              <a:t>10:15</a:t>
            </a:r>
            <a:endParaRPr lang="en-US" sz="1200" b="0" u="none" strike="noStrike">
              <a:solidFill>
                <a:srgbClr val="FFFFFF"/>
              </a:solidFill>
              <a:effectLst/>
              <a:uFillTx/>
              <a:latin typeface="Arial"/>
            </a:endParaRPr>
          </a:p>
        </p:txBody>
      </p:sp>
      <p:sp>
        <p:nvSpPr>
          <p:cNvPr id="33" name="Text 6"/>
          <p:cNvSpPr/>
          <p:nvPr/>
        </p:nvSpPr>
        <p:spPr>
          <a:xfrm>
            <a:off x="10932120" y="1076760"/>
            <a:ext cx="23292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E8F7FF"/>
                </a:solidFill>
                <a:effectLst/>
                <a:uFillTx/>
                <a:latin typeface="JetBrains Mono"/>
                <a:ea typeface="JetBrains Mono"/>
              </a:rPr>
              <a:t>5G</a:t>
            </a:r>
            <a:endParaRPr lang="en-US" sz="1200" b="0" u="none" strike="noStrike">
              <a:solidFill>
                <a:srgbClr val="FFFFFF"/>
              </a:solidFill>
              <a:effectLst/>
              <a:uFillTx/>
              <a:latin typeface="Arial"/>
            </a:endParaRPr>
          </a:p>
        </p:txBody>
      </p:sp>
      <p:sp>
        <p:nvSpPr>
          <p:cNvPr id="34" name="Text 7"/>
          <p:cNvSpPr/>
          <p:nvPr/>
        </p:nvSpPr>
        <p:spPr>
          <a:xfrm>
            <a:off x="8671320" y="1417320"/>
            <a:ext cx="256860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1" u="none" strike="noStrike">
                <a:solidFill>
                  <a:srgbClr val="E8F7FF"/>
                </a:solidFill>
                <a:effectLst/>
                <a:uFillTx/>
                <a:latin typeface="Space Grotesk"/>
                <a:ea typeface="Space Grotesk"/>
              </a:rPr>
              <a:t>HookSmith</a:t>
            </a:r>
            <a:endParaRPr lang="en-US" sz="1600" b="0" u="none" strike="noStrike">
              <a:solidFill>
                <a:srgbClr val="FFFFFF"/>
              </a:solidFill>
              <a:effectLst/>
              <a:uFillTx/>
              <a:latin typeface="Arial"/>
            </a:endParaRPr>
          </a:p>
        </p:txBody>
      </p:sp>
      <p:sp>
        <p:nvSpPr>
          <p:cNvPr id="35" name="Shape 8"/>
          <p:cNvSpPr/>
          <p:nvPr/>
        </p:nvSpPr>
        <p:spPr>
          <a:xfrm>
            <a:off x="8677800" y="1834920"/>
            <a:ext cx="2481120" cy="655920"/>
          </a:xfrm>
          <a:prstGeom prst="roundRect">
            <a:avLst>
              <a:gd name="adj" fmla="val 18369"/>
            </a:avLst>
          </a:prstGeom>
          <a:solidFill>
            <a:srgbClr val="0B1020"/>
          </a:solidFill>
          <a:ln w="12700">
            <a:solidFill>
              <a:srgbClr val="39FF9C"/>
            </a:solidFill>
            <a:round/>
          </a:ln>
          <a:effectLst>
            <a:outerShdw algn="bl" blurRad="152280" dir="0" dist="0" kx="0" ky="0" rotWithShape="0" sx="100000" sy="100000">
              <a:srgbClr val="39FF9C">
                <a:alpha val="4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6" name="Text 9"/>
          <p:cNvSpPr/>
          <p:nvPr/>
        </p:nvSpPr>
        <p:spPr>
          <a:xfrm>
            <a:off x="8818200" y="193752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39FF9C"/>
                </a:solidFill>
                <a:effectLst/>
                <a:uFillTx/>
                <a:latin typeface="JetBrains Mono"/>
                <a:ea typeface="JetBrains Mono"/>
              </a:rPr>
              <a:t>PROVEN</a:t>
            </a:r>
            <a:endParaRPr lang="en-US" sz="1200" b="0" u="none" strike="noStrike">
              <a:solidFill>
                <a:srgbClr val="FFFFFF"/>
              </a:solidFill>
              <a:effectLst/>
              <a:uFillTx/>
              <a:latin typeface="Arial"/>
            </a:endParaRPr>
          </a:p>
        </p:txBody>
      </p:sp>
      <p:sp>
        <p:nvSpPr>
          <p:cNvPr id="37" name="Text 10"/>
          <p:cNvSpPr/>
          <p:nvPr/>
        </p:nvSpPr>
        <p:spPr>
          <a:xfrm>
            <a:off x="8818200" y="217620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E8F7FF"/>
                </a:solidFill>
                <a:effectLst/>
                <a:uFillTx/>
                <a:latin typeface="Space Grotesk"/>
                <a:ea typeface="Space Grotesk"/>
              </a:rPr>
              <a:t>Hardcoded AES key</a:t>
            </a:r>
            <a:endParaRPr lang="en-US" sz="1200" b="0" u="none" strike="noStrike">
              <a:solidFill>
                <a:srgbClr val="FFFFFF"/>
              </a:solidFill>
              <a:effectLst/>
              <a:uFillTx/>
              <a:latin typeface="Arial"/>
            </a:endParaRPr>
          </a:p>
        </p:txBody>
      </p:sp>
      <p:sp>
        <p:nvSpPr>
          <p:cNvPr id="38" name="Shape 11"/>
          <p:cNvSpPr/>
          <p:nvPr/>
        </p:nvSpPr>
        <p:spPr>
          <a:xfrm>
            <a:off x="8677800" y="2631600"/>
            <a:ext cx="2481120" cy="655920"/>
          </a:xfrm>
          <a:prstGeom prst="roundRect">
            <a:avLst>
              <a:gd name="adj" fmla="val 18369"/>
            </a:avLst>
          </a:prstGeom>
          <a:solidFill>
            <a:srgbClr val="0B1020"/>
          </a:solidFill>
          <a:ln w="12700">
            <a:solidFill>
              <a:srgbClr val="FFE600"/>
            </a:solidFill>
            <a:round/>
          </a:ln>
          <a:effectLst>
            <a:outerShdw algn="bl" blurRad="152280" dir="0" dist="0" kx="0" ky="0" rotWithShape="0" sx="100000" sy="100000">
              <a:srgbClr val="FFE6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9" name="Text 12"/>
          <p:cNvSpPr/>
          <p:nvPr/>
        </p:nvSpPr>
        <p:spPr>
          <a:xfrm>
            <a:off x="8818200" y="273384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FFE600"/>
                </a:solidFill>
                <a:effectLst/>
                <a:uFillTx/>
                <a:latin typeface="JetBrains Mono"/>
                <a:ea typeface="JetBrains Mono"/>
              </a:rPr>
              <a:t>REFUTED</a:t>
            </a:r>
            <a:endParaRPr lang="en-US" sz="1200" b="0" u="none" strike="noStrike">
              <a:solidFill>
                <a:srgbClr val="FFFFFF"/>
              </a:solidFill>
              <a:effectLst/>
              <a:uFillTx/>
              <a:latin typeface="Arial"/>
            </a:endParaRPr>
          </a:p>
        </p:txBody>
      </p:sp>
      <p:sp>
        <p:nvSpPr>
          <p:cNvPr id="40" name="Text 13"/>
          <p:cNvSpPr/>
          <p:nvPr/>
        </p:nvSpPr>
        <p:spPr>
          <a:xfrm>
            <a:off x="8818200" y="297252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E8F7FF"/>
                </a:solidFill>
                <a:effectLst/>
                <a:uFillTx/>
                <a:latin typeface="Space Grotesk"/>
                <a:ea typeface="Space Grotesk"/>
              </a:rPr>
              <a:t>Key is derived per call</a:t>
            </a:r>
            <a:endParaRPr lang="en-US" sz="1200" b="0" u="none" strike="noStrike">
              <a:solidFill>
                <a:srgbClr val="FFFFFF"/>
              </a:solidFill>
              <a:effectLst/>
              <a:uFillTx/>
              <a:latin typeface="Arial"/>
            </a:endParaRPr>
          </a:p>
        </p:txBody>
      </p:sp>
      <p:sp>
        <p:nvSpPr>
          <p:cNvPr id="41" name="Shape 14"/>
          <p:cNvSpPr/>
          <p:nvPr/>
        </p:nvSpPr>
        <p:spPr>
          <a:xfrm>
            <a:off x="8677800" y="3427920"/>
            <a:ext cx="2481120" cy="655920"/>
          </a:xfrm>
          <a:prstGeom prst="roundRect">
            <a:avLst>
              <a:gd name="adj" fmla="val 18369"/>
            </a:avLst>
          </a:prstGeom>
          <a:solidFill>
            <a:srgbClr val="0B1020"/>
          </a:solidFill>
          <a:ln w="12700">
            <a:solidFill>
              <a:srgbClr val="FF9F1C"/>
            </a:solidFill>
            <a:round/>
          </a:ln>
          <a:effectLst>
            <a:outerShdw algn="bl" blurRad="152280" dir="0" dist="0" kx="0" ky="0" rotWithShape="0" sx="100000" sy="100000">
              <a:srgbClr val="FF9F1C">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42" name="Text 15"/>
          <p:cNvSpPr/>
          <p:nvPr/>
        </p:nvSpPr>
        <p:spPr>
          <a:xfrm>
            <a:off x="8818200" y="353052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FF9F1C"/>
                </a:solidFill>
                <a:effectLst/>
                <a:uFillTx/>
                <a:latin typeface="JetBrains Mono"/>
                <a:ea typeface="JetBrains Mono"/>
              </a:rPr>
              <a:t>UNREACHABLE</a:t>
            </a:r>
            <a:endParaRPr lang="en-US" sz="1200" b="0" u="none" strike="noStrike">
              <a:solidFill>
                <a:srgbClr val="FFFFFF"/>
              </a:solidFill>
              <a:effectLst/>
              <a:uFillTx/>
              <a:latin typeface="Arial"/>
            </a:endParaRPr>
          </a:p>
        </p:txBody>
      </p:sp>
      <p:sp>
        <p:nvSpPr>
          <p:cNvPr id="43" name="Text 16"/>
          <p:cNvSpPr/>
          <p:nvPr/>
        </p:nvSpPr>
        <p:spPr>
          <a:xfrm>
            <a:off x="8818200" y="376920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E8F7FF"/>
                </a:solidFill>
                <a:effectLst/>
                <a:uFillTx/>
                <a:latin typeface="Space Grotesk"/>
                <a:ea typeface="Space Grotesk"/>
              </a:rPr>
              <a:t>Method never fired</a:t>
            </a:r>
            <a:endParaRPr lang="en-US" sz="1200" b="0" u="none" strike="noStrike">
              <a:solidFill>
                <a:srgbClr val="FFFFFF"/>
              </a:solidFill>
              <a:effectLst/>
              <a:uFillTx/>
              <a:latin typeface="Arial"/>
            </a:endParaRPr>
          </a:p>
        </p:txBody>
      </p:sp>
      <p:sp>
        <p:nvSpPr>
          <p:cNvPr id="44" name="Shape 17"/>
          <p:cNvSpPr/>
          <p:nvPr/>
        </p:nvSpPr>
        <p:spPr>
          <a:xfrm>
            <a:off x="8677800" y="4224600"/>
            <a:ext cx="2481120" cy="655920"/>
          </a:xfrm>
          <a:prstGeom prst="roundRect">
            <a:avLst>
              <a:gd name="adj" fmla="val 18369"/>
            </a:avLst>
          </a:prstGeom>
          <a:solidFill>
            <a:srgbClr val="0B1020"/>
          </a:solidFill>
          <a:ln w="12700">
            <a:solidFill>
              <a:srgbClr val="FF2BD6"/>
            </a:solidFill>
            <a:round/>
          </a:ln>
          <a:effectLst>
            <a:outerShdw algn="bl" blurRad="152280" dir="0" dist="0" kx="0" ky="0" rotWithShape="0" sx="100000" sy="100000">
              <a:srgbClr val="FF2BD6">
                <a:alpha val="4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45" name="Text 18"/>
          <p:cNvSpPr/>
          <p:nvPr/>
        </p:nvSpPr>
        <p:spPr>
          <a:xfrm>
            <a:off x="8818200" y="432684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FF2BD6"/>
                </a:solidFill>
                <a:effectLst/>
                <a:uFillTx/>
                <a:latin typeface="JetBrains Mono"/>
                <a:ea typeface="JetBrains Mono"/>
              </a:rPr>
              <a:t>UNVALIDATED</a:t>
            </a:r>
            <a:endParaRPr lang="en-US" sz="1200" b="0" u="none" strike="noStrike">
              <a:solidFill>
                <a:srgbClr val="FFFFFF"/>
              </a:solidFill>
              <a:effectLst/>
              <a:uFillTx/>
              <a:latin typeface="Arial"/>
            </a:endParaRPr>
          </a:p>
        </p:txBody>
      </p:sp>
      <p:sp>
        <p:nvSpPr>
          <p:cNvPr id="46" name="Text 19"/>
          <p:cNvSpPr/>
          <p:nvPr/>
        </p:nvSpPr>
        <p:spPr>
          <a:xfrm>
            <a:off x="8818200" y="4565520"/>
            <a:ext cx="22662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E8F7FF"/>
                </a:solidFill>
                <a:effectLst/>
                <a:uFillTx/>
                <a:latin typeface="Space Grotesk"/>
                <a:ea typeface="Space Grotesk"/>
              </a:rPr>
              <a:t>N/A</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 name="Image 0" descr="Neon wave background"/>
          <p:cNvPicPr/>
          <p:nvPr/>
        </p:nvPicPr>
        <p:blipFill>
          <a:blip r:embed="rId1"/>
          <a:stretch/>
        </p:blipFill>
        <p:spPr>
          <a:xfrm>
            <a:off x="0" y="0"/>
            <a:ext cx="12191400" cy="6857280"/>
          </a:xfrm>
          <a:prstGeom prst="rect">
            <a:avLst/>
          </a:prstGeom>
          <a:noFill/>
          <a:ln w="0">
            <a:noFill/>
          </a:ln>
        </p:spPr>
      </p:pic>
      <p:sp>
        <p:nvSpPr>
          <p:cNvPr id="48" name="Text 0"/>
          <p:cNvSpPr/>
          <p:nvPr/>
        </p:nvSpPr>
        <p:spPr>
          <a:xfrm>
            <a:off x="812880" y="2059920"/>
            <a:ext cx="108828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99" strike="noStrike">
                <a:solidFill>
                  <a:srgbClr val="39FF9C"/>
                </a:solidFill>
                <a:effectLst/>
                <a:uFillTx/>
                <a:latin typeface="JetBrains Mono"/>
                <a:ea typeface="JetBrains Mono"/>
              </a:rPr>
              <a:t>$ whoami</a:t>
            </a:r>
            <a:endParaRPr lang="en-US" sz="1200" b="0" u="none" strike="noStrike">
              <a:solidFill>
                <a:srgbClr val="FFFFFF"/>
              </a:solidFill>
              <a:effectLst/>
              <a:uFillTx/>
              <a:latin typeface="Arial"/>
            </a:endParaRPr>
          </a:p>
        </p:txBody>
      </p:sp>
      <p:sp>
        <p:nvSpPr>
          <p:cNvPr id="49" name="Text 1"/>
          <p:cNvSpPr/>
          <p:nvPr/>
        </p:nvSpPr>
        <p:spPr>
          <a:xfrm>
            <a:off x="825480" y="2976840"/>
            <a:ext cx="1370880" cy="1370880"/>
          </a:xfrm>
          <a:prstGeom prst="roundRect">
            <a:avLst>
              <a:gd name="adj" fmla="val 50000"/>
            </a:avLst>
          </a:prstGeom>
          <a:solidFill>
            <a:srgbClr val="05070F"/>
          </a:solidFill>
          <a:ln w="25400">
            <a:solidFill>
              <a:srgbClr val="00F0FF"/>
            </a:solidFill>
            <a:round/>
          </a:ln>
          <a:effectLst>
            <a:outerShdw algn="bl" blurRad="279360" dir="0" dist="0" kx="0" ky="0" rotWithShape="0" sx="100000" sy="100000">
              <a:srgbClr val="00F0FF">
                <a:alpha val="55000"/>
              </a:srgbClr>
            </a:outerShdw>
          </a:effectLst>
        </p:spPr>
        <p:style>
          <a:lnRef idx="0"/>
          <a:fillRef idx="0"/>
          <a:effectRef idx="0"/>
          <a:fontRef idx="minor"/>
        </p:style>
        <p:txBody>
          <a:bodyPr lIns="0" tIns="0" rIns="0" bIns="0" anchor="ctr">
            <a:normAutofit/>
          </a:bodyPr>
          <a:p>
            <a:pPr algn="ctr" defTabSz="914400">
              <a:lnSpc>
                <a:spcPts val="5040"/>
              </a:lnSpc>
              <a:tabLst>
                <a:tab pos="0" algn="l"/>
              </a:tabLst>
            </a:pPr>
            <a:r>
              <a:rPr lang="en-US" sz="3600" b="1" u="none" strike="noStrike">
                <a:solidFill>
                  <a:srgbClr val="00F0FF"/>
                </a:solidFill>
                <a:effectLst/>
                <a:uFillTx/>
                <a:latin typeface="JetBrains Mono"/>
                <a:ea typeface="JetBrains Mono"/>
              </a:rPr>
              <a:t>JS</a:t>
            </a:r>
            <a:endParaRPr lang="en-US" sz="3600" b="0" u="none" strike="noStrike">
              <a:solidFill>
                <a:srgbClr val="FFFFFF"/>
              </a:solidFill>
              <a:effectLst/>
              <a:uFillTx/>
              <a:latin typeface="Arial"/>
            </a:endParaRPr>
          </a:p>
        </p:txBody>
      </p:sp>
      <p:sp>
        <p:nvSpPr>
          <p:cNvPr id="50" name="PlaceHolder 1"/>
          <p:cNvSpPr>
            <a:spLocks noGrp="1"/>
          </p:cNvSpPr>
          <p:nvPr>
            <p:ph type="title"/>
          </p:nvPr>
        </p:nvSpPr>
        <p:spPr>
          <a:xfrm>
            <a:off x="2565360" y="2527200"/>
            <a:ext cx="7848000" cy="558000"/>
          </a:xfrm>
          <a:prstGeom prst="rect">
            <a:avLst/>
          </a:prstGeom>
          <a:noFill/>
          <a:ln w="0">
            <a:noFill/>
          </a:ln>
        </p:spPr>
        <p:txBody>
          <a:bodyPr lIns="0" tIns="0" rIns="0" bIns="0" anchor="t">
            <a:normAutofit/>
          </a:bodyPr>
          <a:p>
            <a:pPr indent="0" algn="l" defTabSz="914400">
              <a:lnSpc>
                <a:spcPts val="4201"/>
              </a:lnSpc>
              <a:buNone/>
              <a:tabLst>
                <a:tab pos="0" algn="l"/>
              </a:tabLst>
            </a:pPr>
            <a:r>
              <a:rPr lang="en-US" sz="4000" b="1" u="none" spc="-51" strike="noStrike">
                <a:solidFill>
                  <a:srgbClr val="FFF4FD"/>
                </a:solidFill>
                <a:effectLst/>
                <a:uFillTx/>
                <a:latin typeface="Space Grotesk"/>
                <a:ea typeface="Space Grotesk"/>
              </a:rPr>
              <a:t>Jack Sessions</a:t>
            </a:r>
            <a:endParaRPr lang="en-US" sz="4000" b="0" u="none" strike="noStrike">
              <a:solidFill>
                <a:schemeClr val="lt1"/>
              </a:solidFill>
              <a:effectLst/>
              <a:uFillTx/>
              <a:latin typeface="JetBrains Mono"/>
            </a:endParaRPr>
          </a:p>
        </p:txBody>
      </p:sp>
      <p:sp>
        <p:nvSpPr>
          <p:cNvPr id="51" name="Text 3"/>
          <p:cNvSpPr/>
          <p:nvPr/>
        </p:nvSpPr>
        <p:spPr>
          <a:xfrm>
            <a:off x="2565360" y="3162240"/>
            <a:ext cx="7848000" cy="1345320"/>
          </a:xfrm>
          <a:prstGeom prst="rect">
            <a:avLst/>
          </a:prstGeom>
          <a:noFill/>
          <a:ln w="0">
            <a:noFill/>
          </a:ln>
        </p:spPr>
        <p:style>
          <a:lnRef idx="0"/>
          <a:fillRef idx="0"/>
          <a:effectRef idx="0"/>
          <a:fontRef idx="minor"/>
        </p:style>
        <p:txBody>
          <a:bodyPr lIns="0" tIns="0" rIns="0" bIns="0" anchor="t">
            <a:normAutofit/>
          </a:bodyPr>
          <a:p>
            <a:pPr defTabSz="914400">
              <a:lnSpc>
                <a:spcPts val="2081"/>
              </a:lnSpc>
              <a:tabLst>
                <a:tab pos="0" algn="l"/>
              </a:tabLst>
            </a:pPr>
            <a:r>
              <a:rPr lang="en-US" sz="1600" b="0" u="none" strike="noStrike">
                <a:solidFill>
                  <a:srgbClr val="C9D1F5"/>
                </a:solidFill>
                <a:effectLst/>
                <a:uFillTx/>
                <a:latin typeface="Space Grotesk"/>
                <a:ea typeface="Space Grotesk"/>
              </a:rPr>
              <a:t>Mobile security researcher, based in Sydney. </a:t>
            </a:r>
            <a:endParaRPr lang="en-US" sz="1600" b="0" u="none" strike="noStrike">
              <a:solidFill>
                <a:srgbClr val="FFFFFF"/>
              </a:solidFill>
              <a:effectLst/>
              <a:uFillTx/>
              <a:latin typeface="Arial"/>
            </a:endParaRPr>
          </a:p>
          <a:p>
            <a:pPr defTabSz="914400">
              <a:lnSpc>
                <a:spcPts val="2081"/>
              </a:lnSpc>
              <a:tabLst>
                <a:tab pos="0" algn="l"/>
              </a:tabLst>
            </a:pPr>
            <a:endParaRPr lang="en-US" sz="1600" b="0" u="none" strike="noStrike">
              <a:solidFill>
                <a:srgbClr val="FFFFFF"/>
              </a:solidFill>
              <a:effectLst/>
              <a:uFillTx/>
              <a:latin typeface="Arial"/>
            </a:endParaRPr>
          </a:p>
          <a:p>
            <a:pPr defTabSz="914400">
              <a:lnSpc>
                <a:spcPts val="2081"/>
              </a:lnSpc>
              <a:tabLst>
                <a:tab pos="0" algn="l"/>
              </a:tabLst>
            </a:pPr>
            <a:r>
              <a:rPr lang="en-US" sz="1600" b="0" u="none" strike="noStrike">
                <a:solidFill>
                  <a:srgbClr val="C9D1F5"/>
                </a:solidFill>
                <a:effectLst/>
                <a:uFillTx/>
                <a:latin typeface="Space Grotesk"/>
                <a:ea typeface="Space Grotesk"/>
              </a:rPr>
              <a:t>Spends most of the working week breaking Android and iOS apps the slow way</a:t>
            </a:r>
            <a:endParaRPr lang="en-US" sz="1600" b="0" u="none" strike="noStrike">
              <a:solidFill>
                <a:srgbClr val="FFFFFF"/>
              </a:solidFill>
              <a:effectLst/>
              <a:uFillTx/>
              <a:latin typeface="Arial"/>
            </a:endParaRPr>
          </a:p>
          <a:p>
            <a:pPr defTabSz="914400">
              <a:lnSpc>
                <a:spcPts val="2081"/>
              </a:lnSpc>
              <a:tabLst>
                <a:tab pos="0" algn="l"/>
              </a:tabLst>
            </a:pPr>
            <a:endParaRPr lang="en-US" sz="1600" b="0" u="none" strike="noStrike">
              <a:solidFill>
                <a:srgbClr val="FFFFFF"/>
              </a:solidFill>
              <a:effectLst/>
              <a:uFillTx/>
              <a:latin typeface="Arial"/>
            </a:endParaRPr>
          </a:p>
          <a:p>
            <a:pPr defTabSz="914400">
              <a:lnSpc>
                <a:spcPts val="2081"/>
              </a:lnSpc>
              <a:tabLst>
                <a:tab pos="0" algn="l"/>
              </a:tabLst>
            </a:pPr>
            <a:r>
              <a:rPr lang="en-US" sz="1600" b="0" u="none" strike="noStrike">
                <a:solidFill>
                  <a:srgbClr val="C9D1F5"/>
                </a:solidFill>
                <a:effectLst/>
                <a:uFillTx/>
                <a:latin typeface="Space Grotesk"/>
                <a:ea typeface="Space Grotesk"/>
              </a:rPr>
              <a:t>Website JackSessions.dev</a:t>
            </a:r>
            <a:endParaRPr lang="en-US" sz="1600" b="0" u="none" strike="noStrike">
              <a:solidFill>
                <a:srgbClr val="FFFFFF"/>
              </a:solidFill>
              <a:effectLst/>
              <a:uFillTx/>
              <a:latin typeface="Arial"/>
            </a:endParaRPr>
          </a:p>
        </p:txBody>
      </p:sp>
      <p:sp>
        <p:nvSpPr>
          <p:cNvPr id="52" name="Text 4"/>
          <p:cNvSpPr/>
          <p:nvPr/>
        </p:nvSpPr>
        <p:spPr>
          <a:xfrm>
            <a:off x="2565360" y="4584600"/>
            <a:ext cx="78480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HookSmith. Open source, as of today.</a:t>
            </a:r>
            <a:endParaRPr lang="en-US" sz="1200" b="0" u="none" strike="noStrike">
              <a:solidFill>
                <a:srgbClr val="FFFFFF"/>
              </a:solidFill>
              <a:effectLst/>
              <a:uFillTx/>
              <a:latin typeface="Arial"/>
            </a:endParaRPr>
          </a:p>
        </p:txBody>
      </p:sp>
      <p:sp>
        <p:nvSpPr>
          <p:cNvPr id="53" name="Text 5"/>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4" name="Text 6"/>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02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Image 0" descr="Neon wave background"/>
          <p:cNvPicPr/>
          <p:nvPr/>
        </p:nvPicPr>
        <p:blipFill>
          <a:blip r:embed="rId1"/>
          <a:stretch/>
        </p:blipFill>
        <p:spPr>
          <a:xfrm>
            <a:off x="0" y="0"/>
            <a:ext cx="12191400" cy="6857280"/>
          </a:xfrm>
          <a:prstGeom prst="rect">
            <a:avLst/>
          </a:prstGeom>
          <a:noFill/>
          <a:ln w="0">
            <a:noFill/>
          </a:ln>
        </p:spPr>
      </p:pic>
      <p:sp>
        <p:nvSpPr>
          <p:cNvPr id="56" name="Text 0"/>
          <p:cNvSpPr/>
          <p:nvPr/>
        </p:nvSpPr>
        <p:spPr>
          <a:xfrm>
            <a:off x="4221360" y="1605960"/>
            <a:ext cx="37483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grep -ci potential report.md</a:t>
            </a:r>
            <a:endParaRPr lang="en-US" sz="1200" b="0" u="none" strike="noStrike">
              <a:solidFill>
                <a:srgbClr val="FFFFFF"/>
              </a:solidFill>
              <a:effectLst/>
              <a:uFillTx/>
              <a:latin typeface="Arial"/>
            </a:endParaRPr>
          </a:p>
        </p:txBody>
      </p:sp>
      <p:sp>
        <p:nvSpPr>
          <p:cNvPr id="57" name="PlaceHolder 1"/>
          <p:cNvSpPr>
            <a:spLocks noGrp="1"/>
          </p:cNvSpPr>
          <p:nvPr>
            <p:ph type="title"/>
          </p:nvPr>
        </p:nvSpPr>
        <p:spPr>
          <a:xfrm>
            <a:off x="2759040" y="2073240"/>
            <a:ext cx="667332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You’ve written “potential”</a:t>
            </a:r>
            <a:endParaRPr lang="en-US" sz="3600" b="0" u="none" strike="noStrike">
              <a:solidFill>
                <a:schemeClr val="lt1"/>
              </a:solidFill>
              <a:effectLst/>
              <a:uFillTx/>
              <a:latin typeface="JetBrains Mono"/>
            </a:endParaRPr>
          </a:p>
        </p:txBody>
      </p:sp>
      <p:sp>
        <p:nvSpPr>
          <p:cNvPr id="58" name="Shape 2"/>
          <p:cNvSpPr/>
          <p:nvPr/>
        </p:nvSpPr>
        <p:spPr>
          <a:xfrm>
            <a:off x="2133720" y="2836440"/>
            <a:ext cx="7923960" cy="1616040"/>
          </a:xfrm>
          <a:prstGeom prst="roundRect">
            <a:avLst>
              <a:gd name="adj" fmla="val 9033"/>
            </a:avLst>
          </a:prstGeom>
          <a:solidFill>
            <a:srgbClr val="05070F"/>
          </a:solidFill>
          <a:ln w="12700">
            <a:solidFill>
              <a:srgbClr val="FF5A5F"/>
            </a:solidFill>
            <a:round/>
          </a:ln>
          <a:effectLst>
            <a:outerShdw algn="bl" blurRad="254160" dir="0" dist="0" kx="0" ky="0" rotWithShape="0" sx="100000" sy="100000">
              <a:srgbClr val="FF5A5F">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59" name="Text 3"/>
          <p:cNvSpPr/>
          <p:nvPr/>
        </p:nvSpPr>
        <p:spPr>
          <a:xfrm>
            <a:off x="2388240" y="3091320"/>
            <a:ext cx="763704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FF5A5F"/>
                </a:solidFill>
                <a:effectLst/>
                <a:uFillTx/>
                <a:latin typeface="JetBrains Mono"/>
                <a:ea typeface="JetBrains Mono"/>
              </a:rPr>
              <a:t>- Potential hardcoded cryptographic key</a:t>
            </a:r>
            <a:endParaRPr lang="en-US" sz="1600" b="0" u="none" strike="noStrike">
              <a:solidFill>
                <a:srgbClr val="FFFFFF"/>
              </a:solidFill>
              <a:effectLst/>
              <a:uFillTx/>
              <a:latin typeface="Arial"/>
            </a:endParaRPr>
          </a:p>
        </p:txBody>
      </p:sp>
      <p:sp>
        <p:nvSpPr>
          <p:cNvPr id="60" name="Text 4"/>
          <p:cNvSpPr/>
          <p:nvPr/>
        </p:nvSpPr>
        <p:spPr>
          <a:xfrm>
            <a:off x="2388240" y="3502800"/>
            <a:ext cx="763704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FF5A5F"/>
                </a:solidFill>
                <a:effectLst/>
                <a:uFillTx/>
                <a:latin typeface="JetBrains Mono"/>
                <a:ea typeface="JetBrains Mono"/>
              </a:rPr>
              <a:t>- Possible cleartext HTTP traffic</a:t>
            </a:r>
            <a:endParaRPr lang="en-US" sz="1600" b="0" u="none" strike="noStrike">
              <a:solidFill>
                <a:srgbClr val="FFFFFF"/>
              </a:solidFill>
              <a:effectLst/>
              <a:uFillTx/>
              <a:latin typeface="Arial"/>
            </a:endParaRPr>
          </a:p>
        </p:txBody>
      </p:sp>
      <p:sp>
        <p:nvSpPr>
          <p:cNvPr id="61" name="Text 5"/>
          <p:cNvSpPr/>
          <p:nvPr/>
        </p:nvSpPr>
        <p:spPr>
          <a:xfrm>
            <a:off x="2388240" y="3914280"/>
            <a:ext cx="763704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FF5A5F"/>
                </a:solidFill>
                <a:effectLst/>
                <a:uFillTx/>
                <a:latin typeface="JetBrains Mono"/>
                <a:ea typeface="JetBrains Mono"/>
              </a:rPr>
              <a:t>- May use an insecure RNG</a:t>
            </a:r>
            <a:endParaRPr lang="en-US" sz="1600" b="0" u="none" strike="noStrike">
              <a:solidFill>
                <a:srgbClr val="FFFFFF"/>
              </a:solidFill>
              <a:effectLst/>
              <a:uFillTx/>
              <a:latin typeface="Arial"/>
            </a:endParaRPr>
          </a:p>
        </p:txBody>
      </p:sp>
      <p:sp>
        <p:nvSpPr>
          <p:cNvPr id="62" name="Text 6"/>
          <p:cNvSpPr/>
          <p:nvPr/>
        </p:nvSpPr>
        <p:spPr>
          <a:xfrm>
            <a:off x="3634560" y="4713840"/>
            <a:ext cx="4922280" cy="360000"/>
          </a:xfrm>
          <a:prstGeom prst="rect">
            <a:avLst/>
          </a:prstGeom>
          <a:noFill/>
          <a:ln w="0">
            <a:noFill/>
          </a:ln>
        </p:spPr>
        <p:style>
          <a:lnRef idx="0"/>
          <a:fillRef idx="0"/>
          <a:effectRef idx="0"/>
          <a:fontRef idx="minor"/>
        </p:style>
        <p:txBody>
          <a:bodyPr lIns="0" tIns="0" rIns="0" bIns="0" anchor="t">
            <a:normAutofit fontScale="92500" lnSpcReduction="9999"/>
          </a:bodyPr>
          <a:p>
            <a:endParaRPr lang="en-US" sz="1800" b="0" u="none" strike="noStrike">
              <a:solidFill>
                <a:srgbClr val="FFFFFF"/>
              </a:solidFill>
              <a:effectLst/>
              <a:uFillTx/>
              <a:latin typeface="Arial"/>
            </a:endParaRPr>
          </a:p>
        </p:txBody>
      </p:sp>
      <p:sp>
        <p:nvSpPr>
          <p:cNvPr id="63" name="Text 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64" name="Text 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03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Image 0" descr="Neon wave background"/>
          <p:cNvPicPr/>
          <p:nvPr/>
        </p:nvPicPr>
        <p:blipFill>
          <a:blip r:embed="rId1"/>
          <a:stretch/>
        </p:blipFill>
        <p:spPr>
          <a:xfrm>
            <a:off x="0" y="0"/>
            <a:ext cx="12191400" cy="6857280"/>
          </a:xfrm>
          <a:prstGeom prst="rect">
            <a:avLst/>
          </a:prstGeom>
          <a:noFill/>
          <a:ln w="0">
            <a:noFill/>
          </a:ln>
        </p:spPr>
      </p:pic>
      <p:sp>
        <p:nvSpPr>
          <p:cNvPr id="66" name="Text 0"/>
          <p:cNvSpPr/>
          <p:nvPr/>
        </p:nvSpPr>
        <p:spPr>
          <a:xfrm>
            <a:off x="4034160" y="1585440"/>
            <a:ext cx="41230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diff report.before report.after</a:t>
            </a:r>
            <a:endParaRPr lang="en-US" sz="1200" b="0" u="none" strike="noStrike">
              <a:solidFill>
                <a:srgbClr val="FFFFFF"/>
              </a:solidFill>
              <a:effectLst/>
              <a:uFillTx/>
              <a:latin typeface="Arial"/>
            </a:endParaRPr>
          </a:p>
        </p:txBody>
      </p:sp>
      <p:sp>
        <p:nvSpPr>
          <p:cNvPr id="67" name="PlaceHolder 1"/>
          <p:cNvSpPr>
            <a:spLocks noGrp="1"/>
          </p:cNvSpPr>
          <p:nvPr>
            <p:ph type="title"/>
          </p:nvPr>
        </p:nvSpPr>
        <p:spPr>
          <a:xfrm>
            <a:off x="2168640" y="2078280"/>
            <a:ext cx="785376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Same finding. Different report.</a:t>
            </a:r>
            <a:endParaRPr lang="en-US" sz="3600" b="0" u="none" strike="noStrike">
              <a:solidFill>
                <a:schemeClr val="lt1"/>
              </a:solidFill>
              <a:effectLst/>
              <a:uFillTx/>
              <a:latin typeface="JetBrains Mono"/>
            </a:endParaRPr>
          </a:p>
        </p:txBody>
      </p:sp>
      <p:sp>
        <p:nvSpPr>
          <p:cNvPr id="68" name="Shape 2"/>
          <p:cNvSpPr/>
          <p:nvPr/>
        </p:nvSpPr>
        <p:spPr>
          <a:xfrm>
            <a:off x="1200240" y="3034440"/>
            <a:ext cx="4431600" cy="1860120"/>
          </a:xfrm>
          <a:prstGeom prst="roundRect">
            <a:avLst>
              <a:gd name="adj" fmla="val 9214"/>
            </a:avLst>
          </a:prstGeom>
          <a:solidFill>
            <a:srgbClr val="05070F"/>
          </a:solidFill>
          <a:ln w="12700">
            <a:solidFill>
              <a:srgbClr val="FF5A5F"/>
            </a:solidFill>
            <a:round/>
          </a:ln>
          <a:effectLst>
            <a:outerShdw algn="bl" blurRad="279360" dir="0" dist="0" kx="0" ky="0" rotWithShape="0" sx="100000" sy="100000">
              <a:srgbClr val="FF5A5F">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9" name="Text 3"/>
          <p:cNvSpPr/>
          <p:nvPr/>
        </p:nvSpPr>
        <p:spPr>
          <a:xfrm>
            <a:off x="1454760" y="3289320"/>
            <a:ext cx="4039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99" strike="noStrike">
                <a:solidFill>
                  <a:srgbClr val="FF5A5F"/>
                </a:solidFill>
                <a:effectLst/>
                <a:uFillTx/>
                <a:latin typeface="JetBrains Mono"/>
                <a:ea typeface="JetBrains Mono"/>
              </a:rPr>
              <a:t>BEFORE</a:t>
            </a:r>
            <a:endParaRPr lang="en-US" sz="1200" b="0" u="none" strike="noStrike">
              <a:solidFill>
                <a:srgbClr val="FFFFFF"/>
              </a:solidFill>
              <a:effectLst/>
              <a:uFillTx/>
              <a:latin typeface="Arial"/>
            </a:endParaRPr>
          </a:p>
        </p:txBody>
      </p:sp>
      <p:sp>
        <p:nvSpPr>
          <p:cNvPr id="70" name="Text 4"/>
          <p:cNvSpPr/>
          <p:nvPr/>
        </p:nvSpPr>
        <p:spPr>
          <a:xfrm>
            <a:off x="1454760" y="3629520"/>
            <a:ext cx="4039920" cy="69516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200" b="1" u="none" strike="noStrike">
                <a:solidFill>
                  <a:srgbClr val="E8F7FF"/>
                </a:solidFill>
                <a:effectLst/>
                <a:uFillTx/>
                <a:latin typeface="Space Grotesk"/>
                <a:ea typeface="Space Grotesk"/>
              </a:rPr>
              <a:t>Potential hardcoded cryptographic key</a:t>
            </a:r>
            <a:endParaRPr lang="en-US" sz="2200" b="0" u="none" strike="noStrike">
              <a:solidFill>
                <a:srgbClr val="FFFFFF"/>
              </a:solidFill>
              <a:effectLst/>
              <a:uFillTx/>
              <a:latin typeface="Arial"/>
            </a:endParaRPr>
          </a:p>
        </p:txBody>
      </p:sp>
      <p:sp>
        <p:nvSpPr>
          <p:cNvPr id="71" name="Text 5"/>
          <p:cNvSpPr/>
          <p:nvPr/>
        </p:nvSpPr>
        <p:spPr>
          <a:xfrm>
            <a:off x="1454760" y="4427280"/>
            <a:ext cx="4039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8FA3C7"/>
                </a:solidFill>
                <a:effectLst/>
                <a:uFillTx/>
                <a:latin typeface="JetBrains Mono"/>
                <a:ea typeface="JetBrains Mono"/>
              </a:rPr>
              <a:t>evidence: none</a:t>
            </a:r>
            <a:endParaRPr lang="en-US" sz="1200" b="0" u="none" strike="noStrike">
              <a:solidFill>
                <a:srgbClr val="FFFFFF"/>
              </a:solidFill>
              <a:effectLst/>
              <a:uFillTx/>
              <a:latin typeface="Arial"/>
            </a:endParaRPr>
          </a:p>
        </p:txBody>
      </p:sp>
      <p:pic>
        <p:nvPicPr>
          <p:cNvPr id="72" name="Image 1" descr="arrow-right"/>
          <p:cNvPicPr/>
          <p:nvPr/>
        </p:nvPicPr>
        <p:blipFill>
          <a:blip r:embed="rId2"/>
          <a:stretch/>
        </p:blipFill>
        <p:spPr>
          <a:xfrm>
            <a:off x="5816520" y="3787200"/>
            <a:ext cx="558000" cy="354960"/>
          </a:xfrm>
          <a:prstGeom prst="rect">
            <a:avLst/>
          </a:prstGeom>
          <a:noFill/>
          <a:ln w="0">
            <a:noFill/>
          </a:ln>
        </p:spPr>
      </p:pic>
      <p:sp>
        <p:nvSpPr>
          <p:cNvPr id="73" name="Shape 6"/>
          <p:cNvSpPr/>
          <p:nvPr/>
        </p:nvSpPr>
        <p:spPr>
          <a:xfrm>
            <a:off x="6559560" y="2867040"/>
            <a:ext cx="4431600" cy="2195280"/>
          </a:xfrm>
          <a:prstGeom prst="roundRect">
            <a:avLst>
              <a:gd name="adj" fmla="val 7807"/>
            </a:avLst>
          </a:prstGeom>
          <a:solidFill>
            <a:srgbClr val="05070F"/>
          </a:solidFill>
          <a:ln w="12700">
            <a:solidFill>
              <a:srgbClr val="39FF9C"/>
            </a:solidFill>
            <a:round/>
          </a:ln>
          <a:effectLst>
            <a:outerShdw algn="bl" blurRad="279360" dir="0" dist="0" kx="0" ky="0" rotWithShape="0" sx="100000" sy="100000">
              <a:srgbClr val="39FF9C">
                <a:alpha val="4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74" name="Text 7"/>
          <p:cNvSpPr/>
          <p:nvPr/>
        </p:nvSpPr>
        <p:spPr>
          <a:xfrm>
            <a:off x="6814440" y="3121560"/>
            <a:ext cx="4039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99" strike="noStrike">
                <a:solidFill>
                  <a:srgbClr val="39FF9C"/>
                </a:solidFill>
                <a:effectLst/>
                <a:uFillTx/>
                <a:latin typeface="JetBrains Mono"/>
                <a:ea typeface="JetBrains Mono"/>
              </a:rPr>
              <a:t>AFTER · PROVEN</a:t>
            </a:r>
            <a:endParaRPr lang="en-US" sz="1200" b="0" u="none" strike="noStrike">
              <a:solidFill>
                <a:srgbClr val="FFFFFF"/>
              </a:solidFill>
              <a:effectLst/>
              <a:uFillTx/>
              <a:latin typeface="Arial"/>
            </a:endParaRPr>
          </a:p>
        </p:txBody>
      </p:sp>
      <p:sp>
        <p:nvSpPr>
          <p:cNvPr id="75" name="Text 8"/>
          <p:cNvSpPr/>
          <p:nvPr/>
        </p:nvSpPr>
        <p:spPr>
          <a:xfrm>
            <a:off x="6814440" y="3462120"/>
            <a:ext cx="4039920" cy="103068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200" b="1" u="none" strike="noStrike">
                <a:solidFill>
                  <a:srgbClr val="E8F7FF"/>
                </a:solidFill>
                <a:effectLst/>
                <a:uFillTx/>
                <a:latin typeface="Space Grotesk"/>
                <a:ea typeface="Space Grotesk"/>
              </a:rPr>
              <a:t>16-byte AES key seen at runtime equals a constant in the app</a:t>
            </a:r>
            <a:endParaRPr lang="en-US" sz="2200" b="0" u="none" strike="noStrike">
              <a:solidFill>
                <a:srgbClr val="FFFFFF"/>
              </a:solidFill>
              <a:effectLst/>
              <a:uFillTx/>
              <a:latin typeface="Arial"/>
            </a:endParaRPr>
          </a:p>
        </p:txBody>
      </p:sp>
      <p:sp>
        <p:nvSpPr>
          <p:cNvPr id="76" name="Text 9"/>
          <p:cNvSpPr/>
          <p:nvPr/>
        </p:nvSpPr>
        <p:spPr>
          <a:xfrm>
            <a:off x="6814440" y="4595040"/>
            <a:ext cx="4039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hook.js · runtime.log · screen.mp4</a:t>
            </a:r>
            <a:endParaRPr lang="en-US" sz="1200" b="0" u="none" strike="noStrike">
              <a:solidFill>
                <a:srgbClr val="FFFFFF"/>
              </a:solidFill>
              <a:effectLst/>
              <a:uFillTx/>
              <a:latin typeface="Arial"/>
            </a:endParaRPr>
          </a:p>
        </p:txBody>
      </p:sp>
      <p:sp>
        <p:nvSpPr>
          <p:cNvPr id="77" name="Text 10"/>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78" name="Text 11"/>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04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Image 0" descr="Neon wave background"/>
          <p:cNvPicPr/>
          <p:nvPr/>
        </p:nvPicPr>
        <p:blipFill>
          <a:blip r:embed="rId1"/>
          <a:stretch/>
        </p:blipFill>
        <p:spPr>
          <a:xfrm>
            <a:off x="0" y="0"/>
            <a:ext cx="12191400" cy="6857280"/>
          </a:xfrm>
          <a:prstGeom prst="rect">
            <a:avLst/>
          </a:prstGeom>
          <a:noFill/>
          <a:ln w="0">
            <a:noFill/>
          </a:ln>
        </p:spPr>
      </p:pic>
      <p:sp>
        <p:nvSpPr>
          <p:cNvPr id="80" name="Text 0"/>
          <p:cNvSpPr/>
          <p:nvPr/>
        </p:nvSpPr>
        <p:spPr>
          <a:xfrm>
            <a:off x="4346280" y="1887120"/>
            <a:ext cx="34984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time ./write-frida-hook.sh</a:t>
            </a:r>
            <a:endParaRPr lang="en-US" sz="1200" b="0" u="none" strike="noStrike">
              <a:solidFill>
                <a:srgbClr val="FFFFFF"/>
              </a:solidFill>
              <a:effectLst/>
              <a:uFillTx/>
              <a:latin typeface="Arial"/>
            </a:endParaRPr>
          </a:p>
        </p:txBody>
      </p:sp>
      <p:sp>
        <p:nvSpPr>
          <p:cNvPr id="81" name="PlaceHolder 1"/>
          <p:cNvSpPr>
            <a:spLocks noGrp="1"/>
          </p:cNvSpPr>
          <p:nvPr>
            <p:ph type="title"/>
          </p:nvPr>
        </p:nvSpPr>
        <p:spPr>
          <a:xfrm>
            <a:off x="1769400" y="2379960"/>
            <a:ext cx="865224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One finding. One hook. How long?</a:t>
            </a:r>
            <a:endParaRPr lang="en-US" sz="3600" b="0" u="none" strike="noStrike">
              <a:solidFill>
                <a:schemeClr val="lt1"/>
              </a:solidFill>
              <a:effectLst/>
              <a:uFillTx/>
              <a:latin typeface="JetBrains Mono"/>
            </a:endParaRPr>
          </a:p>
        </p:txBody>
      </p:sp>
      <p:sp>
        <p:nvSpPr>
          <p:cNvPr id="82" name="Text 2"/>
          <p:cNvSpPr/>
          <p:nvPr/>
        </p:nvSpPr>
        <p:spPr>
          <a:xfrm>
            <a:off x="1574640" y="3258720"/>
            <a:ext cx="170100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FA3C7"/>
                </a:solidFill>
                <a:effectLst/>
                <a:uFillTx/>
                <a:latin typeface="JetBrains Mono"/>
                <a:ea typeface="JetBrains Mono"/>
              </a:rPr>
              <a:t>by hand</a:t>
            </a:r>
            <a:endParaRPr lang="en-US" sz="1200" b="0" u="none" strike="noStrike">
              <a:solidFill>
                <a:srgbClr val="FFFFFF"/>
              </a:solidFill>
              <a:effectLst/>
              <a:uFillTx/>
              <a:latin typeface="Arial"/>
            </a:endParaRPr>
          </a:p>
        </p:txBody>
      </p:sp>
      <p:sp>
        <p:nvSpPr>
          <p:cNvPr id="83" name="Shape 3"/>
          <p:cNvSpPr/>
          <p:nvPr/>
        </p:nvSpPr>
        <p:spPr>
          <a:xfrm>
            <a:off x="3429000" y="3162240"/>
            <a:ext cx="5714280" cy="405720"/>
          </a:xfrm>
          <a:prstGeom prst="roundRect">
            <a:avLst>
              <a:gd name="adj" fmla="val 50000"/>
            </a:avLst>
          </a:prstGeom>
          <a:gradFill rotWithShape="0">
            <a:gsLst>
              <a:gs pos="0">
                <a:srgbClr val="FF5A5F"/>
              </a:gs>
              <a:gs pos="100000">
                <a:srgbClr val="FF2BD6"/>
              </a:gs>
            </a:gsLst>
            <a:lin ang="0"/>
          </a:gradFill>
          <a:ln w="0">
            <a:noFill/>
          </a:ln>
          <a:effectLst>
            <a:outerShdw algn="bl" blurRad="254160" dir="0" dist="0" kx="0" ky="0" rotWithShape="0" sx="100000" sy="100000">
              <a:srgbClr val="FF2BD6">
                <a:alpha val="6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84" name="Text 4"/>
          <p:cNvSpPr/>
          <p:nvPr/>
        </p:nvSpPr>
        <p:spPr>
          <a:xfrm>
            <a:off x="9296280" y="3169800"/>
            <a:ext cx="132012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FF5A5F"/>
                </a:solidFill>
                <a:effectLst/>
                <a:uFillTx/>
                <a:latin typeface="Space Grotesk"/>
                <a:ea typeface="Space Grotesk"/>
              </a:rPr>
              <a:t>40 min</a:t>
            </a:r>
            <a:endParaRPr lang="en-US" sz="2200" b="0" u="none" strike="noStrike">
              <a:solidFill>
                <a:srgbClr val="FFFFFF"/>
              </a:solidFill>
              <a:effectLst/>
              <a:uFillTx/>
              <a:latin typeface="Arial"/>
            </a:endParaRPr>
          </a:p>
        </p:txBody>
      </p:sp>
      <p:sp>
        <p:nvSpPr>
          <p:cNvPr id="85" name="Text 5"/>
          <p:cNvSpPr/>
          <p:nvPr/>
        </p:nvSpPr>
        <p:spPr>
          <a:xfrm>
            <a:off x="1574640" y="3843000"/>
            <a:ext cx="170100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FA3C7"/>
                </a:solidFill>
                <a:effectLst/>
                <a:uFillTx/>
                <a:latin typeface="JetBrains Mono"/>
                <a:ea typeface="JetBrains Mono"/>
              </a:rPr>
              <a:t>HookSmith</a:t>
            </a:r>
            <a:endParaRPr lang="en-US" sz="1200" b="0" u="none" strike="noStrike">
              <a:solidFill>
                <a:srgbClr val="FFFFFF"/>
              </a:solidFill>
              <a:effectLst/>
              <a:uFillTx/>
              <a:latin typeface="Arial"/>
            </a:endParaRPr>
          </a:p>
        </p:txBody>
      </p:sp>
      <p:sp>
        <p:nvSpPr>
          <p:cNvPr id="86" name="Shape 6"/>
          <p:cNvSpPr/>
          <p:nvPr/>
        </p:nvSpPr>
        <p:spPr>
          <a:xfrm>
            <a:off x="3429000" y="3746520"/>
            <a:ext cx="138960" cy="405720"/>
          </a:xfrm>
          <a:prstGeom prst="roundRect">
            <a:avLst>
              <a:gd name="adj" fmla="val 50000"/>
            </a:avLst>
          </a:prstGeom>
          <a:solidFill>
            <a:srgbClr val="39FF9C"/>
          </a:solidFill>
          <a:ln w="0">
            <a:noFill/>
          </a:ln>
          <a:effectLst>
            <a:outerShdw algn="bl" blurRad="190440" dir="0" dist="0" kx="0" ky="0" rotWithShape="0" sx="100000" sy="100000">
              <a:srgbClr val="39FF9C">
                <a:alpha val="90000"/>
              </a:srgbClr>
            </a:outerShdw>
          </a:effectLst>
        </p:spPr>
        <p:style>
          <a:lnRef idx="0"/>
          <a:fillRef idx="0"/>
          <a:effectRef idx="0"/>
          <a:fontRef idx="minor"/>
        </p:style>
        <p:txBody>
          <a:bodyPr lIns="69480" tIns="45000" rIns="69480" bIns="45000" anchor="t">
            <a:noAutofit/>
          </a:bodyPr>
          <a:p>
            <a:endParaRPr lang="en-US" sz="1800" b="0" u="none" strike="noStrike">
              <a:solidFill>
                <a:schemeClr val="lt1"/>
              </a:solidFill>
              <a:effectLst/>
              <a:uFillTx/>
              <a:latin typeface="JetBrains Mono"/>
            </a:endParaRPr>
          </a:p>
        </p:txBody>
      </p:sp>
      <p:sp>
        <p:nvSpPr>
          <p:cNvPr id="87" name="Text 7"/>
          <p:cNvSpPr/>
          <p:nvPr/>
        </p:nvSpPr>
        <p:spPr>
          <a:xfrm>
            <a:off x="3720960" y="3754080"/>
            <a:ext cx="102600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39FF9C"/>
                </a:solidFill>
                <a:effectLst/>
                <a:uFillTx/>
                <a:latin typeface="Space Grotesk"/>
                <a:ea typeface="Space Grotesk"/>
              </a:rPr>
              <a:t>&lt;1 min</a:t>
            </a:r>
            <a:endParaRPr lang="en-US" sz="2200" b="0" u="none" strike="noStrike">
              <a:solidFill>
                <a:srgbClr val="FFFFFF"/>
              </a:solidFill>
              <a:effectLst/>
              <a:uFillTx/>
              <a:latin typeface="Arial"/>
            </a:endParaRPr>
          </a:p>
        </p:txBody>
      </p:sp>
      <p:sp>
        <p:nvSpPr>
          <p:cNvPr id="88" name="Text 8"/>
          <p:cNvSpPr/>
          <p:nvPr/>
        </p:nvSpPr>
        <p:spPr>
          <a:xfrm>
            <a:off x="1567800" y="4432320"/>
            <a:ext cx="9055800" cy="360000"/>
          </a:xfrm>
          <a:prstGeom prst="rect">
            <a:avLst/>
          </a:prstGeom>
          <a:noFill/>
          <a:ln w="0">
            <a:noFill/>
          </a:ln>
        </p:spPr>
        <p:style>
          <a:lnRef idx="0"/>
          <a:fillRef idx="0"/>
          <a:effectRef idx="0"/>
          <a:fontRef idx="minor"/>
        </p:style>
        <p:txBody>
          <a:bodyPr lIns="0" tIns="0" rIns="0" bIns="0" anchor="t">
            <a:normAutofit/>
          </a:bodyPr>
          <a:p>
            <a:pPr algn="ctr" defTabSz="914400">
              <a:lnSpc>
                <a:spcPts val="2639"/>
              </a:lnSpc>
              <a:tabLst>
                <a:tab pos="0" algn="l"/>
              </a:tabLst>
            </a:pPr>
            <a:r>
              <a:rPr lang="en-US" sz="2200" b="0" u="none" strike="noStrike">
                <a:solidFill>
                  <a:srgbClr val="E8F7FF"/>
                </a:solidFill>
                <a:effectLst/>
                <a:uFillTx/>
                <a:latin typeface="Space Grotesk"/>
                <a:ea typeface="Space Grotesk"/>
              </a:rPr>
              <a:t>So under deadline pressure, </a:t>
            </a:r>
            <a:r>
              <a:rPr lang="en-US" sz="2200" b="0" u="none" strike="noStrike">
                <a:solidFill>
                  <a:srgbClr val="FF2BD6"/>
                </a:solidFill>
                <a:effectLst/>
                <a:uFillTx/>
                <a:latin typeface="Space Grotesk"/>
                <a:ea typeface="Space Grotesk"/>
              </a:rPr>
              <a:t>the step just gets dropped</a:t>
            </a:r>
            <a:r>
              <a:rPr lang="en-US" sz="2200" b="0" u="none" strike="noStrike">
                <a:solidFill>
                  <a:srgbClr val="E8F7FF"/>
                </a:solidFill>
                <a:effectLst/>
                <a:uFillTx/>
                <a:latin typeface="Space Grotesk"/>
                <a:ea typeface="Space Grotesk"/>
              </a:rPr>
              <a:t>.</a:t>
            </a:r>
            <a:endParaRPr lang="en-US" sz="2200" b="0" u="none" strike="noStrike">
              <a:solidFill>
                <a:srgbClr val="FFFFFF"/>
              </a:solidFill>
              <a:effectLst/>
              <a:uFillTx/>
              <a:latin typeface="Arial"/>
            </a:endParaRPr>
          </a:p>
        </p:txBody>
      </p:sp>
      <p:sp>
        <p:nvSpPr>
          <p:cNvPr id="89" name="Text 9"/>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90" name="Text 10"/>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05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Image 0" descr="Neon wave background"/>
          <p:cNvPicPr/>
          <p:nvPr/>
        </p:nvPicPr>
        <p:blipFill>
          <a:blip r:embed="rId1"/>
          <a:stretch/>
        </p:blipFill>
        <p:spPr>
          <a:xfrm>
            <a:off x="0" y="0"/>
            <a:ext cx="12191400" cy="6857280"/>
          </a:xfrm>
          <a:prstGeom prst="rect">
            <a:avLst/>
          </a:prstGeom>
          <a:noFill/>
          <a:ln w="0">
            <a:noFill/>
          </a:ln>
        </p:spPr>
      </p:pic>
      <p:sp>
        <p:nvSpPr>
          <p:cNvPr id="92" name="Text 0"/>
          <p:cNvSpPr/>
          <p:nvPr/>
        </p:nvSpPr>
        <p:spPr>
          <a:xfrm>
            <a:off x="4596480" y="1089720"/>
            <a:ext cx="299844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plot hours_vs_findings</a:t>
            </a:r>
            <a:endParaRPr lang="en-US" sz="1200" b="0" u="none" strike="noStrike">
              <a:solidFill>
                <a:srgbClr val="FFFFFF"/>
              </a:solidFill>
              <a:effectLst/>
              <a:uFillTx/>
              <a:latin typeface="Arial"/>
            </a:endParaRPr>
          </a:p>
        </p:txBody>
      </p:sp>
      <p:sp>
        <p:nvSpPr>
          <p:cNvPr id="93" name="PlaceHolder 1"/>
          <p:cNvSpPr>
            <a:spLocks noGrp="1"/>
          </p:cNvSpPr>
          <p:nvPr>
            <p:ph type="title"/>
          </p:nvPr>
        </p:nvSpPr>
        <p:spPr>
          <a:xfrm>
            <a:off x="2316600" y="1531800"/>
            <a:ext cx="755784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Now multiply by 200 findings</a:t>
            </a:r>
            <a:endParaRPr lang="en-US" sz="3600" b="0" u="none" strike="noStrike">
              <a:solidFill>
                <a:schemeClr val="lt1"/>
              </a:solidFill>
              <a:effectLst/>
              <a:uFillTx/>
              <a:latin typeface="JetBrains Mono"/>
            </a:endParaRPr>
          </a:p>
        </p:txBody>
      </p:sp>
      <p:pic>
        <p:nvPicPr>
          <p:cNvPr id="94" name="Image 1" descr="Line chart. Hours of hook-writing against number of findings. By hand climbs to 133 hours at 200 findings. HookSmith stays near 3 hours."/>
          <p:cNvPicPr/>
          <p:nvPr/>
        </p:nvPicPr>
        <p:blipFill>
          <a:blip r:embed="rId2"/>
          <a:srcRect l="0" t="-14" r="0" b="-14"/>
          <a:stretch/>
        </p:blipFill>
        <p:spPr>
          <a:xfrm>
            <a:off x="2095560" y="2390040"/>
            <a:ext cx="6984360" cy="2793240"/>
          </a:xfrm>
          <a:prstGeom prst="rect">
            <a:avLst/>
          </a:prstGeom>
          <a:noFill/>
          <a:ln w="0">
            <a:noFill/>
          </a:ln>
        </p:spPr>
      </p:pic>
      <p:sp>
        <p:nvSpPr>
          <p:cNvPr id="95" name="Text 2"/>
          <p:cNvSpPr/>
          <p:nvPr/>
        </p:nvSpPr>
        <p:spPr>
          <a:xfrm>
            <a:off x="1282680" y="2282040"/>
            <a:ext cx="6850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FA3C7"/>
                </a:solidFill>
                <a:effectLst/>
                <a:uFillTx/>
                <a:latin typeface="JetBrains Mono"/>
                <a:ea typeface="JetBrains Mono"/>
              </a:rPr>
              <a:t>140</a:t>
            </a:r>
            <a:endParaRPr lang="en-US" sz="1200" b="0" u="none" strike="noStrike">
              <a:solidFill>
                <a:srgbClr val="FFFFFF"/>
              </a:solidFill>
              <a:effectLst/>
              <a:uFillTx/>
              <a:latin typeface="Arial"/>
            </a:endParaRPr>
          </a:p>
        </p:txBody>
      </p:sp>
      <p:sp>
        <p:nvSpPr>
          <p:cNvPr id="96" name="Text 3"/>
          <p:cNvSpPr/>
          <p:nvPr/>
        </p:nvSpPr>
        <p:spPr>
          <a:xfrm>
            <a:off x="1282680" y="2980800"/>
            <a:ext cx="6850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FA3C7"/>
                </a:solidFill>
                <a:effectLst/>
                <a:uFillTx/>
                <a:latin typeface="JetBrains Mono"/>
                <a:ea typeface="JetBrains Mono"/>
              </a:rPr>
              <a:t>105</a:t>
            </a:r>
            <a:endParaRPr lang="en-US" sz="1200" b="0" u="none" strike="noStrike">
              <a:solidFill>
                <a:srgbClr val="FFFFFF"/>
              </a:solidFill>
              <a:effectLst/>
              <a:uFillTx/>
              <a:latin typeface="Arial"/>
            </a:endParaRPr>
          </a:p>
        </p:txBody>
      </p:sp>
      <p:sp>
        <p:nvSpPr>
          <p:cNvPr id="97" name="Text 4"/>
          <p:cNvSpPr/>
          <p:nvPr/>
        </p:nvSpPr>
        <p:spPr>
          <a:xfrm>
            <a:off x="1282680" y="3679200"/>
            <a:ext cx="6850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FA3C7"/>
                </a:solidFill>
                <a:effectLst/>
                <a:uFillTx/>
                <a:latin typeface="JetBrains Mono"/>
                <a:ea typeface="JetBrains Mono"/>
              </a:rPr>
              <a:t>70</a:t>
            </a:r>
            <a:endParaRPr lang="en-US" sz="1200" b="0" u="none" strike="noStrike">
              <a:solidFill>
                <a:srgbClr val="FFFFFF"/>
              </a:solidFill>
              <a:effectLst/>
              <a:uFillTx/>
              <a:latin typeface="Arial"/>
            </a:endParaRPr>
          </a:p>
        </p:txBody>
      </p:sp>
      <p:sp>
        <p:nvSpPr>
          <p:cNvPr id="98" name="Text 5"/>
          <p:cNvSpPr/>
          <p:nvPr/>
        </p:nvSpPr>
        <p:spPr>
          <a:xfrm>
            <a:off x="1282680" y="4377600"/>
            <a:ext cx="6850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FA3C7"/>
                </a:solidFill>
                <a:effectLst/>
                <a:uFillTx/>
                <a:latin typeface="JetBrains Mono"/>
                <a:ea typeface="JetBrains Mono"/>
              </a:rPr>
              <a:t>35</a:t>
            </a:r>
            <a:endParaRPr lang="en-US" sz="1200" b="0" u="none" strike="noStrike">
              <a:solidFill>
                <a:srgbClr val="FFFFFF"/>
              </a:solidFill>
              <a:effectLst/>
              <a:uFillTx/>
              <a:latin typeface="Arial"/>
            </a:endParaRPr>
          </a:p>
        </p:txBody>
      </p:sp>
      <p:sp>
        <p:nvSpPr>
          <p:cNvPr id="99" name="Text 6"/>
          <p:cNvSpPr/>
          <p:nvPr/>
        </p:nvSpPr>
        <p:spPr>
          <a:xfrm>
            <a:off x="1282680" y="5076360"/>
            <a:ext cx="6850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FA3C7"/>
                </a:solidFill>
                <a:effectLst/>
                <a:uFillTx/>
                <a:latin typeface="JetBrains Mono"/>
                <a:ea typeface="JetBrains Mono"/>
              </a:rPr>
              <a:t>0</a:t>
            </a:r>
            <a:endParaRPr lang="en-US" sz="1200" b="0" u="none" strike="noStrike">
              <a:solidFill>
                <a:srgbClr val="FFFFFF"/>
              </a:solidFill>
              <a:effectLst/>
              <a:uFillTx/>
              <a:latin typeface="Arial"/>
            </a:endParaRPr>
          </a:p>
        </p:txBody>
      </p:sp>
      <p:sp>
        <p:nvSpPr>
          <p:cNvPr id="100" name="Text 7"/>
          <p:cNvSpPr/>
          <p:nvPr/>
        </p:nvSpPr>
        <p:spPr>
          <a:xfrm>
            <a:off x="1434960" y="5272920"/>
            <a:ext cx="13201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JetBrains Mono"/>
                <a:ea typeface="JetBrains Mono"/>
              </a:rPr>
              <a:t>0</a:t>
            </a:r>
            <a:endParaRPr lang="en-US" sz="1200" b="0" u="none" strike="noStrike">
              <a:solidFill>
                <a:srgbClr val="FFFFFF"/>
              </a:solidFill>
              <a:effectLst/>
              <a:uFillTx/>
              <a:latin typeface="Arial"/>
            </a:endParaRPr>
          </a:p>
        </p:txBody>
      </p:sp>
      <p:sp>
        <p:nvSpPr>
          <p:cNvPr id="101" name="Text 8"/>
          <p:cNvSpPr/>
          <p:nvPr/>
        </p:nvSpPr>
        <p:spPr>
          <a:xfrm>
            <a:off x="4927680" y="5272920"/>
            <a:ext cx="13201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JetBrains Mono"/>
                <a:ea typeface="JetBrains Mono"/>
              </a:rPr>
              <a:t>100</a:t>
            </a:r>
            <a:endParaRPr lang="en-US" sz="1200" b="0" u="none" strike="noStrike">
              <a:solidFill>
                <a:srgbClr val="FFFFFF"/>
              </a:solidFill>
              <a:effectLst/>
              <a:uFillTx/>
              <a:latin typeface="Arial"/>
            </a:endParaRPr>
          </a:p>
        </p:txBody>
      </p:sp>
      <p:sp>
        <p:nvSpPr>
          <p:cNvPr id="102" name="Text 9"/>
          <p:cNvSpPr/>
          <p:nvPr/>
        </p:nvSpPr>
        <p:spPr>
          <a:xfrm>
            <a:off x="8420040" y="5272920"/>
            <a:ext cx="15739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JetBrains Mono"/>
                <a:ea typeface="JetBrains Mono"/>
              </a:rPr>
              <a:t>200 findings</a:t>
            </a:r>
            <a:endParaRPr lang="en-US" sz="1200" b="0" u="none" strike="noStrike">
              <a:solidFill>
                <a:srgbClr val="FFFFFF"/>
              </a:solidFill>
              <a:effectLst/>
              <a:uFillTx/>
              <a:latin typeface="Arial"/>
            </a:endParaRPr>
          </a:p>
        </p:txBody>
      </p:sp>
      <p:sp>
        <p:nvSpPr>
          <p:cNvPr id="103" name="Text 10"/>
          <p:cNvSpPr/>
          <p:nvPr/>
        </p:nvSpPr>
        <p:spPr>
          <a:xfrm>
            <a:off x="9271080" y="2262960"/>
            <a:ext cx="163764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FF5A5F"/>
                </a:solidFill>
                <a:effectLst/>
                <a:uFillTx/>
                <a:latin typeface="Space Grotesk"/>
                <a:ea typeface="Space Grotesk"/>
              </a:rPr>
              <a:t>133 h</a:t>
            </a:r>
            <a:endParaRPr lang="en-US" sz="2200" b="0" u="none" strike="noStrike">
              <a:solidFill>
                <a:srgbClr val="FFFFFF"/>
              </a:solidFill>
              <a:effectLst/>
              <a:uFillTx/>
              <a:latin typeface="Arial"/>
            </a:endParaRPr>
          </a:p>
        </p:txBody>
      </p:sp>
      <p:sp>
        <p:nvSpPr>
          <p:cNvPr id="104" name="Text 11"/>
          <p:cNvSpPr/>
          <p:nvPr/>
        </p:nvSpPr>
        <p:spPr>
          <a:xfrm>
            <a:off x="9271080" y="2666880"/>
            <a:ext cx="1637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5A5F"/>
                </a:solidFill>
                <a:effectLst/>
                <a:uFillTx/>
                <a:latin typeface="JetBrains Mono"/>
                <a:ea typeface="JetBrains Mono"/>
              </a:rPr>
              <a:t>by hand</a:t>
            </a:r>
            <a:endParaRPr lang="en-US" sz="1200" b="0" u="none" strike="noStrike">
              <a:solidFill>
                <a:srgbClr val="FFFFFF"/>
              </a:solidFill>
              <a:effectLst/>
              <a:uFillTx/>
              <a:latin typeface="Arial"/>
            </a:endParaRPr>
          </a:p>
        </p:txBody>
      </p:sp>
      <p:sp>
        <p:nvSpPr>
          <p:cNvPr id="105" name="Text 12"/>
          <p:cNvSpPr/>
          <p:nvPr/>
        </p:nvSpPr>
        <p:spPr>
          <a:xfrm>
            <a:off x="9271080" y="4676040"/>
            <a:ext cx="163764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39FF9C"/>
                </a:solidFill>
                <a:effectLst/>
                <a:uFillTx/>
                <a:latin typeface="Space Grotesk"/>
                <a:ea typeface="Space Grotesk"/>
              </a:rPr>
              <a:t>3.3 h</a:t>
            </a:r>
            <a:endParaRPr lang="en-US" sz="2200" b="0" u="none" strike="noStrike">
              <a:solidFill>
                <a:srgbClr val="FFFFFF"/>
              </a:solidFill>
              <a:effectLst/>
              <a:uFillTx/>
              <a:latin typeface="Arial"/>
            </a:endParaRPr>
          </a:p>
        </p:txBody>
      </p:sp>
      <p:sp>
        <p:nvSpPr>
          <p:cNvPr id="106" name="Text 13"/>
          <p:cNvSpPr/>
          <p:nvPr/>
        </p:nvSpPr>
        <p:spPr>
          <a:xfrm>
            <a:off x="9271080" y="5079960"/>
            <a:ext cx="1637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HookSmith</a:t>
            </a:r>
            <a:endParaRPr lang="en-US" sz="1200" b="0" u="none" strike="noStrike">
              <a:solidFill>
                <a:srgbClr val="FFFFFF"/>
              </a:solidFill>
              <a:effectLst/>
              <a:uFillTx/>
              <a:latin typeface="Arial"/>
            </a:endParaRPr>
          </a:p>
        </p:txBody>
      </p:sp>
      <p:sp>
        <p:nvSpPr>
          <p:cNvPr id="107" name="Text 14"/>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108" name="Text 15"/>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06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Image 0" descr="Neon wave background"/>
          <p:cNvPicPr/>
          <p:nvPr/>
        </p:nvPicPr>
        <p:blipFill>
          <a:blip r:embed="rId1"/>
          <a:stretch/>
        </p:blipFill>
        <p:spPr>
          <a:xfrm>
            <a:off x="0" y="0"/>
            <a:ext cx="12191400" cy="6857280"/>
          </a:xfrm>
          <a:prstGeom prst="rect">
            <a:avLst/>
          </a:prstGeom>
          <a:noFill/>
          <a:ln w="0">
            <a:noFill/>
          </a:ln>
        </p:spPr>
      </p:pic>
      <p:sp>
        <p:nvSpPr>
          <p:cNvPr id="110" name="Text 0"/>
          <p:cNvSpPr/>
          <p:nvPr/>
        </p:nvSpPr>
        <p:spPr>
          <a:xfrm>
            <a:off x="4284000" y="2024280"/>
            <a:ext cx="36234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git log --oneline report.md</a:t>
            </a:r>
            <a:endParaRPr lang="en-US" sz="1200" b="0" u="none" strike="noStrike">
              <a:solidFill>
                <a:srgbClr val="FFFFFF"/>
              </a:solidFill>
              <a:effectLst/>
              <a:uFillTx/>
              <a:latin typeface="Arial"/>
            </a:endParaRPr>
          </a:p>
        </p:txBody>
      </p:sp>
      <p:sp>
        <p:nvSpPr>
          <p:cNvPr id="111" name="PlaceHolder 1"/>
          <p:cNvSpPr>
            <a:spLocks noGrp="1"/>
          </p:cNvSpPr>
          <p:nvPr>
            <p:ph type="title"/>
          </p:nvPr>
        </p:nvSpPr>
        <p:spPr>
          <a:xfrm>
            <a:off x="2760840" y="2542680"/>
            <a:ext cx="666972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Cost rewrites the wording</a:t>
            </a:r>
            <a:endParaRPr lang="en-US" sz="3600" b="0" u="none" strike="noStrike">
              <a:solidFill>
                <a:schemeClr val="lt1"/>
              </a:solidFill>
              <a:effectLst/>
              <a:uFillTx/>
              <a:latin typeface="JetBrains Mono"/>
            </a:endParaRPr>
          </a:p>
        </p:txBody>
      </p:sp>
      <p:sp>
        <p:nvSpPr>
          <p:cNvPr id="112" name="Text 2"/>
          <p:cNvSpPr/>
          <p:nvPr/>
        </p:nvSpPr>
        <p:spPr>
          <a:xfrm>
            <a:off x="2531160" y="3350160"/>
            <a:ext cx="2512800" cy="664920"/>
          </a:xfrm>
          <a:prstGeom prst="rect">
            <a:avLst/>
          </a:prstGeom>
          <a:noFill/>
          <a:ln w="0">
            <a:noFill/>
          </a:ln>
        </p:spPr>
        <p:style>
          <a:lnRef idx="0"/>
          <a:fillRef idx="0"/>
          <a:effectRef idx="0"/>
          <a:fontRef idx="minor"/>
        </p:style>
        <p:txBody>
          <a:bodyPr lIns="0" tIns="0" rIns="0" bIns="0" anchor="t">
            <a:normAutofit/>
          </a:bodyPr>
          <a:p>
            <a:pPr algn="ctr" defTabSz="914400">
              <a:lnSpc>
                <a:spcPts val="5040"/>
              </a:lnSpc>
              <a:tabLst>
                <a:tab pos="0" algn="l"/>
              </a:tabLst>
            </a:pPr>
            <a:r>
              <a:rPr lang="en-US" sz="3600" b="1" u="none" strike="noStrike">
                <a:solidFill>
                  <a:srgbClr val="39FF9C"/>
                </a:solidFill>
                <a:effectLst/>
                <a:uFillTx/>
                <a:latin typeface="Space Grotesk"/>
                <a:ea typeface="Space Grotesk"/>
              </a:rPr>
              <a:t>Confirmed</a:t>
            </a:r>
            <a:endParaRPr lang="en-US" sz="3600" b="0" u="none" strike="noStrike">
              <a:solidFill>
                <a:srgbClr val="FFFFFF"/>
              </a:solidFill>
              <a:effectLst/>
              <a:uFillTx/>
              <a:latin typeface="Arial"/>
            </a:endParaRPr>
          </a:p>
        </p:txBody>
      </p:sp>
      <p:sp>
        <p:nvSpPr>
          <p:cNvPr id="113" name="Text 3"/>
          <p:cNvSpPr/>
          <p:nvPr/>
        </p:nvSpPr>
        <p:spPr>
          <a:xfrm>
            <a:off x="5133600" y="3350160"/>
            <a:ext cx="261360" cy="664920"/>
          </a:xfrm>
          <a:prstGeom prst="rect">
            <a:avLst/>
          </a:prstGeom>
          <a:noFill/>
          <a:ln w="0">
            <a:noFill/>
          </a:ln>
        </p:spPr>
        <p:style>
          <a:lnRef idx="0"/>
          <a:fillRef idx="0"/>
          <a:effectRef idx="0"/>
          <a:fontRef idx="minor"/>
        </p:style>
        <p:txBody>
          <a:bodyPr lIns="0" tIns="0" rIns="0" bIns="0" anchor="t">
            <a:normAutofit/>
          </a:bodyPr>
          <a:p>
            <a:pPr algn="ctr" defTabSz="914400">
              <a:lnSpc>
                <a:spcPts val="5040"/>
              </a:lnSpc>
              <a:tabLst>
                <a:tab pos="0" algn="l"/>
              </a:tabLst>
            </a:pPr>
            <a:r>
              <a:rPr lang="en-US" sz="3600" b="0" u="none" strike="noStrike">
                <a:solidFill>
                  <a:srgbClr val="6F82A8"/>
                </a:solidFill>
                <a:effectLst/>
                <a:uFillTx/>
                <a:latin typeface="Space Grotesk"/>
                <a:ea typeface="Space Grotesk"/>
              </a:rPr>
              <a:t>›</a:t>
            </a:r>
            <a:endParaRPr lang="en-US" sz="3600" b="0" u="none" strike="noStrike">
              <a:solidFill>
                <a:srgbClr val="FFFFFF"/>
              </a:solidFill>
              <a:effectLst/>
              <a:uFillTx/>
              <a:latin typeface="Arial"/>
            </a:endParaRPr>
          </a:p>
        </p:txBody>
      </p:sp>
      <p:sp>
        <p:nvSpPr>
          <p:cNvPr id="114" name="Text 4"/>
          <p:cNvSpPr/>
          <p:nvPr/>
        </p:nvSpPr>
        <p:spPr>
          <a:xfrm>
            <a:off x="5484600" y="3350160"/>
            <a:ext cx="1508400" cy="664920"/>
          </a:xfrm>
          <a:prstGeom prst="rect">
            <a:avLst/>
          </a:prstGeom>
          <a:noFill/>
          <a:ln w="0">
            <a:noFill/>
          </a:ln>
        </p:spPr>
        <p:style>
          <a:lnRef idx="0"/>
          <a:fillRef idx="0"/>
          <a:effectRef idx="0"/>
          <a:fontRef idx="minor"/>
        </p:style>
        <p:txBody>
          <a:bodyPr lIns="0" tIns="0" rIns="0" bIns="0" anchor="t">
            <a:normAutofit/>
          </a:bodyPr>
          <a:p>
            <a:pPr algn="ctr" defTabSz="914400">
              <a:lnSpc>
                <a:spcPts val="5040"/>
              </a:lnSpc>
              <a:tabLst>
                <a:tab pos="0" algn="l"/>
              </a:tabLst>
            </a:pPr>
            <a:r>
              <a:rPr lang="en-US" sz="3600" b="1" u="none" strike="noStrike">
                <a:solidFill>
                  <a:srgbClr val="FFE600">
                    <a:alpha val="85000"/>
                  </a:srgbClr>
                </a:solidFill>
                <a:effectLst/>
                <a:uFillTx/>
                <a:latin typeface="Space Grotesk"/>
                <a:ea typeface="Space Grotesk"/>
              </a:rPr>
              <a:t>Likely</a:t>
            </a:r>
            <a:endParaRPr lang="en-US" sz="3600" b="0" u="none" strike="noStrike">
              <a:solidFill>
                <a:srgbClr val="FFFFFF"/>
              </a:solidFill>
              <a:effectLst/>
              <a:uFillTx/>
              <a:latin typeface="Arial"/>
            </a:endParaRPr>
          </a:p>
        </p:txBody>
      </p:sp>
      <p:sp>
        <p:nvSpPr>
          <p:cNvPr id="115" name="Text 5"/>
          <p:cNvSpPr/>
          <p:nvPr/>
        </p:nvSpPr>
        <p:spPr>
          <a:xfrm>
            <a:off x="7082640" y="3350160"/>
            <a:ext cx="261360" cy="664920"/>
          </a:xfrm>
          <a:prstGeom prst="rect">
            <a:avLst/>
          </a:prstGeom>
          <a:noFill/>
          <a:ln w="0">
            <a:noFill/>
          </a:ln>
        </p:spPr>
        <p:style>
          <a:lnRef idx="0"/>
          <a:fillRef idx="0"/>
          <a:effectRef idx="0"/>
          <a:fontRef idx="minor"/>
        </p:style>
        <p:txBody>
          <a:bodyPr lIns="0" tIns="0" rIns="0" bIns="0" anchor="t">
            <a:normAutofit/>
          </a:bodyPr>
          <a:p>
            <a:pPr algn="ctr" defTabSz="914400">
              <a:lnSpc>
                <a:spcPts val="5040"/>
              </a:lnSpc>
              <a:tabLst>
                <a:tab pos="0" algn="l"/>
              </a:tabLst>
            </a:pPr>
            <a:r>
              <a:rPr lang="en-US" sz="3600" b="0" u="none" strike="noStrike">
                <a:solidFill>
                  <a:srgbClr val="6F82A8"/>
                </a:solidFill>
                <a:effectLst/>
                <a:uFillTx/>
                <a:latin typeface="Space Grotesk"/>
                <a:ea typeface="Space Grotesk"/>
              </a:rPr>
              <a:t>›</a:t>
            </a:r>
            <a:endParaRPr lang="en-US" sz="3600" b="0" u="none" strike="noStrike">
              <a:solidFill>
                <a:srgbClr val="FFFFFF"/>
              </a:solidFill>
              <a:effectLst/>
              <a:uFillTx/>
              <a:latin typeface="Arial"/>
            </a:endParaRPr>
          </a:p>
        </p:txBody>
      </p:sp>
      <p:sp>
        <p:nvSpPr>
          <p:cNvPr id="116" name="Text 6"/>
          <p:cNvSpPr/>
          <p:nvPr/>
        </p:nvSpPr>
        <p:spPr>
          <a:xfrm>
            <a:off x="7433640" y="3350160"/>
            <a:ext cx="2226600" cy="664920"/>
          </a:xfrm>
          <a:prstGeom prst="rect">
            <a:avLst/>
          </a:prstGeom>
          <a:noFill/>
          <a:ln w="0">
            <a:noFill/>
          </a:ln>
        </p:spPr>
        <p:style>
          <a:lnRef idx="0"/>
          <a:fillRef idx="0"/>
          <a:effectRef idx="0"/>
          <a:fontRef idx="minor"/>
        </p:style>
        <p:txBody>
          <a:bodyPr lIns="0" tIns="0" rIns="0" bIns="0" anchor="t">
            <a:normAutofit/>
          </a:bodyPr>
          <a:p>
            <a:pPr algn="ctr" defTabSz="914400">
              <a:lnSpc>
                <a:spcPts val="5040"/>
              </a:lnSpc>
              <a:tabLst>
                <a:tab pos="0" algn="l"/>
              </a:tabLst>
            </a:pPr>
            <a:r>
              <a:rPr lang="en-US" sz="3600" b="1" u="none" strike="noStrike">
                <a:solidFill>
                  <a:srgbClr val="FF2BD6">
                    <a:alpha val="70000"/>
                  </a:srgbClr>
                </a:solidFill>
                <a:effectLst/>
                <a:uFillTx/>
                <a:latin typeface="Space Grotesk"/>
                <a:ea typeface="Space Grotesk"/>
              </a:rPr>
              <a:t>Potential</a:t>
            </a:r>
            <a:endParaRPr lang="en-US" sz="3600" b="0" u="none" strike="noStrike">
              <a:solidFill>
                <a:srgbClr val="FFFFFF"/>
              </a:solidFill>
              <a:effectLst/>
              <a:uFillTx/>
              <a:latin typeface="Arial"/>
            </a:endParaRPr>
          </a:p>
        </p:txBody>
      </p:sp>
      <p:sp>
        <p:nvSpPr>
          <p:cNvPr id="117" name="Text 7"/>
          <p:cNvSpPr/>
          <p:nvPr/>
        </p:nvSpPr>
        <p:spPr>
          <a:xfrm>
            <a:off x="3725640" y="4295160"/>
            <a:ext cx="4739400" cy="360000"/>
          </a:xfrm>
          <a:prstGeom prst="rect">
            <a:avLst/>
          </a:prstGeom>
          <a:noFill/>
          <a:ln w="0">
            <a:noFill/>
          </a:ln>
        </p:spPr>
        <p:style>
          <a:lnRef idx="0"/>
          <a:fillRef idx="0"/>
          <a:effectRef idx="0"/>
          <a:fontRef idx="minor"/>
        </p:style>
        <p:txBody>
          <a:bodyPr lIns="0" tIns="0" rIns="0" bIns="0" anchor="t">
            <a:normAutofit/>
          </a:bodyPr>
          <a:p>
            <a:pPr algn="ctr" defTabSz="914400">
              <a:lnSpc>
                <a:spcPts val="2639"/>
              </a:lnSpc>
              <a:tabLst>
                <a:tab pos="0" algn="l"/>
              </a:tabLst>
            </a:pPr>
            <a:r>
              <a:rPr lang="en-US" sz="2200" b="0" u="none" strike="noStrike">
                <a:solidFill>
                  <a:srgbClr val="E8F7FF"/>
                </a:solidFill>
                <a:effectLst/>
                <a:uFillTx/>
                <a:latin typeface="Space Grotesk"/>
                <a:ea typeface="Space Grotesk"/>
              </a:rPr>
              <a:t>Nobody ever says it out loud.</a:t>
            </a:r>
            <a:endParaRPr lang="en-US" sz="2200" b="0" u="none" strike="noStrike">
              <a:solidFill>
                <a:srgbClr val="FFFFFF"/>
              </a:solidFill>
              <a:effectLst/>
              <a:uFillTx/>
              <a:latin typeface="Arial"/>
            </a:endParaRPr>
          </a:p>
        </p:txBody>
      </p:sp>
      <p:sp>
        <p:nvSpPr>
          <p:cNvPr id="118" name="Text 8"/>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119" name="Text 9"/>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07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Image 0" descr="Neon wave background"/>
          <p:cNvPicPr/>
          <p:nvPr/>
        </p:nvPicPr>
        <p:blipFill>
          <a:blip r:embed="rId1"/>
          <a:stretch/>
        </p:blipFill>
        <p:spPr>
          <a:xfrm>
            <a:off x="0" y="0"/>
            <a:ext cx="12191400" cy="6857280"/>
          </a:xfrm>
          <a:prstGeom prst="rect">
            <a:avLst/>
          </a:prstGeom>
          <a:noFill/>
          <a:ln w="0">
            <a:noFill/>
          </a:ln>
        </p:spPr>
      </p:pic>
      <p:sp>
        <p:nvSpPr>
          <p:cNvPr id="121" name="Text 0"/>
          <p:cNvSpPr/>
          <p:nvPr/>
        </p:nvSpPr>
        <p:spPr>
          <a:xfrm>
            <a:off x="4971240" y="1913400"/>
            <a:ext cx="22485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hooksmith --rule</a:t>
            </a:r>
            <a:endParaRPr lang="en-US" sz="1200" b="0" u="none" strike="noStrike">
              <a:solidFill>
                <a:srgbClr val="FFFFFF"/>
              </a:solidFill>
              <a:effectLst/>
              <a:uFillTx/>
              <a:latin typeface="Arial"/>
            </a:endParaRPr>
          </a:p>
        </p:txBody>
      </p:sp>
      <p:sp>
        <p:nvSpPr>
          <p:cNvPr id="122" name="PlaceHolder 1"/>
          <p:cNvSpPr>
            <a:spLocks noGrp="1"/>
          </p:cNvSpPr>
          <p:nvPr>
            <p:ph type="title"/>
          </p:nvPr>
        </p:nvSpPr>
        <p:spPr>
          <a:xfrm>
            <a:off x="3813120" y="2405880"/>
            <a:ext cx="4565160" cy="1731600"/>
          </a:xfrm>
          <a:prstGeom prst="rect">
            <a:avLst/>
          </a:prstGeom>
          <a:noFill/>
          <a:ln w="0">
            <a:noFill/>
          </a:ln>
        </p:spPr>
        <p:txBody>
          <a:bodyPr lIns="0" tIns="0" rIns="0" bIns="0" anchor="t">
            <a:normAutofit fontScale="92500" lnSpcReduction="9999"/>
          </a:bodyPr>
          <a:p>
            <a:pPr indent="0" algn="ctr" defTabSz="914400">
              <a:lnSpc>
                <a:spcPts val="6721"/>
              </a:lnSpc>
              <a:buNone/>
              <a:tabLst>
                <a:tab pos="0" algn="l"/>
              </a:tabLst>
            </a:pPr>
            <a:r>
              <a:rPr lang="en-US" sz="6400" b="1" u="none" spc="-99" strike="noStrike">
                <a:solidFill>
                  <a:srgbClr val="F4FFF9"/>
                </a:solidFill>
                <a:effectLst/>
                <a:uFillTx/>
                <a:latin typeface="Space Grotesk"/>
                <a:ea typeface="Space Grotesk"/>
              </a:rPr>
              <a:t>Prove it.</a:t>
            </a:r>
            <a:endParaRPr lang="en-US" sz="6400" b="0" u="none" strike="noStrike">
              <a:solidFill>
                <a:schemeClr val="lt1"/>
              </a:solidFill>
              <a:effectLst/>
              <a:uFillTx/>
              <a:latin typeface="JetBrains Mono"/>
            </a:endParaRPr>
          </a:p>
          <a:p>
            <a:pPr indent="0" algn="ctr" defTabSz="914400">
              <a:lnSpc>
                <a:spcPts val="6721"/>
              </a:lnSpc>
              <a:buNone/>
              <a:tabLst>
                <a:tab pos="0" algn="l"/>
              </a:tabLst>
            </a:pPr>
            <a:r>
              <a:rPr lang="en-US" sz="6400" b="1" u="none" spc="-99" strike="noStrike">
                <a:solidFill>
                  <a:srgbClr val="F4FFF9"/>
                </a:solidFill>
                <a:effectLst/>
                <a:uFillTx/>
                <a:latin typeface="Space Grotesk"/>
                <a:ea typeface="Space Grotesk"/>
              </a:rPr>
              <a:t>Or delete it.</a:t>
            </a:r>
            <a:endParaRPr lang="en-US" sz="6400" b="0" u="none" strike="noStrike">
              <a:solidFill>
                <a:schemeClr val="lt1"/>
              </a:solidFill>
              <a:effectLst/>
              <a:uFillTx/>
              <a:latin typeface="JetBrains Mono"/>
            </a:endParaRPr>
          </a:p>
        </p:txBody>
      </p:sp>
      <p:sp>
        <p:nvSpPr>
          <p:cNvPr id="123" name="Text 2"/>
          <p:cNvSpPr/>
          <p:nvPr/>
        </p:nvSpPr>
        <p:spPr>
          <a:xfrm>
            <a:off x="3674880" y="4392360"/>
            <a:ext cx="4841280" cy="374040"/>
          </a:xfrm>
          <a:prstGeom prst="rect">
            <a:avLst/>
          </a:prstGeom>
          <a:noFill/>
          <a:ln w="0">
            <a:noFill/>
          </a:ln>
        </p:spPr>
        <p:style>
          <a:lnRef idx="0"/>
          <a:fillRef idx="0"/>
          <a:effectRef idx="0"/>
          <a:fontRef idx="minor"/>
        </p:style>
        <p:txBody>
          <a:bodyPr lIns="0" tIns="0" rIns="0" bIns="0" anchor="t">
            <a:normAutofit/>
          </a:bodyPr>
          <a:p>
            <a:pPr algn="ctr" defTabSz="914400">
              <a:lnSpc>
                <a:spcPts val="2750"/>
              </a:lnSpc>
              <a:tabLst>
                <a:tab pos="0" algn="l"/>
              </a:tabLst>
            </a:pPr>
            <a:r>
              <a:rPr lang="en-US" sz="2200" b="0" u="none" strike="noStrike">
                <a:solidFill>
                  <a:srgbClr val="00F0FF"/>
                </a:solidFill>
                <a:effectLst/>
                <a:uFillTx/>
                <a:latin typeface="Space Grotesk"/>
                <a:ea typeface="Space Grotesk"/>
              </a:rPr>
              <a:t>Four verdicts. No fifth bucket.</a:t>
            </a:r>
            <a:endParaRPr lang="en-US" sz="2200" b="0" u="none" strike="noStrike">
              <a:solidFill>
                <a:srgbClr val="FFFFFF"/>
              </a:solidFill>
              <a:effectLst/>
              <a:uFillTx/>
              <a:latin typeface="Arial"/>
            </a:endParaRPr>
          </a:p>
        </p:txBody>
      </p:sp>
      <p:sp>
        <p:nvSpPr>
          <p:cNvPr id="124" name="Text 3"/>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125" name="Text 4"/>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08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Image 0" descr="Neon wave background"/>
          <p:cNvPicPr/>
          <p:nvPr/>
        </p:nvPicPr>
        <p:blipFill>
          <a:blip r:embed="rId1"/>
          <a:stretch/>
        </p:blipFill>
        <p:spPr>
          <a:xfrm>
            <a:off x="0" y="0"/>
            <a:ext cx="12191400" cy="6857280"/>
          </a:xfrm>
          <a:prstGeom prst="rect">
            <a:avLst/>
          </a:prstGeom>
          <a:noFill/>
          <a:ln w="0">
            <a:noFill/>
          </a:ln>
        </p:spPr>
      </p:pic>
      <p:sp>
        <p:nvSpPr>
          <p:cNvPr id="127" name="Text 0"/>
          <p:cNvSpPr/>
          <p:nvPr/>
        </p:nvSpPr>
        <p:spPr>
          <a:xfrm>
            <a:off x="4908960" y="1631880"/>
            <a:ext cx="237384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hooksmith explain</a:t>
            </a:r>
            <a:endParaRPr lang="en-US" sz="1200" b="0" u="none" strike="noStrike">
              <a:solidFill>
                <a:srgbClr val="FFFFFF"/>
              </a:solidFill>
              <a:effectLst/>
              <a:uFillTx/>
              <a:latin typeface="Arial"/>
            </a:endParaRPr>
          </a:p>
        </p:txBody>
      </p:sp>
      <p:sp>
        <p:nvSpPr>
          <p:cNvPr id="128" name="PlaceHolder 1"/>
          <p:cNvSpPr>
            <a:spLocks noGrp="1"/>
          </p:cNvSpPr>
          <p:nvPr>
            <p:ph type="title"/>
          </p:nvPr>
        </p:nvSpPr>
        <p:spPr>
          <a:xfrm>
            <a:off x="2102760" y="2073600"/>
            <a:ext cx="798588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One pile becomes four buckets</a:t>
            </a:r>
            <a:endParaRPr lang="en-US" sz="3600" b="0" u="none" strike="noStrike">
              <a:solidFill>
                <a:schemeClr val="lt1"/>
              </a:solidFill>
              <a:effectLst/>
              <a:uFillTx/>
              <a:latin typeface="JetBrains Mono"/>
            </a:endParaRPr>
          </a:p>
        </p:txBody>
      </p:sp>
      <p:sp>
        <p:nvSpPr>
          <p:cNvPr id="129" name="Shape 2"/>
          <p:cNvSpPr/>
          <p:nvPr/>
        </p:nvSpPr>
        <p:spPr>
          <a:xfrm>
            <a:off x="1314360" y="3084120"/>
            <a:ext cx="2399760" cy="1659240"/>
          </a:xfrm>
          <a:prstGeom prst="roundRect">
            <a:avLst>
              <a:gd name="adj" fmla="val 10328"/>
            </a:avLst>
          </a:prstGeom>
          <a:solidFill>
            <a:srgbClr val="05070F"/>
          </a:solidFill>
          <a:ln w="12700">
            <a:solidFill>
              <a:srgbClr val="FF5A5F"/>
            </a:solidFill>
            <a:round/>
          </a:ln>
          <a:effectLst>
            <a:outerShdw algn="bl" blurRad="228600" dir="0" dist="0" kx="0" ky="0" rotWithShape="0" sx="100000" sy="100000">
              <a:srgbClr val="FF5A5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30" name="Text 3"/>
          <p:cNvSpPr/>
          <p:nvPr/>
        </p:nvSpPr>
        <p:spPr>
          <a:xfrm>
            <a:off x="1492920" y="3262680"/>
            <a:ext cx="21038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99" strike="noStrike">
                <a:solidFill>
                  <a:srgbClr val="FF5A5F"/>
                </a:solidFill>
                <a:effectLst/>
                <a:uFillTx/>
                <a:latin typeface="JetBrains Mono"/>
                <a:ea typeface="JetBrains Mono"/>
              </a:rPr>
              <a:t>BEFORE</a:t>
            </a:r>
            <a:endParaRPr lang="en-US" sz="1200" b="0" u="none" strike="noStrike">
              <a:solidFill>
                <a:srgbClr val="FFFFFF"/>
              </a:solidFill>
              <a:effectLst/>
              <a:uFillTx/>
              <a:latin typeface="Arial"/>
            </a:endParaRPr>
          </a:p>
        </p:txBody>
      </p:sp>
      <p:sp>
        <p:nvSpPr>
          <p:cNvPr id="131" name="Shape 4"/>
          <p:cNvSpPr/>
          <p:nvPr/>
        </p:nvSpPr>
        <p:spPr>
          <a:xfrm>
            <a:off x="1492920" y="360288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2" name="Shape 5"/>
          <p:cNvSpPr/>
          <p:nvPr/>
        </p:nvSpPr>
        <p:spPr>
          <a:xfrm>
            <a:off x="1759680" y="360288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3" name="Shape 6"/>
          <p:cNvSpPr/>
          <p:nvPr/>
        </p:nvSpPr>
        <p:spPr>
          <a:xfrm>
            <a:off x="2026440" y="360288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4" name="Shape 7"/>
          <p:cNvSpPr/>
          <p:nvPr/>
        </p:nvSpPr>
        <p:spPr>
          <a:xfrm>
            <a:off x="2293200" y="360288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5" name="Shape 8"/>
          <p:cNvSpPr/>
          <p:nvPr/>
        </p:nvSpPr>
        <p:spPr>
          <a:xfrm>
            <a:off x="2559960" y="360288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6" name="Shape 9"/>
          <p:cNvSpPr/>
          <p:nvPr/>
        </p:nvSpPr>
        <p:spPr>
          <a:xfrm>
            <a:off x="2826360" y="360288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7" name="Shape 10"/>
          <p:cNvSpPr/>
          <p:nvPr/>
        </p:nvSpPr>
        <p:spPr>
          <a:xfrm>
            <a:off x="3093120" y="360288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8" name="Shape 11"/>
          <p:cNvSpPr/>
          <p:nvPr/>
        </p:nvSpPr>
        <p:spPr>
          <a:xfrm>
            <a:off x="1492920" y="386964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39" name="Shape 12"/>
          <p:cNvSpPr/>
          <p:nvPr/>
        </p:nvSpPr>
        <p:spPr>
          <a:xfrm>
            <a:off x="1759680" y="386964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40" name="Shape 13"/>
          <p:cNvSpPr/>
          <p:nvPr/>
        </p:nvSpPr>
        <p:spPr>
          <a:xfrm>
            <a:off x="2026440" y="386964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41" name="Shape 14"/>
          <p:cNvSpPr/>
          <p:nvPr/>
        </p:nvSpPr>
        <p:spPr>
          <a:xfrm>
            <a:off x="2293200" y="386964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42" name="Shape 15"/>
          <p:cNvSpPr/>
          <p:nvPr/>
        </p:nvSpPr>
        <p:spPr>
          <a:xfrm>
            <a:off x="2559960" y="3869640"/>
            <a:ext cx="177120" cy="177120"/>
          </a:xfrm>
          <a:prstGeom prst="roundRect">
            <a:avLst>
              <a:gd name="adj" fmla="val 50000"/>
            </a:avLst>
          </a:prstGeom>
          <a:solidFill>
            <a:srgbClr val="6F82A8"/>
          </a:solidFill>
          <a:ln w="0">
            <a:noFill/>
          </a:ln>
        </p:spPr>
        <p:style>
          <a:lnRef idx="0"/>
          <a:fillRef idx="0"/>
          <a:effectRef idx="0"/>
          <a:fontRef idx="minor"/>
        </p:style>
        <p:txBody>
          <a:bodyPr lIns="88560" tIns="45000" rIns="88560" bIns="45000" anchor="t">
            <a:noAutofit/>
          </a:bodyPr>
          <a:p>
            <a:endParaRPr lang="en-US" sz="1800" b="0" u="none" strike="noStrike">
              <a:solidFill>
                <a:schemeClr val="lt1"/>
              </a:solidFill>
              <a:effectLst/>
              <a:uFillTx/>
              <a:latin typeface="JetBrains Mono"/>
            </a:endParaRPr>
          </a:p>
        </p:txBody>
      </p:sp>
      <p:sp>
        <p:nvSpPr>
          <p:cNvPr id="143" name="Text 16"/>
          <p:cNvSpPr/>
          <p:nvPr/>
        </p:nvSpPr>
        <p:spPr>
          <a:xfrm>
            <a:off x="1492920" y="4174560"/>
            <a:ext cx="210384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FF5A5F"/>
                </a:solidFill>
                <a:effectLst/>
                <a:uFillTx/>
                <a:latin typeface="Space Grotesk"/>
                <a:ea typeface="Space Grotesk"/>
              </a:rPr>
              <a:t>“Potential”</a:t>
            </a:r>
            <a:endParaRPr lang="en-US" sz="2200" b="0" u="none" strike="noStrike">
              <a:solidFill>
                <a:srgbClr val="FFFFFF"/>
              </a:solidFill>
              <a:effectLst/>
              <a:uFillTx/>
              <a:latin typeface="Arial"/>
            </a:endParaRPr>
          </a:p>
        </p:txBody>
      </p:sp>
      <p:pic>
        <p:nvPicPr>
          <p:cNvPr id="144" name="Image 1" descr="arrow-right"/>
          <p:cNvPicPr/>
          <p:nvPr/>
        </p:nvPicPr>
        <p:blipFill>
          <a:blip r:embed="rId2"/>
          <a:stretch/>
        </p:blipFill>
        <p:spPr>
          <a:xfrm>
            <a:off x="3898800" y="3761640"/>
            <a:ext cx="456480" cy="304200"/>
          </a:xfrm>
          <a:prstGeom prst="rect">
            <a:avLst/>
          </a:prstGeom>
          <a:noFill/>
          <a:ln w="0">
            <a:noFill/>
          </a:ln>
        </p:spPr>
      </p:pic>
      <p:sp>
        <p:nvSpPr>
          <p:cNvPr id="145" name="Shape 17"/>
          <p:cNvSpPr/>
          <p:nvPr/>
        </p:nvSpPr>
        <p:spPr>
          <a:xfrm>
            <a:off x="4540320" y="2811600"/>
            <a:ext cx="3098160" cy="1032120"/>
          </a:xfrm>
          <a:prstGeom prst="roundRect">
            <a:avLst>
              <a:gd name="adj" fmla="val 14142"/>
            </a:avLst>
          </a:prstGeom>
          <a:solidFill>
            <a:srgbClr val="05070F"/>
          </a:solidFill>
          <a:ln w="12700">
            <a:solidFill>
              <a:srgbClr val="39FF9C"/>
            </a:solidFill>
            <a:round/>
          </a:ln>
          <a:effectLst>
            <a:outerShdw algn="bl" blurRad="190440" dir="0" dist="0" kx="0" ky="0" rotWithShape="0" sx="100000" sy="100000">
              <a:srgbClr val="39FF9C">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46" name="Text 18"/>
          <p:cNvSpPr/>
          <p:nvPr/>
        </p:nvSpPr>
        <p:spPr>
          <a:xfrm>
            <a:off x="4705920" y="2952000"/>
            <a:ext cx="28494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39FF9C"/>
                </a:solidFill>
                <a:effectLst/>
                <a:uFillTx/>
                <a:latin typeface="JetBrains Mono"/>
                <a:ea typeface="JetBrains Mono"/>
              </a:rPr>
              <a:t>PROVEN</a:t>
            </a:r>
            <a:endParaRPr lang="en-US" sz="1200" b="0" u="none" strike="noStrike">
              <a:solidFill>
                <a:srgbClr val="FFFFFF"/>
              </a:solidFill>
              <a:effectLst/>
              <a:uFillTx/>
              <a:latin typeface="Arial"/>
            </a:endParaRPr>
          </a:p>
        </p:txBody>
      </p:sp>
      <p:sp>
        <p:nvSpPr>
          <p:cNvPr id="147" name="Text 19"/>
          <p:cNvSpPr/>
          <p:nvPr/>
        </p:nvSpPr>
        <p:spPr>
          <a:xfrm>
            <a:off x="4705920" y="3216240"/>
            <a:ext cx="2849400" cy="51228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0" u="none" strike="noStrike">
                <a:solidFill>
                  <a:srgbClr val="E8F7FF"/>
                </a:solidFill>
                <a:effectLst/>
                <a:uFillTx/>
                <a:latin typeface="Space Grotesk"/>
                <a:ea typeface="Space Grotesk"/>
              </a:rPr>
              <a:t>Hook ran. Claim held up. Evidence kept.</a:t>
            </a:r>
            <a:endParaRPr lang="en-US" sz="1600" b="0" u="none" strike="noStrike">
              <a:solidFill>
                <a:srgbClr val="FFFFFF"/>
              </a:solidFill>
              <a:effectLst/>
              <a:uFillTx/>
              <a:latin typeface="Arial"/>
            </a:endParaRPr>
          </a:p>
        </p:txBody>
      </p:sp>
      <p:sp>
        <p:nvSpPr>
          <p:cNvPr id="148" name="Shape 20"/>
          <p:cNvSpPr/>
          <p:nvPr/>
        </p:nvSpPr>
        <p:spPr>
          <a:xfrm>
            <a:off x="7778880" y="2811600"/>
            <a:ext cx="3098160" cy="1032120"/>
          </a:xfrm>
          <a:prstGeom prst="roundRect">
            <a:avLst>
              <a:gd name="adj" fmla="val 14142"/>
            </a:avLst>
          </a:prstGeom>
          <a:solidFill>
            <a:srgbClr val="05070F"/>
          </a:solidFill>
          <a:ln w="12700">
            <a:solidFill>
              <a:srgbClr val="FFE600"/>
            </a:solidFill>
            <a:round/>
          </a:ln>
          <a:effectLst>
            <a:outerShdw algn="bl" blurRad="190440" dir="0" dist="0" kx="0" ky="0" rotWithShape="0" sx="100000" sy="100000">
              <a:srgbClr val="FFE600">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49" name="Text 21"/>
          <p:cNvSpPr/>
          <p:nvPr/>
        </p:nvSpPr>
        <p:spPr>
          <a:xfrm>
            <a:off x="7944480" y="2952000"/>
            <a:ext cx="28494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FFE600"/>
                </a:solidFill>
                <a:effectLst/>
                <a:uFillTx/>
                <a:latin typeface="JetBrains Mono"/>
                <a:ea typeface="JetBrains Mono"/>
              </a:rPr>
              <a:t>REFUTED</a:t>
            </a:r>
            <a:endParaRPr lang="en-US" sz="1200" b="0" u="none" strike="noStrike">
              <a:solidFill>
                <a:srgbClr val="FFFFFF"/>
              </a:solidFill>
              <a:effectLst/>
              <a:uFillTx/>
              <a:latin typeface="Arial"/>
            </a:endParaRPr>
          </a:p>
        </p:txBody>
      </p:sp>
      <p:sp>
        <p:nvSpPr>
          <p:cNvPr id="150" name="Text 22"/>
          <p:cNvSpPr/>
          <p:nvPr/>
        </p:nvSpPr>
        <p:spPr>
          <a:xfrm>
            <a:off x="7944480" y="3216240"/>
            <a:ext cx="2849400" cy="51228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0" u="none" strike="noStrike">
                <a:solidFill>
                  <a:srgbClr val="E8F7FF"/>
                </a:solidFill>
                <a:effectLst/>
                <a:uFillTx/>
                <a:latin typeface="Space Grotesk"/>
                <a:ea typeface="Space Grotesk"/>
              </a:rPr>
              <a:t>Hook ran. Claim was wrong. False positive, with proof.</a:t>
            </a:r>
            <a:endParaRPr lang="en-US" sz="1600" b="0" u="none" strike="noStrike">
              <a:solidFill>
                <a:srgbClr val="FFFFFF"/>
              </a:solidFill>
              <a:effectLst/>
              <a:uFillTx/>
              <a:latin typeface="Arial"/>
            </a:endParaRPr>
          </a:p>
        </p:txBody>
      </p:sp>
      <p:sp>
        <p:nvSpPr>
          <p:cNvPr id="151" name="Shape 23"/>
          <p:cNvSpPr/>
          <p:nvPr/>
        </p:nvSpPr>
        <p:spPr>
          <a:xfrm>
            <a:off x="4540320" y="3984120"/>
            <a:ext cx="3098160" cy="1032120"/>
          </a:xfrm>
          <a:prstGeom prst="roundRect">
            <a:avLst>
              <a:gd name="adj" fmla="val 14142"/>
            </a:avLst>
          </a:prstGeom>
          <a:solidFill>
            <a:srgbClr val="05070F"/>
          </a:solidFill>
          <a:ln w="12700">
            <a:solidFill>
              <a:srgbClr val="FF9F1C"/>
            </a:solidFill>
            <a:round/>
          </a:ln>
          <a:effectLst>
            <a:outerShdw algn="bl" blurRad="190440" dir="0" dist="0" kx="0" ky="0" rotWithShape="0" sx="100000" sy="100000">
              <a:srgbClr val="FF9F1C">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52" name="Text 24"/>
          <p:cNvSpPr/>
          <p:nvPr/>
        </p:nvSpPr>
        <p:spPr>
          <a:xfrm>
            <a:off x="4705920" y="4124520"/>
            <a:ext cx="28494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FF9F1C"/>
                </a:solidFill>
                <a:effectLst/>
                <a:uFillTx/>
                <a:latin typeface="JetBrains Mono"/>
                <a:ea typeface="JetBrains Mono"/>
              </a:rPr>
              <a:t>UNREACHABLE</a:t>
            </a:r>
            <a:endParaRPr lang="en-US" sz="1200" b="0" u="none" strike="noStrike">
              <a:solidFill>
                <a:srgbClr val="FFFFFF"/>
              </a:solidFill>
              <a:effectLst/>
              <a:uFillTx/>
              <a:latin typeface="Arial"/>
            </a:endParaRPr>
          </a:p>
        </p:txBody>
      </p:sp>
      <p:sp>
        <p:nvSpPr>
          <p:cNvPr id="153" name="Text 25"/>
          <p:cNvSpPr/>
          <p:nvPr/>
        </p:nvSpPr>
        <p:spPr>
          <a:xfrm>
            <a:off x="4705920" y="4388760"/>
            <a:ext cx="2849400" cy="51228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0" u="none" strike="noStrike">
                <a:solidFill>
                  <a:srgbClr val="E8F7FF"/>
                </a:solidFill>
                <a:effectLst/>
                <a:uFillTx/>
                <a:latin typeface="Space Grotesk"/>
                <a:ea typeface="Space Grotesk"/>
              </a:rPr>
              <a:t>Hook attached. Code never ran on the paths tried.</a:t>
            </a:r>
            <a:endParaRPr lang="en-US" sz="1600" b="0" u="none" strike="noStrike">
              <a:solidFill>
                <a:srgbClr val="FFFFFF"/>
              </a:solidFill>
              <a:effectLst/>
              <a:uFillTx/>
              <a:latin typeface="Arial"/>
            </a:endParaRPr>
          </a:p>
        </p:txBody>
      </p:sp>
      <p:sp>
        <p:nvSpPr>
          <p:cNvPr id="154" name="Shape 26"/>
          <p:cNvSpPr/>
          <p:nvPr/>
        </p:nvSpPr>
        <p:spPr>
          <a:xfrm>
            <a:off x="7778880" y="3984120"/>
            <a:ext cx="3098160" cy="1032120"/>
          </a:xfrm>
          <a:prstGeom prst="roundRect">
            <a:avLst>
              <a:gd name="adj" fmla="val 14142"/>
            </a:avLst>
          </a:prstGeom>
          <a:solidFill>
            <a:srgbClr val="05070F"/>
          </a:solidFill>
          <a:ln w="12700">
            <a:solidFill>
              <a:srgbClr val="FF2BD6"/>
            </a:solidFill>
            <a:round/>
          </a:ln>
          <a:effectLst>
            <a:outerShdw algn="bl" blurRad="190440" dir="0" dist="0" kx="0" ky="0" rotWithShape="0" sx="100000" sy="100000">
              <a:srgbClr val="FF2BD6">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55" name="Text 27"/>
          <p:cNvSpPr/>
          <p:nvPr/>
        </p:nvSpPr>
        <p:spPr>
          <a:xfrm>
            <a:off x="7944480" y="4124520"/>
            <a:ext cx="28494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FF2BD6"/>
                </a:solidFill>
                <a:effectLst/>
                <a:uFillTx/>
                <a:latin typeface="JetBrains Mono"/>
                <a:ea typeface="JetBrains Mono"/>
              </a:rPr>
              <a:t>UNVALIDATED</a:t>
            </a:r>
            <a:endParaRPr lang="en-US" sz="1200" b="0" u="none" strike="noStrike">
              <a:solidFill>
                <a:srgbClr val="FFFFFF"/>
              </a:solidFill>
              <a:effectLst/>
              <a:uFillTx/>
              <a:latin typeface="Arial"/>
            </a:endParaRPr>
          </a:p>
        </p:txBody>
      </p:sp>
      <p:sp>
        <p:nvSpPr>
          <p:cNvPr id="156" name="Text 28"/>
          <p:cNvSpPr/>
          <p:nvPr/>
        </p:nvSpPr>
        <p:spPr>
          <a:xfrm>
            <a:off x="7944480" y="4388760"/>
            <a:ext cx="2849400" cy="51228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0" u="none" strike="noStrike">
                <a:solidFill>
                  <a:srgbClr val="E8F7FF"/>
                </a:solidFill>
                <a:effectLst/>
                <a:uFillTx/>
                <a:latin typeface="Space Grotesk"/>
                <a:ea typeface="Space Grotesk"/>
              </a:rPr>
              <a:t>Couldn't even attach a hook. Here's exactly why.</a:t>
            </a:r>
            <a:endParaRPr lang="en-US" sz="1600" b="0" u="none" strike="noStrike">
              <a:solidFill>
                <a:srgbClr val="FFFFFF"/>
              </a:solidFill>
              <a:effectLst/>
              <a:uFillTx/>
              <a:latin typeface="Arial"/>
            </a:endParaRPr>
          </a:p>
        </p:txBody>
      </p:sp>
      <p:sp>
        <p:nvSpPr>
          <p:cNvPr id="157" name="Text 29"/>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158" name="Text 30"/>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09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9" name="Image 0" descr="Neon wave background"/>
          <p:cNvPicPr/>
          <p:nvPr/>
        </p:nvPicPr>
        <p:blipFill>
          <a:blip r:embed="rId1"/>
          <a:stretch/>
        </p:blipFill>
        <p:spPr>
          <a:xfrm>
            <a:off x="0" y="0"/>
            <a:ext cx="12191400" cy="6857280"/>
          </a:xfrm>
          <a:prstGeom prst="rect">
            <a:avLst/>
          </a:prstGeom>
          <a:noFill/>
          <a:ln w="0">
            <a:noFill/>
          </a:ln>
        </p:spPr>
      </p:pic>
      <p:sp>
        <p:nvSpPr>
          <p:cNvPr id="160"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161"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10 / 51</a:t>
            </a:r>
            <a:endParaRPr lang="en-US" sz="1200" b="0" u="none" strike="noStrike">
              <a:solidFill>
                <a:srgbClr val="FFFFFF"/>
              </a:solidFill>
              <a:effectLst/>
              <a:uFillTx/>
              <a:latin typeface="Arial"/>
            </a:endParaRPr>
          </a:p>
        </p:txBody>
      </p:sp>
      <p:sp>
        <p:nvSpPr>
          <p:cNvPr id="162"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uv run hooksmith demo</a:t>
            </a:r>
            <a:endParaRPr lang="en-US" sz="1300" b="0" u="none" strike="noStrike">
              <a:solidFill>
                <a:srgbClr val="FFFFFF"/>
              </a:solidFill>
              <a:effectLst/>
              <a:uFillTx/>
              <a:latin typeface="Arial"/>
            </a:endParaRPr>
          </a:p>
        </p:txBody>
      </p:sp>
      <p:sp>
        <p:nvSpPr>
          <p:cNvPr id="163"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Every verdict, one command</a:t>
            </a:r>
            <a:endParaRPr lang="en-US" sz="3200" b="0" u="none" strike="noStrike">
              <a:solidFill>
                <a:srgbClr val="FFFFFF"/>
              </a:solidFill>
              <a:effectLst/>
              <a:uFillTx/>
              <a:latin typeface="Arial"/>
            </a:endParaRPr>
          </a:p>
        </p:txBody>
      </p:sp>
      <p:pic>
        <p:nvPicPr>
          <p:cNvPr id="164" name="">
            <a:hlinkClick r:id="" action="ppaction://media"/>
          </p:cNvPr>
          <p:cNvPicPr/>
          <p:nvPr>
            <a:videoFile r:link="rId2"/>
            <p:extLst>
              <p:ext uri="{DAA4B4D4-6D71-4841-9C94-3DE7FCFB9230}">
                <p14:media r:embed="rId3"/>
              </p:ext>
            </p:extLst>
          </p:nvPr>
        </p:nvPicPr>
        <p:blipFill>
          <a:blip r:embed="rId4"/>
          <a:stretch>
            <a:fillRect/>
          </a:stretch>
        </p:blipFill>
        <p:spPr>
          <a:xfrm>
            <a:off x="2495880" y="1500120"/>
            <a:ext cx="7199280" cy="406116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video>
              <p:cMediaNode>
                <p:cTn>
                  <p:stCondLst>
                    <p:cond delay="indefinite"/>
                  </p:stCondLst>
                </p:cTn>
                <p:tgtEl>
                  <p:spTgt spid="164"/>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 name="Image 0" descr="Neon wave background"/>
          <p:cNvPicPr/>
          <p:nvPr/>
        </p:nvPicPr>
        <p:blipFill>
          <a:blip r:embed="rId1"/>
          <a:stretch/>
        </p:blipFill>
        <p:spPr>
          <a:xfrm>
            <a:off x="0" y="0"/>
            <a:ext cx="12191400" cy="6857280"/>
          </a:xfrm>
          <a:prstGeom prst="rect">
            <a:avLst/>
          </a:prstGeom>
          <a:noFill/>
          <a:ln w="0">
            <a:noFill/>
          </a:ln>
        </p:spPr>
      </p:pic>
      <p:sp>
        <p:nvSpPr>
          <p:cNvPr id="166" name="Text 0"/>
          <p:cNvSpPr/>
          <p:nvPr/>
        </p:nvSpPr>
        <p:spPr>
          <a:xfrm>
            <a:off x="3721680" y="1636560"/>
            <a:ext cx="474804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B07CFF"/>
                </a:solidFill>
                <a:effectLst/>
                <a:uFillTx/>
                <a:latin typeface="JetBrains Mono"/>
                <a:ea typeface="JetBrains Mono"/>
              </a:rPr>
              <a:t>$ where does this sit in the toolchain</a:t>
            </a:r>
            <a:endParaRPr lang="en-US" sz="1200" b="0" u="none" strike="noStrike">
              <a:solidFill>
                <a:srgbClr val="FFFFFF"/>
              </a:solidFill>
              <a:effectLst/>
              <a:uFillTx/>
              <a:latin typeface="Arial"/>
            </a:endParaRPr>
          </a:p>
        </p:txBody>
      </p:sp>
      <p:sp>
        <p:nvSpPr>
          <p:cNvPr id="167" name="PlaceHolder 1"/>
          <p:cNvSpPr>
            <a:spLocks noGrp="1"/>
          </p:cNvSpPr>
          <p:nvPr>
            <p:ph type="title"/>
          </p:nvPr>
        </p:nvSpPr>
        <p:spPr>
          <a:xfrm>
            <a:off x="1643040" y="2078280"/>
            <a:ext cx="8904960" cy="429840"/>
          </a:xfrm>
          <a:prstGeom prst="rect">
            <a:avLst/>
          </a:prstGeom>
          <a:noFill/>
          <a:ln w="0">
            <a:noFill/>
          </a:ln>
        </p:spPr>
        <p:txBody>
          <a:bodyPr lIns="0" tIns="0" rIns="0" bIns="0" anchor="t">
            <a:normAutofit/>
          </a:bodyPr>
          <a:p>
            <a:pPr indent="0" algn="ctr" defTabSz="914400">
              <a:lnSpc>
                <a:spcPts val="3189"/>
              </a:lnSpc>
              <a:buNone/>
              <a:tabLst>
                <a:tab pos="0" algn="l"/>
              </a:tabLst>
            </a:pPr>
            <a:r>
              <a:rPr lang="en-US" sz="2900" b="1" u="none" spc="-51" strike="noStrike">
                <a:solidFill>
                  <a:srgbClr val="F2FFFF"/>
                </a:solidFill>
                <a:effectLst/>
                <a:uFillTx/>
                <a:latin typeface="Space Grotesk"/>
                <a:ea typeface="Space Grotesk"/>
              </a:rPr>
              <a:t>Not a scanner replacement. A missing step.</a:t>
            </a:r>
            <a:endParaRPr lang="en-US" sz="2900" b="0" u="none" strike="noStrike">
              <a:solidFill>
                <a:schemeClr val="lt1"/>
              </a:solidFill>
              <a:effectLst/>
              <a:uFillTx/>
              <a:latin typeface="JetBrains Mono"/>
            </a:endParaRPr>
          </a:p>
        </p:txBody>
      </p:sp>
      <p:sp>
        <p:nvSpPr>
          <p:cNvPr id="168" name="Shape 2"/>
          <p:cNvSpPr/>
          <p:nvPr/>
        </p:nvSpPr>
        <p:spPr>
          <a:xfrm>
            <a:off x="704880" y="2718360"/>
            <a:ext cx="3409560" cy="1550880"/>
          </a:xfrm>
          <a:prstGeom prst="roundRect">
            <a:avLst>
              <a:gd name="adj" fmla="val 9412"/>
            </a:avLst>
          </a:prstGeom>
          <a:solidFill>
            <a:srgbClr val="05070F"/>
          </a:solidFill>
          <a:ln w="12700">
            <a:solidFill>
              <a:srgbClr val="6F82A8"/>
            </a:solidFill>
            <a:round/>
          </a:ln>
          <a:effectLst>
            <a:outerShdw algn="bl" blurRad="127080" dir="0" dist="0" kx="0" ky="0" rotWithShape="0" sx="100000" sy="100000">
              <a:srgbClr val="6F82A8">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69" name="Text 3"/>
          <p:cNvSpPr/>
          <p:nvPr/>
        </p:nvSpPr>
        <p:spPr>
          <a:xfrm>
            <a:off x="857880" y="2896920"/>
            <a:ext cx="3196440" cy="220320"/>
          </a:xfrm>
          <a:prstGeom prst="rect">
            <a:avLst/>
          </a:prstGeom>
          <a:noFill/>
          <a:ln w="0">
            <a:noFill/>
          </a:ln>
        </p:spPr>
        <p:style>
          <a:lnRef idx="0"/>
          <a:fillRef idx="0"/>
          <a:effectRef idx="0"/>
          <a:fontRef idx="minor"/>
        </p:style>
        <p:txBody>
          <a:bodyPr lIns="0" tIns="0" rIns="0" bIns="0" anchor="t">
            <a:normAutofit/>
          </a:bodyPr>
          <a:p>
            <a:pPr defTabSz="914400">
              <a:lnSpc>
                <a:spcPts val="1539"/>
              </a:lnSpc>
              <a:tabLst>
                <a:tab pos="0" algn="l"/>
              </a:tabLst>
            </a:pPr>
            <a:r>
              <a:rPr lang="en-US" sz="1100" b="0" u="none" spc="51" strike="noStrike">
                <a:solidFill>
                  <a:srgbClr val="9AA6D1"/>
                </a:solidFill>
                <a:effectLst/>
                <a:uFillTx/>
                <a:latin typeface="JetBrains Mono"/>
                <a:ea typeface="JetBrains Mono"/>
              </a:rPr>
              <a:t>STATIC</a:t>
            </a:r>
            <a:endParaRPr lang="en-US" sz="1100" b="0" u="none" strike="noStrike">
              <a:solidFill>
                <a:srgbClr val="FFFFFF"/>
              </a:solidFill>
              <a:effectLst/>
              <a:uFillTx/>
              <a:latin typeface="Arial"/>
            </a:endParaRPr>
          </a:p>
        </p:txBody>
      </p:sp>
      <p:sp>
        <p:nvSpPr>
          <p:cNvPr id="170" name="Text 4"/>
          <p:cNvSpPr/>
          <p:nvPr/>
        </p:nvSpPr>
        <p:spPr>
          <a:xfrm>
            <a:off x="857880" y="3168720"/>
            <a:ext cx="3196440" cy="29124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1" u="none" strike="noStrike">
                <a:solidFill>
                  <a:srgbClr val="E8F7FF"/>
                </a:solidFill>
                <a:effectLst/>
                <a:uFillTx/>
                <a:latin typeface="Space Grotesk"/>
                <a:ea typeface="Space Grotesk"/>
              </a:rPr>
              <a:t>MobSF &amp; friends</a:t>
            </a:r>
            <a:endParaRPr lang="en-US" sz="1500" b="0" u="none" strike="noStrike">
              <a:solidFill>
                <a:srgbClr val="FFFFFF"/>
              </a:solidFill>
              <a:effectLst/>
              <a:uFillTx/>
              <a:latin typeface="Arial"/>
            </a:endParaRPr>
          </a:p>
        </p:txBody>
      </p:sp>
      <p:sp>
        <p:nvSpPr>
          <p:cNvPr id="171" name="Text 5"/>
          <p:cNvSpPr/>
          <p:nvPr/>
        </p:nvSpPr>
        <p:spPr>
          <a:xfrm>
            <a:off x="857880" y="3511800"/>
            <a:ext cx="3196440" cy="401760"/>
          </a:xfrm>
          <a:prstGeom prst="rect">
            <a:avLst/>
          </a:prstGeom>
          <a:noFill/>
          <a:ln w="0">
            <a:noFill/>
          </a:ln>
        </p:spPr>
        <p:style>
          <a:lnRef idx="0"/>
          <a:fillRef idx="0"/>
          <a:effectRef idx="0"/>
          <a:fontRef idx="minor"/>
        </p:style>
        <p:txBody>
          <a:bodyPr lIns="0" tIns="0" rIns="0" bIns="0" anchor="t">
            <a:normAutofit/>
          </a:bodyPr>
          <a:p>
            <a:pPr defTabSz="914400">
              <a:lnSpc>
                <a:spcPts val="1485"/>
              </a:lnSpc>
              <a:tabLst>
                <a:tab pos="0" algn="l"/>
              </a:tabLst>
            </a:pPr>
            <a:r>
              <a:rPr lang="en-US" sz="1100" b="0" u="none" strike="noStrike">
                <a:solidFill>
                  <a:srgbClr val="8FA3C7"/>
                </a:solidFill>
                <a:effectLst/>
                <a:uFillTx/>
                <a:latin typeface="Space Grotesk"/>
                <a:ea typeface="Space Grotesk"/>
              </a:rPr>
              <a:t>Fast, broad, reads the APK. Every finding stays "potential." It never ran.</a:t>
            </a:r>
            <a:endParaRPr lang="en-US" sz="1100" b="0" u="none" strike="noStrike">
              <a:solidFill>
                <a:srgbClr val="FFFFFF"/>
              </a:solidFill>
              <a:effectLst/>
              <a:uFillTx/>
              <a:latin typeface="Arial"/>
            </a:endParaRPr>
          </a:p>
        </p:txBody>
      </p:sp>
      <p:sp>
        <p:nvSpPr>
          <p:cNvPr id="172" name="Text 6"/>
          <p:cNvSpPr/>
          <p:nvPr/>
        </p:nvSpPr>
        <p:spPr>
          <a:xfrm>
            <a:off x="4159440" y="3298680"/>
            <a:ext cx="179280" cy="415800"/>
          </a:xfrm>
          <a:prstGeom prst="rect">
            <a:avLst/>
          </a:prstGeom>
          <a:noFill/>
          <a:ln w="0">
            <a:noFill/>
          </a:ln>
        </p:spPr>
        <p:style>
          <a:lnRef idx="0"/>
          <a:fillRef idx="0"/>
          <a:effectRef idx="0"/>
          <a:fontRef idx="minor"/>
        </p:style>
        <p:txBody>
          <a:bodyPr lIns="0" tIns="0" rIns="0" bIns="0" anchor="t">
            <a:normAutofit/>
          </a:bodyPr>
          <a:p>
            <a:pPr algn="ctr" defTabSz="914400">
              <a:lnSpc>
                <a:spcPts val="3081"/>
              </a:lnSpc>
              <a:tabLst>
                <a:tab pos="0" algn="l"/>
              </a:tabLst>
            </a:pPr>
            <a:r>
              <a:rPr lang="en-US" sz="2200" b="0" u="none" strike="noStrike">
                <a:solidFill>
                  <a:srgbClr val="6F82A8"/>
                </a:solidFill>
                <a:effectLst/>
                <a:uFillTx/>
                <a:latin typeface="Space Grotesk"/>
                <a:ea typeface="Space Grotesk"/>
              </a:rPr>
              <a:t>›</a:t>
            </a:r>
            <a:endParaRPr lang="en-US" sz="2200" b="0" u="none" strike="noStrike">
              <a:solidFill>
                <a:srgbClr val="FFFFFF"/>
              </a:solidFill>
              <a:effectLst/>
              <a:uFillTx/>
              <a:latin typeface="Arial"/>
            </a:endParaRPr>
          </a:p>
        </p:txBody>
      </p:sp>
      <p:sp>
        <p:nvSpPr>
          <p:cNvPr id="173" name="Shape 7"/>
          <p:cNvSpPr/>
          <p:nvPr/>
        </p:nvSpPr>
        <p:spPr>
          <a:xfrm>
            <a:off x="4386960" y="2721600"/>
            <a:ext cx="3417120" cy="1544760"/>
          </a:xfrm>
          <a:prstGeom prst="roundRect">
            <a:avLst>
              <a:gd name="adj" fmla="val 9245"/>
            </a:avLst>
          </a:prstGeom>
          <a:solidFill>
            <a:srgbClr val="05070F"/>
          </a:solidFill>
          <a:ln w="19050">
            <a:solidFill>
              <a:srgbClr val="39FF9C"/>
            </a:solidFill>
            <a:round/>
          </a:ln>
          <a:effectLst>
            <a:outerShdw algn="bl" blurRad="228600" dir="0" dist="0" kx="0" ky="0" rotWithShape="0" sx="100000" sy="100000">
              <a:srgbClr val="39FF9C">
                <a:alpha val="5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74" name="Text 8"/>
          <p:cNvSpPr/>
          <p:nvPr/>
        </p:nvSpPr>
        <p:spPr>
          <a:xfrm>
            <a:off x="4543920" y="2904120"/>
            <a:ext cx="3196440" cy="220320"/>
          </a:xfrm>
          <a:prstGeom prst="rect">
            <a:avLst/>
          </a:prstGeom>
          <a:noFill/>
          <a:ln w="0">
            <a:noFill/>
          </a:ln>
        </p:spPr>
        <p:style>
          <a:lnRef idx="0"/>
          <a:fillRef idx="0"/>
          <a:effectRef idx="0"/>
          <a:fontRef idx="minor"/>
        </p:style>
        <p:txBody>
          <a:bodyPr lIns="0" tIns="0" rIns="0" bIns="0" anchor="t">
            <a:normAutofit/>
          </a:bodyPr>
          <a:p>
            <a:pPr defTabSz="914400">
              <a:lnSpc>
                <a:spcPts val="1539"/>
              </a:lnSpc>
              <a:tabLst>
                <a:tab pos="0" algn="l"/>
              </a:tabLst>
            </a:pPr>
            <a:r>
              <a:rPr lang="en-US" sz="1100" b="0" u="none" spc="51" strike="noStrike">
                <a:solidFill>
                  <a:srgbClr val="39FF9C"/>
                </a:solidFill>
                <a:effectLst/>
                <a:uFillTx/>
                <a:latin typeface="JetBrains Mono"/>
                <a:ea typeface="JetBrains Mono"/>
              </a:rPr>
              <a:t>PROVE OR DELETE</a:t>
            </a:r>
            <a:endParaRPr lang="en-US" sz="1100" b="0" u="none" strike="noStrike">
              <a:solidFill>
                <a:srgbClr val="FFFFFF"/>
              </a:solidFill>
              <a:effectLst/>
              <a:uFillTx/>
              <a:latin typeface="Arial"/>
            </a:endParaRPr>
          </a:p>
        </p:txBody>
      </p:sp>
      <p:sp>
        <p:nvSpPr>
          <p:cNvPr id="175" name="Text 9"/>
          <p:cNvSpPr/>
          <p:nvPr/>
        </p:nvSpPr>
        <p:spPr>
          <a:xfrm>
            <a:off x="4543920" y="3175920"/>
            <a:ext cx="3196440" cy="29124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1" u="none" strike="noStrike">
                <a:solidFill>
                  <a:srgbClr val="F2FFFF"/>
                </a:solidFill>
                <a:effectLst/>
                <a:uFillTx/>
                <a:latin typeface="Space Grotesk"/>
                <a:ea typeface="Space Grotesk"/>
              </a:rPr>
              <a:t>HookSmith</a:t>
            </a:r>
            <a:endParaRPr lang="en-US" sz="1500" b="0" u="none" strike="noStrike">
              <a:solidFill>
                <a:srgbClr val="FFFFFF"/>
              </a:solidFill>
              <a:effectLst/>
              <a:uFillTx/>
              <a:latin typeface="Arial"/>
            </a:endParaRPr>
          </a:p>
        </p:txBody>
      </p:sp>
      <p:sp>
        <p:nvSpPr>
          <p:cNvPr id="176" name="Text 10"/>
          <p:cNvSpPr/>
          <p:nvPr/>
        </p:nvSpPr>
        <p:spPr>
          <a:xfrm>
            <a:off x="4543920" y="3519000"/>
            <a:ext cx="3196440" cy="590400"/>
          </a:xfrm>
          <a:prstGeom prst="rect">
            <a:avLst/>
          </a:prstGeom>
          <a:noFill/>
          <a:ln w="0">
            <a:noFill/>
          </a:ln>
        </p:spPr>
        <p:style>
          <a:lnRef idx="0"/>
          <a:fillRef idx="0"/>
          <a:effectRef idx="0"/>
          <a:fontRef idx="minor"/>
        </p:style>
        <p:txBody>
          <a:bodyPr lIns="0" tIns="0" rIns="0" bIns="0" anchor="t">
            <a:normAutofit/>
          </a:bodyPr>
          <a:p>
            <a:pPr defTabSz="914400">
              <a:lnSpc>
                <a:spcPts val="1485"/>
              </a:lnSpc>
              <a:tabLst>
                <a:tab pos="0" algn="l"/>
              </a:tabLst>
            </a:pPr>
            <a:r>
              <a:rPr lang="en-US" sz="1100" b="0" u="none" strike="noStrike">
                <a:solidFill>
                  <a:srgbClr val="E8F7FF"/>
                </a:solidFill>
                <a:effectLst/>
                <a:uFillTx/>
                <a:latin typeface="Space Grotesk"/>
                <a:ea typeface="Space Grotesk"/>
              </a:rPr>
              <a:t>Takes those findings, writes the hook, runs it, hands back a verdict in minutes. Not a scanner result. Not a full pentest.</a:t>
            </a:r>
            <a:endParaRPr lang="en-US" sz="1100" b="0" u="none" strike="noStrike">
              <a:solidFill>
                <a:srgbClr val="FFFFFF"/>
              </a:solidFill>
              <a:effectLst/>
              <a:uFillTx/>
              <a:latin typeface="Arial"/>
            </a:endParaRPr>
          </a:p>
        </p:txBody>
      </p:sp>
      <p:sp>
        <p:nvSpPr>
          <p:cNvPr id="177" name="Text 11"/>
          <p:cNvSpPr/>
          <p:nvPr/>
        </p:nvSpPr>
        <p:spPr>
          <a:xfrm>
            <a:off x="7852680" y="3298680"/>
            <a:ext cx="179280" cy="415800"/>
          </a:xfrm>
          <a:prstGeom prst="rect">
            <a:avLst/>
          </a:prstGeom>
          <a:noFill/>
          <a:ln w="0">
            <a:noFill/>
          </a:ln>
        </p:spPr>
        <p:style>
          <a:lnRef idx="0"/>
          <a:fillRef idx="0"/>
          <a:effectRef idx="0"/>
          <a:fontRef idx="minor"/>
        </p:style>
        <p:txBody>
          <a:bodyPr lIns="0" tIns="0" rIns="0" bIns="0" anchor="t">
            <a:normAutofit/>
          </a:bodyPr>
          <a:p>
            <a:pPr algn="ctr" defTabSz="914400">
              <a:lnSpc>
                <a:spcPts val="3081"/>
              </a:lnSpc>
              <a:tabLst>
                <a:tab pos="0" algn="l"/>
              </a:tabLst>
            </a:pPr>
            <a:r>
              <a:rPr lang="en-US" sz="2200" b="0" u="none" strike="noStrike">
                <a:solidFill>
                  <a:srgbClr val="6F82A8"/>
                </a:solidFill>
                <a:effectLst/>
                <a:uFillTx/>
                <a:latin typeface="Space Grotesk"/>
                <a:ea typeface="Space Grotesk"/>
              </a:rPr>
              <a:t>›</a:t>
            </a:r>
            <a:endParaRPr lang="en-US" sz="2200" b="0" u="none" strike="noStrike">
              <a:solidFill>
                <a:srgbClr val="FFFFFF"/>
              </a:solidFill>
              <a:effectLst/>
              <a:uFillTx/>
              <a:latin typeface="Arial"/>
            </a:endParaRPr>
          </a:p>
        </p:txBody>
      </p:sp>
      <p:sp>
        <p:nvSpPr>
          <p:cNvPr id="178" name="Shape 12"/>
          <p:cNvSpPr/>
          <p:nvPr/>
        </p:nvSpPr>
        <p:spPr>
          <a:xfrm>
            <a:off x="8076960" y="2718360"/>
            <a:ext cx="3409560" cy="1550880"/>
          </a:xfrm>
          <a:prstGeom prst="roundRect">
            <a:avLst>
              <a:gd name="adj" fmla="val 9412"/>
            </a:avLst>
          </a:prstGeom>
          <a:solidFill>
            <a:srgbClr val="05070F"/>
          </a:solidFill>
          <a:ln w="12700">
            <a:solidFill>
              <a:srgbClr val="6F82A8"/>
            </a:solidFill>
            <a:round/>
          </a:ln>
          <a:effectLst>
            <a:outerShdw algn="bl" blurRad="127080" dir="0" dist="0" kx="0" ky="0" rotWithShape="0" sx="100000" sy="100000">
              <a:srgbClr val="6F82A8">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179" name="Text 13"/>
          <p:cNvSpPr/>
          <p:nvPr/>
        </p:nvSpPr>
        <p:spPr>
          <a:xfrm>
            <a:off x="8229960" y="2896920"/>
            <a:ext cx="3196440" cy="220320"/>
          </a:xfrm>
          <a:prstGeom prst="rect">
            <a:avLst/>
          </a:prstGeom>
          <a:noFill/>
          <a:ln w="0">
            <a:noFill/>
          </a:ln>
        </p:spPr>
        <p:style>
          <a:lnRef idx="0"/>
          <a:fillRef idx="0"/>
          <a:effectRef idx="0"/>
          <a:fontRef idx="minor"/>
        </p:style>
        <p:txBody>
          <a:bodyPr lIns="0" tIns="0" rIns="0" bIns="0" anchor="t">
            <a:normAutofit/>
          </a:bodyPr>
          <a:p>
            <a:pPr defTabSz="914400">
              <a:lnSpc>
                <a:spcPts val="1539"/>
              </a:lnSpc>
              <a:tabLst>
                <a:tab pos="0" algn="l"/>
              </a:tabLst>
            </a:pPr>
            <a:r>
              <a:rPr lang="en-US" sz="1100" b="0" u="none" spc="51" strike="noStrike">
                <a:solidFill>
                  <a:srgbClr val="9AA6D1"/>
                </a:solidFill>
                <a:effectLst/>
                <a:uFillTx/>
                <a:latin typeface="JetBrains Mono"/>
                <a:ea typeface="JetBrains Mono"/>
              </a:rPr>
              <a:t>DYNAMIC / MANUAL</a:t>
            </a:r>
            <a:endParaRPr lang="en-US" sz="1100" b="0" u="none" strike="noStrike">
              <a:solidFill>
                <a:srgbClr val="FFFFFF"/>
              </a:solidFill>
              <a:effectLst/>
              <a:uFillTx/>
              <a:latin typeface="Arial"/>
            </a:endParaRPr>
          </a:p>
        </p:txBody>
      </p:sp>
      <p:sp>
        <p:nvSpPr>
          <p:cNvPr id="180" name="Text 14"/>
          <p:cNvSpPr/>
          <p:nvPr/>
        </p:nvSpPr>
        <p:spPr>
          <a:xfrm>
            <a:off x="8229960" y="3168720"/>
            <a:ext cx="3196440" cy="291240"/>
          </a:xfrm>
          <a:prstGeom prst="rect">
            <a:avLst/>
          </a:prstGeom>
          <a:noFill/>
          <a:ln w="0">
            <a:noFill/>
          </a:ln>
        </p:spPr>
        <p:style>
          <a:lnRef idx="0"/>
          <a:fillRef idx="0"/>
          <a:effectRef idx="0"/>
          <a:fontRef idx="minor"/>
        </p:style>
        <p:txBody>
          <a:bodyPr lIns="0" tIns="0" rIns="0" bIns="0" anchor="t">
            <a:normAutofit/>
          </a:bodyPr>
          <a:p>
            <a:pPr defTabSz="914400">
              <a:lnSpc>
                <a:spcPts val="2100"/>
              </a:lnSpc>
              <a:tabLst>
                <a:tab pos="0" algn="l"/>
              </a:tabLst>
            </a:pPr>
            <a:r>
              <a:rPr lang="en-US" sz="1500" b="1" u="none" strike="noStrike">
                <a:solidFill>
                  <a:srgbClr val="E8F7FF"/>
                </a:solidFill>
                <a:effectLst/>
                <a:uFillTx/>
                <a:latin typeface="Space Grotesk"/>
                <a:ea typeface="Space Grotesk"/>
              </a:rPr>
              <a:t>A pentester, by hand</a:t>
            </a:r>
            <a:endParaRPr lang="en-US" sz="1500" b="0" u="none" strike="noStrike">
              <a:solidFill>
                <a:srgbClr val="FFFFFF"/>
              </a:solidFill>
              <a:effectLst/>
              <a:uFillTx/>
              <a:latin typeface="Arial"/>
            </a:endParaRPr>
          </a:p>
        </p:txBody>
      </p:sp>
      <p:sp>
        <p:nvSpPr>
          <p:cNvPr id="181" name="Text 15"/>
          <p:cNvSpPr/>
          <p:nvPr/>
        </p:nvSpPr>
        <p:spPr>
          <a:xfrm>
            <a:off x="8229960" y="3511800"/>
            <a:ext cx="3196440" cy="401760"/>
          </a:xfrm>
          <a:prstGeom prst="rect">
            <a:avLst/>
          </a:prstGeom>
          <a:noFill/>
          <a:ln w="0">
            <a:noFill/>
          </a:ln>
        </p:spPr>
        <p:style>
          <a:lnRef idx="0"/>
          <a:fillRef idx="0"/>
          <a:effectRef idx="0"/>
          <a:fontRef idx="minor"/>
        </p:style>
        <p:txBody>
          <a:bodyPr lIns="0" tIns="0" rIns="0" bIns="0" anchor="t">
            <a:normAutofit/>
          </a:bodyPr>
          <a:p>
            <a:pPr defTabSz="914400">
              <a:lnSpc>
                <a:spcPts val="1485"/>
              </a:lnSpc>
              <a:tabLst>
                <a:tab pos="0" algn="l"/>
              </a:tabLst>
            </a:pPr>
            <a:r>
              <a:rPr lang="en-US" sz="1100" b="0" u="none" strike="noStrike">
                <a:solidFill>
                  <a:srgbClr val="8FA3C7"/>
                </a:solidFill>
                <a:effectLst/>
                <a:uFillTx/>
                <a:latin typeface="Space Grotesk"/>
                <a:ea typeface="Space Grotesk"/>
              </a:rPr>
              <a:t>Business logic, chained exploits, judgment calls. The parts a verdict can't automate.</a:t>
            </a:r>
            <a:endParaRPr lang="en-US" sz="1100" b="0" u="none" strike="noStrike">
              <a:solidFill>
                <a:srgbClr val="FFFFFF"/>
              </a:solidFill>
              <a:effectLst/>
              <a:uFillTx/>
              <a:latin typeface="Arial"/>
            </a:endParaRPr>
          </a:p>
        </p:txBody>
      </p:sp>
      <p:sp>
        <p:nvSpPr>
          <p:cNvPr id="182" name="Text 16"/>
          <p:cNvSpPr/>
          <p:nvPr/>
        </p:nvSpPr>
        <p:spPr>
          <a:xfrm>
            <a:off x="1190520" y="4505400"/>
            <a:ext cx="9810000" cy="487080"/>
          </a:xfrm>
          <a:prstGeom prst="rect">
            <a:avLst/>
          </a:prstGeom>
          <a:noFill/>
          <a:ln w="0">
            <a:noFill/>
          </a:ln>
        </p:spPr>
        <p:style>
          <a:lnRef idx="0"/>
          <a:fillRef idx="0"/>
          <a:effectRef idx="0"/>
          <a:fontRef idx="minor"/>
        </p:style>
        <p:txBody>
          <a:bodyPr lIns="0" tIns="0" rIns="0" bIns="0" anchor="t">
            <a:normAutofit/>
          </a:bodyPr>
          <a:p>
            <a:pPr algn="ctr" defTabSz="914400">
              <a:lnSpc>
                <a:spcPts val="1820"/>
              </a:lnSpc>
              <a:tabLst>
                <a:tab pos="0" algn="l"/>
              </a:tabLst>
            </a:pPr>
            <a:r>
              <a:rPr lang="en-US" sz="1400" b="0" u="none" strike="noStrike">
                <a:solidFill>
                  <a:srgbClr val="C9D1F5"/>
                </a:solidFill>
                <a:effectLst/>
                <a:uFillTx/>
                <a:latin typeface="Space Grotesk"/>
                <a:ea typeface="Space Grotesk"/>
              </a:rPr>
              <a:t>It clears the obvious pile automatically so the hours a pentester actually has go to the findings that need a human.</a:t>
            </a:r>
            <a:endParaRPr lang="en-US" sz="1400" b="0" u="none" strike="noStrike">
              <a:solidFill>
                <a:srgbClr val="FFFFFF"/>
              </a:solidFill>
              <a:effectLst/>
              <a:uFillTx/>
              <a:latin typeface="Arial"/>
            </a:endParaRPr>
          </a:p>
        </p:txBody>
      </p:sp>
      <p:sp>
        <p:nvSpPr>
          <p:cNvPr id="183"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184"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11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5" name="Image 0" descr="Neon wave background"/>
          <p:cNvPicPr/>
          <p:nvPr/>
        </p:nvPicPr>
        <p:blipFill>
          <a:blip r:embed="rId1"/>
          <a:stretch/>
        </p:blipFill>
        <p:spPr>
          <a:xfrm>
            <a:off x="0" y="0"/>
            <a:ext cx="12191400" cy="6857280"/>
          </a:xfrm>
          <a:prstGeom prst="rect">
            <a:avLst/>
          </a:prstGeom>
          <a:noFill/>
          <a:ln w="0">
            <a:noFill/>
          </a:ln>
        </p:spPr>
      </p:pic>
      <p:sp>
        <p:nvSpPr>
          <p:cNvPr id="186"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187"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12 / 51</a:t>
            </a:r>
            <a:endParaRPr lang="en-US" sz="1200" b="0" u="none" strike="noStrike">
              <a:solidFill>
                <a:srgbClr val="FFFFFF"/>
              </a:solidFill>
              <a:effectLst/>
              <a:uFillTx/>
              <a:latin typeface="Arial"/>
            </a:endParaRPr>
          </a:p>
        </p:txBody>
      </p:sp>
      <p:sp>
        <p:nvSpPr>
          <p:cNvPr id="188"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cat agenda.txt</a:t>
            </a:r>
            <a:endParaRPr lang="en-US" sz="1300" b="0" u="none" strike="noStrike">
              <a:solidFill>
                <a:srgbClr val="FFFFFF"/>
              </a:solidFill>
              <a:effectLst/>
              <a:uFillTx/>
              <a:latin typeface="Arial"/>
            </a:endParaRPr>
          </a:p>
        </p:txBody>
      </p:sp>
      <p:sp>
        <p:nvSpPr>
          <p:cNvPr id="189"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Forty minutes, four demos</a:t>
            </a:r>
            <a:endParaRPr lang="en-US" sz="3200" b="0" u="none" strike="noStrike">
              <a:solidFill>
                <a:srgbClr val="FFFFFF"/>
              </a:solidFill>
              <a:effectLst/>
              <a:uFillTx/>
              <a:latin typeface="Arial"/>
            </a:endParaRPr>
          </a:p>
        </p:txBody>
      </p:sp>
      <p:sp>
        <p:nvSpPr>
          <p:cNvPr id="190" name="TextBox 23"/>
          <p:cNvSpPr/>
          <p:nvPr/>
        </p:nvSpPr>
        <p:spPr>
          <a:xfrm>
            <a:off x="1299960" y="1500120"/>
            <a:ext cx="1299240" cy="3992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00" b="0" u="none" strike="noStrike">
                <a:solidFill>
                  <a:srgbClr val="6F82A8"/>
                </a:solidFill>
                <a:effectLst/>
                <a:uFillTx/>
                <a:latin typeface="JetBrains Mono"/>
              </a:rPr>
              <a:t>00:00</a:t>
            </a:r>
            <a:endParaRPr lang="en-US" sz="1600" b="0" u="none" strike="noStrike">
              <a:solidFill>
                <a:srgbClr val="FFFFFF"/>
              </a:solidFill>
              <a:effectLst/>
              <a:uFillTx/>
              <a:latin typeface="Arial"/>
            </a:endParaRPr>
          </a:p>
        </p:txBody>
      </p:sp>
      <p:sp>
        <p:nvSpPr>
          <p:cNvPr id="191" name="TextBox 24"/>
          <p:cNvSpPr/>
          <p:nvPr/>
        </p:nvSpPr>
        <p:spPr>
          <a:xfrm>
            <a:off x="2700000" y="1479960"/>
            <a:ext cx="8299440" cy="3592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2100" b="1" u="none" strike="noStrike">
                <a:solidFill>
                  <a:srgbClr val="F2FFFF"/>
                </a:solidFill>
                <a:effectLst/>
                <a:uFillTx/>
                <a:latin typeface="Space Grotesk"/>
              </a:rPr>
              <a:t>The problem and the four verdicts</a:t>
            </a:r>
            <a:endParaRPr lang="en-US" sz="2100" b="0" u="none" strike="noStrike">
              <a:solidFill>
                <a:srgbClr val="FFFFFF"/>
              </a:solidFill>
              <a:effectLst/>
              <a:uFillTx/>
              <a:latin typeface="Arial"/>
            </a:endParaRPr>
          </a:p>
        </p:txBody>
      </p:sp>
      <p:sp>
        <p:nvSpPr>
          <p:cNvPr id="192" name="TextBox 25"/>
          <p:cNvSpPr/>
          <p:nvPr/>
        </p:nvSpPr>
        <p:spPr>
          <a:xfrm>
            <a:off x="2700000" y="1789920"/>
            <a:ext cx="82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why "potential" ends up in the report</a:t>
            </a:r>
            <a:endParaRPr lang="en-US" sz="1300" b="0" u="none" strike="noStrike">
              <a:solidFill>
                <a:srgbClr val="FFFFFF"/>
              </a:solidFill>
              <a:effectLst/>
              <a:uFillTx/>
              <a:latin typeface="Arial"/>
            </a:endParaRPr>
          </a:p>
        </p:txBody>
      </p:sp>
      <p:sp>
        <p:nvSpPr>
          <p:cNvPr id="193" name="TextBox 26"/>
          <p:cNvSpPr/>
          <p:nvPr/>
        </p:nvSpPr>
        <p:spPr>
          <a:xfrm>
            <a:off x="1299960" y="2009880"/>
            <a:ext cx="1299240" cy="3992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00" b="0" u="none" strike="noStrike">
                <a:solidFill>
                  <a:srgbClr val="6F82A8"/>
                </a:solidFill>
                <a:effectLst/>
                <a:uFillTx/>
                <a:latin typeface="JetBrains Mono"/>
              </a:rPr>
              <a:t>07:00</a:t>
            </a:r>
            <a:endParaRPr lang="en-US" sz="1600" b="0" u="none" strike="noStrike">
              <a:solidFill>
                <a:srgbClr val="FFFFFF"/>
              </a:solidFill>
              <a:effectLst/>
              <a:uFillTx/>
              <a:latin typeface="Arial"/>
            </a:endParaRPr>
          </a:p>
        </p:txBody>
      </p:sp>
      <p:sp>
        <p:nvSpPr>
          <p:cNvPr id="194" name="TextBox 27"/>
          <p:cNvSpPr/>
          <p:nvPr/>
        </p:nvSpPr>
        <p:spPr>
          <a:xfrm>
            <a:off x="2700000" y="1990080"/>
            <a:ext cx="8299440" cy="3592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2100" b="1" u="none" strike="noStrike">
                <a:solidFill>
                  <a:srgbClr val="00F0FF"/>
                </a:solidFill>
                <a:effectLst/>
                <a:uFillTx/>
                <a:latin typeface="Space Grotesk"/>
              </a:rPr>
              <a:t>Demo 1 · Prove a real app</a:t>
            </a:r>
            <a:endParaRPr lang="en-US" sz="2100" b="0" u="none" strike="noStrike">
              <a:solidFill>
                <a:srgbClr val="FFFFFF"/>
              </a:solidFill>
              <a:effectLst/>
              <a:uFillTx/>
              <a:latin typeface="Arial"/>
            </a:endParaRPr>
          </a:p>
        </p:txBody>
      </p:sp>
      <p:sp>
        <p:nvSpPr>
          <p:cNvPr id="195" name="TextBox 28"/>
          <p:cNvSpPr/>
          <p:nvPr/>
        </p:nvSpPr>
        <p:spPr>
          <a:xfrm>
            <a:off x="2700000" y="2300040"/>
            <a:ext cx="82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OWASP UnCrackable L1, hardcoded AES key</a:t>
            </a:r>
            <a:endParaRPr lang="en-US" sz="1300" b="0" u="none" strike="noStrike">
              <a:solidFill>
                <a:srgbClr val="FFFFFF"/>
              </a:solidFill>
              <a:effectLst/>
              <a:uFillTx/>
              <a:latin typeface="Arial"/>
            </a:endParaRPr>
          </a:p>
        </p:txBody>
      </p:sp>
      <p:sp>
        <p:nvSpPr>
          <p:cNvPr id="196" name="TextBox 29"/>
          <p:cNvSpPr/>
          <p:nvPr/>
        </p:nvSpPr>
        <p:spPr>
          <a:xfrm>
            <a:off x="1299960" y="2520000"/>
            <a:ext cx="1299240" cy="3992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00" b="0" u="none" strike="noStrike">
                <a:solidFill>
                  <a:srgbClr val="6F82A8"/>
                </a:solidFill>
                <a:effectLst/>
                <a:uFillTx/>
                <a:latin typeface="JetBrains Mono"/>
              </a:rPr>
              <a:t>13:00</a:t>
            </a:r>
            <a:endParaRPr lang="en-US" sz="1600" b="0" u="none" strike="noStrike">
              <a:solidFill>
                <a:srgbClr val="FFFFFF"/>
              </a:solidFill>
              <a:effectLst/>
              <a:uFillTx/>
              <a:latin typeface="Arial"/>
            </a:endParaRPr>
          </a:p>
        </p:txBody>
      </p:sp>
      <p:sp>
        <p:nvSpPr>
          <p:cNvPr id="197" name="TextBox 30"/>
          <p:cNvSpPr/>
          <p:nvPr/>
        </p:nvSpPr>
        <p:spPr>
          <a:xfrm>
            <a:off x="2700000" y="2499840"/>
            <a:ext cx="8299440" cy="3592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2100" b="1" u="none" strike="noStrike">
                <a:solidFill>
                  <a:srgbClr val="B07CFF"/>
                </a:solidFill>
                <a:effectLst/>
                <a:uFillTx/>
                <a:latin typeface="Space Grotesk"/>
              </a:rPr>
              <a:t>How it's built</a:t>
            </a:r>
            <a:endParaRPr lang="en-US" sz="2100" b="0" u="none" strike="noStrike">
              <a:solidFill>
                <a:srgbClr val="FFFFFF"/>
              </a:solidFill>
              <a:effectLst/>
              <a:uFillTx/>
              <a:latin typeface="Arial"/>
            </a:endParaRPr>
          </a:p>
        </p:txBody>
      </p:sp>
      <p:sp>
        <p:nvSpPr>
          <p:cNvPr id="198" name="TextBox 31"/>
          <p:cNvSpPr/>
          <p:nvPr/>
        </p:nvSpPr>
        <p:spPr>
          <a:xfrm>
            <a:off x="2700000" y="2810160"/>
            <a:ext cx="82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LangGraph, the validator, the signal library, real code</a:t>
            </a:r>
            <a:endParaRPr lang="en-US" sz="1300" b="0" u="none" strike="noStrike">
              <a:solidFill>
                <a:srgbClr val="FFFFFF"/>
              </a:solidFill>
              <a:effectLst/>
              <a:uFillTx/>
              <a:latin typeface="Arial"/>
            </a:endParaRPr>
          </a:p>
        </p:txBody>
      </p:sp>
      <p:sp>
        <p:nvSpPr>
          <p:cNvPr id="199" name="TextBox 32"/>
          <p:cNvSpPr/>
          <p:nvPr/>
        </p:nvSpPr>
        <p:spPr>
          <a:xfrm>
            <a:off x="1299960" y="3030120"/>
            <a:ext cx="1299240" cy="3992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00" b="0" u="none" strike="noStrike">
                <a:solidFill>
                  <a:srgbClr val="6F82A8"/>
                </a:solidFill>
                <a:effectLst/>
                <a:uFillTx/>
                <a:latin typeface="JetBrains Mono"/>
              </a:rPr>
              <a:t>23:00</a:t>
            </a:r>
            <a:endParaRPr lang="en-US" sz="1600" b="0" u="none" strike="noStrike">
              <a:solidFill>
                <a:srgbClr val="FFFFFF"/>
              </a:solidFill>
              <a:effectLst/>
              <a:uFillTx/>
              <a:latin typeface="Arial"/>
            </a:endParaRPr>
          </a:p>
        </p:txBody>
      </p:sp>
      <p:sp>
        <p:nvSpPr>
          <p:cNvPr id="200" name="TextBox 33"/>
          <p:cNvSpPr/>
          <p:nvPr/>
        </p:nvSpPr>
        <p:spPr>
          <a:xfrm>
            <a:off x="2700000" y="3009960"/>
            <a:ext cx="8299440" cy="3592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2100" b="1" u="none" strike="noStrike">
                <a:solidFill>
                  <a:srgbClr val="00F0FF"/>
                </a:solidFill>
                <a:effectLst/>
                <a:uFillTx/>
                <a:latin typeface="Space Grotesk"/>
              </a:rPr>
              <a:t>Demo 2 · TLS: trust-all vs strict</a:t>
            </a:r>
            <a:endParaRPr lang="en-US" sz="2100" b="0" u="none" strike="noStrike">
              <a:solidFill>
                <a:srgbClr val="FFFFFF"/>
              </a:solidFill>
              <a:effectLst/>
              <a:uFillTx/>
              <a:latin typeface="Arial"/>
            </a:endParaRPr>
          </a:p>
        </p:txBody>
      </p:sp>
      <p:sp>
        <p:nvSpPr>
          <p:cNvPr id="201" name="TextBox 34"/>
          <p:cNvSpPr/>
          <p:nvPr/>
        </p:nvSpPr>
        <p:spPr>
          <a:xfrm>
            <a:off x="2700000" y="3319920"/>
            <a:ext cx="82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MITM-grade findings, and the false positives next to them</a:t>
            </a:r>
            <a:endParaRPr lang="en-US" sz="1300" b="0" u="none" strike="noStrike">
              <a:solidFill>
                <a:srgbClr val="FFFFFF"/>
              </a:solidFill>
              <a:effectLst/>
              <a:uFillTx/>
              <a:latin typeface="Arial"/>
            </a:endParaRPr>
          </a:p>
        </p:txBody>
      </p:sp>
      <p:sp>
        <p:nvSpPr>
          <p:cNvPr id="202" name="TextBox 35"/>
          <p:cNvSpPr/>
          <p:nvPr/>
        </p:nvSpPr>
        <p:spPr>
          <a:xfrm>
            <a:off x="1299960" y="3539880"/>
            <a:ext cx="1299240" cy="3992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00" b="0" u="none" strike="noStrike">
                <a:solidFill>
                  <a:srgbClr val="6F82A8"/>
                </a:solidFill>
                <a:effectLst/>
                <a:uFillTx/>
                <a:latin typeface="JetBrains Mono"/>
              </a:rPr>
              <a:t>28:00</a:t>
            </a:r>
            <a:endParaRPr lang="en-US" sz="1600" b="0" u="none" strike="noStrike">
              <a:solidFill>
                <a:srgbClr val="FFFFFF"/>
              </a:solidFill>
              <a:effectLst/>
              <a:uFillTx/>
              <a:latin typeface="Arial"/>
            </a:endParaRPr>
          </a:p>
        </p:txBody>
      </p:sp>
      <p:sp>
        <p:nvSpPr>
          <p:cNvPr id="203" name="TextBox 36"/>
          <p:cNvSpPr/>
          <p:nvPr/>
        </p:nvSpPr>
        <p:spPr>
          <a:xfrm>
            <a:off x="2700000" y="3520080"/>
            <a:ext cx="8299440" cy="3592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2100" b="1" u="none" strike="noStrike">
                <a:solidFill>
                  <a:srgbClr val="00F0FF"/>
                </a:solidFill>
                <a:effectLst/>
                <a:uFillTx/>
                <a:latin typeface="Space Grotesk"/>
              </a:rPr>
              <a:t>Demo 3 · A scanner PDF becomes a test plan</a:t>
            </a:r>
            <a:endParaRPr lang="en-US" sz="2100" b="0" u="none" strike="noStrike">
              <a:solidFill>
                <a:srgbClr val="FFFFFF"/>
              </a:solidFill>
              <a:effectLst/>
              <a:uFillTx/>
              <a:latin typeface="Arial"/>
            </a:endParaRPr>
          </a:p>
        </p:txBody>
      </p:sp>
      <p:sp>
        <p:nvSpPr>
          <p:cNvPr id="204" name="TextBox 37"/>
          <p:cNvSpPr/>
          <p:nvPr/>
        </p:nvSpPr>
        <p:spPr>
          <a:xfrm>
            <a:off x="2700000" y="3830040"/>
            <a:ext cx="82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five read-only agents, planning only</a:t>
            </a:r>
            <a:endParaRPr lang="en-US" sz="1300" b="0" u="none" strike="noStrike">
              <a:solidFill>
                <a:srgbClr val="FFFFFF"/>
              </a:solidFill>
              <a:effectLst/>
              <a:uFillTx/>
              <a:latin typeface="Arial"/>
            </a:endParaRPr>
          </a:p>
        </p:txBody>
      </p:sp>
      <p:sp>
        <p:nvSpPr>
          <p:cNvPr id="205" name="TextBox 38"/>
          <p:cNvSpPr/>
          <p:nvPr/>
        </p:nvSpPr>
        <p:spPr>
          <a:xfrm>
            <a:off x="1299960" y="4050000"/>
            <a:ext cx="1299240" cy="3992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00" b="0" u="none" strike="noStrike">
                <a:solidFill>
                  <a:srgbClr val="6F82A8"/>
                </a:solidFill>
                <a:effectLst/>
                <a:uFillTx/>
                <a:latin typeface="JetBrains Mono"/>
              </a:rPr>
              <a:t>32:00</a:t>
            </a:r>
            <a:endParaRPr lang="en-US" sz="1600" b="0" u="none" strike="noStrike">
              <a:solidFill>
                <a:srgbClr val="FFFFFF"/>
              </a:solidFill>
              <a:effectLst/>
              <a:uFillTx/>
              <a:latin typeface="Arial"/>
            </a:endParaRPr>
          </a:p>
        </p:txBody>
      </p:sp>
      <p:sp>
        <p:nvSpPr>
          <p:cNvPr id="206" name="TextBox 39"/>
          <p:cNvSpPr/>
          <p:nvPr/>
        </p:nvSpPr>
        <p:spPr>
          <a:xfrm>
            <a:off x="2700000" y="4029840"/>
            <a:ext cx="8299440" cy="3592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2100" b="1" u="none" strike="noStrike">
                <a:solidFill>
                  <a:srgbClr val="00F0FF"/>
                </a:solidFill>
                <a:effectLst/>
                <a:uFillTx/>
                <a:latin typeface="Space Grotesk"/>
              </a:rPr>
              <a:t>Demo 4 · Fail the build on a verdict</a:t>
            </a:r>
            <a:endParaRPr lang="en-US" sz="2100" b="0" u="none" strike="noStrike">
              <a:solidFill>
                <a:srgbClr val="FFFFFF"/>
              </a:solidFill>
              <a:effectLst/>
              <a:uFillTx/>
              <a:latin typeface="Arial"/>
            </a:endParaRPr>
          </a:p>
        </p:txBody>
      </p:sp>
      <p:sp>
        <p:nvSpPr>
          <p:cNvPr id="207" name="TextBox 40"/>
          <p:cNvSpPr/>
          <p:nvPr/>
        </p:nvSpPr>
        <p:spPr>
          <a:xfrm>
            <a:off x="2700000" y="4340160"/>
            <a:ext cx="82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--expect and --fail-on as a CI gate</a:t>
            </a:r>
            <a:endParaRPr lang="en-US" sz="1300" b="0" u="none" strike="noStrike">
              <a:solidFill>
                <a:srgbClr val="FFFFFF"/>
              </a:solidFill>
              <a:effectLst/>
              <a:uFillTx/>
              <a:latin typeface="Arial"/>
            </a:endParaRPr>
          </a:p>
        </p:txBody>
      </p:sp>
      <p:sp>
        <p:nvSpPr>
          <p:cNvPr id="208" name="TextBox 41"/>
          <p:cNvSpPr/>
          <p:nvPr/>
        </p:nvSpPr>
        <p:spPr>
          <a:xfrm>
            <a:off x="1299960" y="4560120"/>
            <a:ext cx="1299240" cy="3992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00" b="0" u="none" strike="noStrike">
                <a:solidFill>
                  <a:srgbClr val="6F82A8"/>
                </a:solidFill>
                <a:effectLst/>
                <a:uFillTx/>
                <a:latin typeface="JetBrains Mono"/>
              </a:rPr>
              <a:t>36:00</a:t>
            </a:r>
            <a:endParaRPr lang="en-US" sz="1600" b="0" u="none" strike="noStrike">
              <a:solidFill>
                <a:srgbClr val="FFFFFF"/>
              </a:solidFill>
              <a:effectLst/>
              <a:uFillTx/>
              <a:latin typeface="Arial"/>
            </a:endParaRPr>
          </a:p>
        </p:txBody>
      </p:sp>
      <p:sp>
        <p:nvSpPr>
          <p:cNvPr id="209" name="TextBox 42"/>
          <p:cNvSpPr/>
          <p:nvPr/>
        </p:nvSpPr>
        <p:spPr>
          <a:xfrm>
            <a:off x="2700000" y="4539960"/>
            <a:ext cx="8299440" cy="3592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2100" b="1" u="none" strike="noStrike">
                <a:solidFill>
                  <a:srgbClr val="F2FFFF"/>
                </a:solidFill>
                <a:effectLst/>
                <a:uFillTx/>
                <a:latin typeface="Space Grotesk"/>
              </a:rPr>
              <a:t>Where it breaks, and Monday</a:t>
            </a:r>
            <a:endParaRPr lang="en-US" sz="2100" b="0" u="none" strike="noStrike">
              <a:solidFill>
                <a:srgbClr val="FFFFFF"/>
              </a:solidFill>
              <a:effectLst/>
              <a:uFillTx/>
              <a:latin typeface="Arial"/>
            </a:endParaRPr>
          </a:p>
        </p:txBody>
      </p:sp>
      <p:sp>
        <p:nvSpPr>
          <p:cNvPr id="210" name="TextBox 43"/>
          <p:cNvSpPr/>
          <p:nvPr/>
        </p:nvSpPr>
        <p:spPr>
          <a:xfrm>
            <a:off x="2700000" y="4849920"/>
            <a:ext cx="82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R8, native code, iOS: the honest list</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1" name="Image 0" descr="Neon wave background"/>
          <p:cNvPicPr/>
          <p:nvPr/>
        </p:nvPicPr>
        <p:blipFill>
          <a:blip r:embed="rId1"/>
          <a:stretch/>
        </p:blipFill>
        <p:spPr>
          <a:xfrm>
            <a:off x="0" y="0"/>
            <a:ext cx="12191400" cy="6857280"/>
          </a:xfrm>
          <a:prstGeom prst="rect">
            <a:avLst/>
          </a:prstGeom>
          <a:noFill/>
          <a:ln w="0">
            <a:noFill/>
          </a:ln>
        </p:spPr>
      </p:pic>
      <p:sp>
        <p:nvSpPr>
          <p:cNvPr id="212"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213"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13 / 51</a:t>
            </a:r>
            <a:endParaRPr lang="en-US" sz="1200" b="0" u="none" strike="noStrike">
              <a:solidFill>
                <a:srgbClr val="FFFFFF"/>
              </a:solidFill>
              <a:effectLst/>
              <a:uFillTx/>
              <a:latin typeface="Arial"/>
            </a:endParaRPr>
          </a:p>
        </p:txBody>
      </p:sp>
      <p:sp>
        <p:nvSpPr>
          <p:cNvPr id="214"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hooksmith scan --apk UnCrackable-Level1.apk</a:t>
            </a:r>
            <a:endParaRPr lang="en-US" sz="1300" b="0" u="none" strike="noStrike">
              <a:solidFill>
                <a:srgbClr val="FFFFFF"/>
              </a:solidFill>
              <a:effectLst/>
              <a:uFillTx/>
              <a:latin typeface="Arial"/>
            </a:endParaRPr>
          </a:p>
        </p:txBody>
      </p:sp>
      <p:sp>
        <p:nvSpPr>
          <p:cNvPr id="215"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Demo 1 · APK in, findings out</a:t>
            </a:r>
            <a:endParaRPr lang="en-US" sz="3200" b="0" u="none" strike="noStrike">
              <a:solidFill>
                <a:srgbClr val="FFFFFF"/>
              </a:solidFill>
              <a:effectLst/>
              <a:uFillTx/>
              <a:latin typeface="Arial"/>
            </a:endParaRPr>
          </a:p>
        </p:txBody>
      </p:sp>
      <p:pic>
        <p:nvPicPr>
          <p:cNvPr id="216" name="">
            <a:hlinkClick r:id="" action="ppaction://media"/>
          </p:cNvPr>
          <p:cNvPicPr/>
          <p:nvPr>
            <a:videoFile r:link="rId2"/>
            <p:extLst>
              <p:ext uri="{DAA4B4D4-6D71-4841-9C94-3DE7FCFB9230}">
                <p14:media r:embed="rId3"/>
              </p:ext>
            </p:extLst>
          </p:nvPr>
        </p:nvPicPr>
        <p:blipFill>
          <a:blip r:embed="rId4"/>
          <a:stretch>
            <a:fillRect/>
          </a:stretch>
        </p:blipFill>
        <p:spPr>
          <a:xfrm>
            <a:off x="2495880" y="1500120"/>
            <a:ext cx="7199280" cy="4061160"/>
          </a:xfrm>
          <a:prstGeom prst="rect">
            <a:avLst/>
          </a:prstGeom>
          <a:ln w="0">
            <a:noFill/>
          </a:ln>
        </p:spPr>
      </p:pic>
    </p:spTree>
  </p:cSld>
  <mc:AlternateContent>
    <mc:Choice Requires="p14">
      <p:transition spd="slow" p14:dur="2000"/>
    </mc:Choice>
    <mc:Fallback>
      <p:transition spd="slow"/>
    </mc:Fallback>
  </mc:AlternateContent>
  <p:timing>
    <p:tnLst>
      <p:par>
        <p:cTn id="2" dur="indefinite" restart="never" nodeType="tmRoot">
          <p:childTnLst>
            <p:video>
              <p:cMediaNode>
                <p:cTn>
                  <p:stCondLst>
                    <p:cond delay="indefinite"/>
                  </p:stCondLst>
                </p:cTn>
                <p:tgtEl>
                  <p:spTgt spid="216"/>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7" name="Image 0" descr="Neon wave background"/>
          <p:cNvPicPr/>
          <p:nvPr/>
        </p:nvPicPr>
        <p:blipFill>
          <a:blip r:embed="rId1"/>
          <a:stretch/>
        </p:blipFill>
        <p:spPr>
          <a:xfrm>
            <a:off x="0" y="0"/>
            <a:ext cx="12191400" cy="6857280"/>
          </a:xfrm>
          <a:prstGeom prst="rect">
            <a:avLst/>
          </a:prstGeom>
          <a:noFill/>
          <a:ln w="0">
            <a:noFill/>
          </a:ln>
        </p:spPr>
      </p:pic>
      <p:sp>
        <p:nvSpPr>
          <p:cNvPr id="218" name="Text 0"/>
          <p:cNvSpPr/>
          <p:nvPr/>
        </p:nvSpPr>
        <p:spPr>
          <a:xfrm>
            <a:off x="3459600" y="764280"/>
            <a:ext cx="918000" cy="634320"/>
          </a:xfrm>
          <a:prstGeom prst="rect">
            <a:avLst/>
          </a:prstGeom>
          <a:noFill/>
          <a:ln w="0">
            <a:noFill/>
          </a:ln>
        </p:spPr>
        <p:style>
          <a:lnRef idx="0"/>
          <a:fillRef idx="0"/>
          <a:effectRef idx="0"/>
          <a:fontRef idx="minor"/>
        </p:style>
        <p:txBody>
          <a:bodyPr lIns="0" tIns="0" rIns="0" bIns="0" anchor="t">
            <a:normAutofit/>
          </a:bodyPr>
          <a:p>
            <a:pPr algn="ctr" defTabSz="914400">
              <a:lnSpc>
                <a:spcPts val="4799"/>
              </a:lnSpc>
              <a:tabLst>
                <a:tab pos="0" algn="l"/>
              </a:tabLst>
            </a:pPr>
            <a:r>
              <a:rPr lang="en-US" sz="4800" b="1" u="none" strike="noStrike">
                <a:solidFill>
                  <a:srgbClr val="FF2BD6"/>
                </a:solidFill>
                <a:effectLst/>
                <a:uFillTx/>
                <a:latin typeface="Space Grotesk"/>
                <a:ea typeface="Space Grotesk"/>
              </a:rPr>
              <a:t>01</a:t>
            </a:r>
            <a:endParaRPr lang="en-US" sz="4800" b="0" u="none" strike="noStrike">
              <a:solidFill>
                <a:srgbClr val="FFFFFF"/>
              </a:solidFill>
              <a:effectLst/>
              <a:uFillTx/>
              <a:latin typeface="Arial"/>
            </a:endParaRPr>
          </a:p>
        </p:txBody>
      </p:sp>
      <p:sp>
        <p:nvSpPr>
          <p:cNvPr id="219" name="Text 1"/>
          <p:cNvSpPr/>
          <p:nvPr/>
        </p:nvSpPr>
        <p:spPr>
          <a:xfrm>
            <a:off x="4505040" y="742680"/>
            <a:ext cx="4274280" cy="220320"/>
          </a:xfrm>
          <a:prstGeom prst="rect">
            <a:avLst/>
          </a:prstGeom>
          <a:noFill/>
          <a:ln w="0">
            <a:noFill/>
          </a:ln>
        </p:spPr>
        <p:style>
          <a:lnRef idx="0"/>
          <a:fillRef idx="0"/>
          <a:effectRef idx="0"/>
          <a:fontRef idx="minor"/>
        </p:style>
        <p:txBody>
          <a:bodyPr lIns="0" tIns="0" rIns="0" bIns="0" anchor="t">
            <a:normAutofit/>
          </a:bodyPr>
          <a:p>
            <a:pPr defTabSz="914400">
              <a:lnSpc>
                <a:spcPts val="1539"/>
              </a:lnSpc>
              <a:tabLst>
                <a:tab pos="0" algn="l"/>
              </a:tabLst>
            </a:pPr>
            <a:r>
              <a:rPr lang="en-US" sz="1100" b="0" u="none" spc="99" strike="noStrike">
                <a:solidFill>
                  <a:srgbClr val="FFE600"/>
                </a:solidFill>
                <a:effectLst/>
                <a:uFillTx/>
                <a:latin typeface="JetBrains Mono"/>
                <a:ea typeface="JetBrains Mono"/>
              </a:rPr>
              <a:t>VIDEO · ON DEVICE</a:t>
            </a:r>
            <a:endParaRPr lang="en-US" sz="1100" b="0" u="none" strike="noStrike">
              <a:solidFill>
                <a:srgbClr val="FFFFFF"/>
              </a:solidFill>
              <a:effectLst/>
              <a:uFillTx/>
              <a:latin typeface="Arial"/>
            </a:endParaRPr>
          </a:p>
        </p:txBody>
      </p:sp>
      <p:sp>
        <p:nvSpPr>
          <p:cNvPr id="220" name="PlaceHolder 1"/>
          <p:cNvSpPr>
            <a:spLocks noGrp="1"/>
          </p:cNvSpPr>
          <p:nvPr>
            <p:ph type="title"/>
          </p:nvPr>
        </p:nvSpPr>
        <p:spPr>
          <a:xfrm>
            <a:off x="4505040" y="976320"/>
            <a:ext cx="4979880" cy="44388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pc="-51" strike="noStrike">
                <a:solidFill>
                  <a:srgbClr val="F2FFFF"/>
                </a:solidFill>
                <a:effectLst/>
                <a:uFillTx/>
                <a:latin typeface="Space Grotesk"/>
                <a:ea typeface="Space Grotesk"/>
              </a:rPr>
              <a:t>Prove a real app</a:t>
            </a:r>
            <a:endParaRPr lang="en-US" sz="3000" b="0" u="none" strike="noStrike">
              <a:solidFill>
                <a:schemeClr val="lt1"/>
              </a:solidFill>
              <a:effectLst/>
              <a:uFillTx/>
              <a:latin typeface="JetBrains Mono"/>
            </a:endParaRPr>
          </a:p>
        </p:txBody>
      </p:sp>
      <p:sp>
        <p:nvSpPr>
          <p:cNvPr id="221" name="Shape 3"/>
          <p:cNvSpPr/>
          <p:nvPr/>
        </p:nvSpPr>
        <p:spPr>
          <a:xfrm>
            <a:off x="819000" y="1534680"/>
            <a:ext cx="10553040" cy="615240"/>
          </a:xfrm>
          <a:prstGeom prst="roundRect">
            <a:avLst>
              <a:gd name="adj" fmla="val 19588"/>
            </a:avLst>
          </a:prstGeom>
          <a:solidFill>
            <a:srgbClr val="000000"/>
          </a:solidFill>
          <a:ln w="12700">
            <a:solidFill>
              <a:srgbClr val="FF2BD6"/>
            </a:solidFill>
            <a:round/>
          </a:ln>
          <a:effectLst>
            <a:outerShdw algn="bl" blurRad="190440" dir="0" dist="0" kx="0" ky="0" rotWithShape="0" sx="100000" sy="100000">
              <a:srgbClr val="FF2BD6">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22" name="Text 4"/>
          <p:cNvSpPr/>
          <p:nvPr/>
        </p:nvSpPr>
        <p:spPr>
          <a:xfrm>
            <a:off x="870840" y="1675080"/>
            <a:ext cx="10449360" cy="359640"/>
          </a:xfrm>
          <a:prstGeom prst="rect">
            <a:avLst/>
          </a:prstGeom>
          <a:noFill/>
          <a:ln w="0">
            <a:noFill/>
          </a:ln>
        </p:spPr>
        <p:style>
          <a:lnRef idx="0"/>
          <a:fillRef idx="0"/>
          <a:effectRef idx="0"/>
          <a:fontRef idx="minor"/>
        </p:style>
        <p:txBody>
          <a:bodyPr lIns="0" tIns="0" rIns="0" bIns="0" anchor="t">
            <a:normAutofit/>
          </a:bodyPr>
          <a:p>
            <a:pPr algn="ctr" defTabSz="914400">
              <a:lnSpc>
                <a:spcPts val="1335"/>
              </a:lnSpc>
              <a:tabLst>
                <a:tab pos="0" algn="l"/>
              </a:tabLst>
            </a:pPr>
            <a:r>
              <a:rPr lang="en-US" sz="960" b="0" u="none" strike="noStrike">
                <a:solidFill>
                  <a:srgbClr val="39FF9C"/>
                </a:solidFill>
                <a:effectLst/>
                <a:uFillTx/>
                <a:latin typeface="JetBrains Mono"/>
                <a:ea typeface="JetBrains Mono"/>
              </a:rPr>
              <a:t>$ </a:t>
            </a:r>
            <a:r>
              <a:rPr lang="en-US" sz="960" b="0" u="none" strike="noStrike">
                <a:solidFill>
                  <a:srgbClr val="E8F7FF"/>
                </a:solidFill>
                <a:effectLst/>
                <a:uFillTx/>
                <a:latin typeface="JetBrains Mono"/>
                <a:ea typeface="JetBrains Mono"/>
              </a:rPr>
              <a:t>hooksmith run --report findings.json --apk UnCrackable-Level1.apk --package owasp.mstg.uncrackable1 --executor avd --provider template --record</a:t>
            </a:r>
            <a:endParaRPr lang="en-US" sz="960" b="0" u="none" strike="noStrike">
              <a:solidFill>
                <a:srgbClr val="FFFFFF"/>
              </a:solidFill>
              <a:effectLst/>
              <a:uFillTx/>
              <a:latin typeface="Arial"/>
            </a:endParaRPr>
          </a:p>
        </p:txBody>
      </p:sp>
      <p:sp>
        <p:nvSpPr>
          <p:cNvPr id="223" name="Shape 6"/>
          <p:cNvSpPr/>
          <p:nvPr/>
        </p:nvSpPr>
        <p:spPr>
          <a:xfrm>
            <a:off x="5187600" y="5015880"/>
            <a:ext cx="1815840" cy="359280"/>
          </a:xfrm>
          <a:prstGeom prst="roundRect">
            <a:avLst>
              <a:gd name="adj" fmla="val 50000"/>
            </a:avLst>
          </a:prstGeom>
          <a:noFill/>
          <a:ln w="12700">
            <a:solidFill>
              <a:srgbClr val="39FF9C"/>
            </a:solidFill>
            <a:round/>
          </a:ln>
          <a:effectLst>
            <a:outerShdw algn="bl" blurRad="165240" dir="0" dist="0" kx="0" ky="0" rotWithShape="0" sx="100000" sy="100000">
              <a:srgbClr val="39FF9C">
                <a:alpha val="5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24" name="Text 7"/>
          <p:cNvSpPr/>
          <p:nvPr/>
        </p:nvSpPr>
        <p:spPr>
          <a:xfrm>
            <a:off x="5391720" y="5079960"/>
            <a:ext cx="1407960" cy="255960"/>
          </a:xfrm>
          <a:prstGeom prst="rect">
            <a:avLst/>
          </a:prstGeom>
          <a:noFill/>
          <a:ln w="0">
            <a:noFill/>
          </a:ln>
        </p:spPr>
        <p:style>
          <a:lnRef idx="0"/>
          <a:fillRef idx="0"/>
          <a:effectRef idx="0"/>
          <a:fontRef idx="minor"/>
        </p:style>
        <p:txBody>
          <a:bodyPr lIns="0" tIns="0" rIns="0" bIns="0" anchor="t">
            <a:normAutofit/>
          </a:bodyPr>
          <a:p>
            <a:pPr algn="ctr" defTabSz="914400">
              <a:lnSpc>
                <a:spcPts val="1860"/>
              </a:lnSpc>
              <a:tabLst>
                <a:tab pos="0" algn="l"/>
              </a:tabLst>
            </a:pPr>
            <a:r>
              <a:rPr lang="en-US" sz="1330" b="1" u="none" strike="noStrike">
                <a:solidFill>
                  <a:srgbClr val="39FF9C"/>
                </a:solidFill>
                <a:effectLst/>
                <a:uFillTx/>
                <a:latin typeface="JetBrains Mono"/>
                <a:ea typeface="JetBrains Mono"/>
              </a:rPr>
              <a:t>PROVEN</a:t>
            </a:r>
            <a:endParaRPr lang="en-US" sz="1330" b="0" u="none" strike="noStrike">
              <a:solidFill>
                <a:srgbClr val="FFFFFF"/>
              </a:solidFill>
              <a:effectLst/>
              <a:uFillTx/>
              <a:latin typeface="Arial"/>
            </a:endParaRPr>
          </a:p>
        </p:txBody>
      </p:sp>
      <p:sp>
        <p:nvSpPr>
          <p:cNvPr id="225" name="Text 8"/>
          <p:cNvSpPr/>
          <p:nvPr/>
        </p:nvSpPr>
        <p:spPr>
          <a:xfrm>
            <a:off x="4998240" y="5420160"/>
            <a:ext cx="2194560" cy="243360"/>
          </a:xfrm>
          <a:prstGeom prst="rect">
            <a:avLst/>
          </a:prstGeom>
          <a:noFill/>
          <a:ln w="0">
            <a:noFill/>
          </a:ln>
        </p:spPr>
        <p:style>
          <a:lnRef idx="0"/>
          <a:fillRef idx="0"/>
          <a:effectRef idx="0"/>
          <a:fontRef idx="minor"/>
        </p:style>
        <p:txBody>
          <a:bodyPr lIns="0" tIns="0" rIns="0" bIns="0" anchor="t">
            <a:normAutofit/>
          </a:bodyPr>
          <a:p>
            <a:pPr algn="ctr" defTabSz="914400">
              <a:lnSpc>
                <a:spcPts val="1718"/>
              </a:lnSpc>
              <a:tabLst>
                <a:tab pos="0" algn="l"/>
              </a:tabLst>
            </a:pPr>
            <a:r>
              <a:rPr lang="en-US" sz="1220" b="0" u="none" strike="noStrike">
                <a:solidFill>
                  <a:srgbClr val="E8F7FF"/>
                </a:solidFill>
                <a:effectLst/>
                <a:uFillTx/>
                <a:latin typeface="Space Grotesk"/>
                <a:ea typeface="Space Grotesk"/>
              </a:rPr>
              <a:t>16-byte key · </a:t>
            </a:r>
            <a:r>
              <a:rPr lang="en-US" sz="1220" b="0" u="none" strike="noStrike">
                <a:solidFill>
                  <a:srgbClr val="39FF9C"/>
                </a:solidFill>
                <a:effectLst/>
                <a:uFillTx/>
                <a:latin typeface="Space Grotesk"/>
                <a:ea typeface="Space Grotesk"/>
              </a:rPr>
              <a:t>8d12…73cc</a:t>
            </a:r>
            <a:endParaRPr lang="en-US" sz="1220" b="0" u="none" strike="noStrike">
              <a:solidFill>
                <a:srgbClr val="FFFFFF"/>
              </a:solidFill>
              <a:effectLst/>
              <a:uFillTx/>
              <a:latin typeface="Arial"/>
            </a:endParaRPr>
          </a:p>
        </p:txBody>
      </p:sp>
      <p:sp>
        <p:nvSpPr>
          <p:cNvPr id="226" name="Text 9"/>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227" name="Text 10"/>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14 / 51</a:t>
            </a:r>
            <a:endParaRPr lang="en-US" sz="1200" b="0" u="none" strike="noStrike">
              <a:solidFill>
                <a:srgbClr val="FFFFFF"/>
              </a:solidFill>
              <a:effectLst/>
              <a:uFillTx/>
              <a:latin typeface="Arial"/>
            </a:endParaRPr>
          </a:p>
        </p:txBody>
      </p:sp>
      <p:pic>
        <p:nvPicPr>
          <p:cNvPr id="228" name="">
            <a:hlinkClick r:id="" action="ppaction://media"/>
          </p:cNvPr>
          <p:cNvPicPr/>
          <p:nvPr>
            <a:videoFile r:link="rId2"/>
            <p:extLst>
              <p:ext uri="{DAA4B4D4-6D71-4841-9C94-3DE7FCFB9230}">
                <p14:media r:embed="rId3"/>
              </p:ext>
            </p:extLst>
          </p:nvPr>
        </p:nvPicPr>
        <p:blipFill>
          <a:blip r:embed="rId4"/>
          <a:stretch>
            <a:fillRect/>
          </a:stretch>
        </p:blipFill>
        <p:spPr>
          <a:xfrm>
            <a:off x="5510880" y="2300040"/>
            <a:ext cx="1169280" cy="2599200"/>
          </a:xfrm>
          <a:prstGeom prst="rect">
            <a:avLst/>
          </a:prstGeom>
          <a:ln w="0">
            <a:noFill/>
          </a:ln>
        </p:spPr>
      </p:pic>
    </p:spTree>
  </p:cSld>
  <mc:AlternateContent>
    <mc:Choice Requires="p14">
      <p:transition spd="slow" p14:dur="2000"/>
    </mc:Choice>
    <mc:Fallback>
      <p:transition spd="slow"/>
    </mc:Fallback>
  </mc:AlternateContent>
  <p:timing>
    <p:tnLst>
      <p:par>
        <p:cTn id="3" dur="indefinite" restart="never" nodeType="tmRoot">
          <p:childTnLst>
            <p:video>
              <p:cMediaNode>
                <p:cTn>
                  <p:stCondLst>
                    <p:cond delay="indefinite"/>
                  </p:stCondLst>
                </p:cTn>
                <p:tgtEl>
                  <p:spTgt spid="228"/>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9" name="Image 0" descr="Neon wave background"/>
          <p:cNvPicPr/>
          <p:nvPr/>
        </p:nvPicPr>
        <p:blipFill>
          <a:blip r:embed="rId1"/>
          <a:stretch/>
        </p:blipFill>
        <p:spPr>
          <a:xfrm>
            <a:off x="0" y="0"/>
            <a:ext cx="12191400" cy="6857280"/>
          </a:xfrm>
          <a:prstGeom prst="rect">
            <a:avLst/>
          </a:prstGeom>
          <a:noFill/>
          <a:ln w="0">
            <a:noFill/>
          </a:ln>
        </p:spPr>
      </p:pic>
      <p:sp>
        <p:nvSpPr>
          <p:cNvPr id="230"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231"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15 / 51</a:t>
            </a:r>
            <a:endParaRPr lang="en-US" sz="1200" b="0" u="none" strike="noStrike">
              <a:solidFill>
                <a:srgbClr val="FFFFFF"/>
              </a:solidFill>
              <a:effectLst/>
              <a:uFillTx/>
              <a:latin typeface="Arial"/>
            </a:endParaRPr>
          </a:p>
        </p:txBody>
      </p:sp>
      <p:pic>
        <p:nvPicPr>
          <p:cNvPr id="232" name="">
            <a:hlinkClick r:id="" action="ppaction://media"/>
          </p:cNvPr>
          <p:cNvPicPr/>
          <p:nvPr>
            <a:videoFile r:link="rId2"/>
            <p:extLst>
              <p:ext uri="{DAA4B4D4-6D71-4841-9C94-3DE7FCFB9230}">
                <p14:media r:embed="rId3"/>
              </p:ext>
            </p:extLst>
          </p:nvPr>
        </p:nvPicPr>
        <p:blipFill>
          <a:blip r:embed="rId4"/>
          <a:stretch>
            <a:fillRect/>
          </a:stretch>
        </p:blipFill>
        <p:spPr>
          <a:xfrm>
            <a:off x="1095840" y="479880"/>
            <a:ext cx="9999720" cy="5624640"/>
          </a:xfrm>
          <a:prstGeom prst="rect">
            <a:avLst/>
          </a:prstGeom>
          <a:ln w="0">
            <a:noFill/>
          </a:ln>
        </p:spPr>
      </p:pic>
    </p:spTree>
  </p:cSld>
  <mc:AlternateContent>
    <mc:Choice Requires="p14">
      <p:transition spd="slow" p14:dur="2000"/>
    </mc:Choice>
    <mc:Fallback>
      <p:transition spd="slow"/>
    </mc:Fallback>
  </mc:AlternateContent>
  <p:timing>
    <p:tnLst>
      <p:par>
        <p:cTn id="4" dur="indefinite" restart="never" nodeType="tmRoot">
          <p:childTnLst>
            <p:video>
              <p:cMediaNode>
                <p:cTn>
                  <p:stCondLst>
                    <p:cond delay="indefinite"/>
                  </p:stCondLst>
                </p:cTn>
                <p:tgtEl>
                  <p:spTgt spid="232"/>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30308"/>
        </a:solidFill>
      </p:bgPr>
    </p:bg>
    <p:spTree>
      <p:nvGrpSpPr>
        <p:cNvPr id="1" name=""/>
        <p:cNvGrpSpPr/>
        <p:nvPr/>
      </p:nvGrpSpPr>
      <p:grpSpPr>
        <a:xfrm>
          <a:off x="0" y="0"/>
          <a:ext cx="0" cy="0"/>
          <a:chOff x="0" y="0"/>
          <a:chExt cx="0" cy="0"/>
        </a:xfrm>
      </p:grpSpPr>
      <p:pic>
        <p:nvPicPr>
          <p:cNvPr id="233" name="Image 0" descr="Neon wave background"/>
          <p:cNvPicPr/>
          <p:nvPr/>
        </p:nvPicPr>
        <p:blipFill>
          <a:blip r:embed="rId1"/>
          <a:stretch/>
        </p:blipFill>
        <p:spPr>
          <a:xfrm>
            <a:off x="0" y="0"/>
            <a:ext cx="12191400" cy="6857280"/>
          </a:xfrm>
          <a:prstGeom prst="rect">
            <a:avLst/>
          </a:prstGeom>
          <a:noFill/>
          <a:ln w="0">
            <a:noFill/>
          </a:ln>
        </p:spPr>
      </p:pic>
      <p:sp>
        <p:nvSpPr>
          <p:cNvPr id="234" name="Text 0"/>
          <p:cNvSpPr/>
          <p:nvPr/>
        </p:nvSpPr>
        <p:spPr>
          <a:xfrm>
            <a:off x="406440" y="304920"/>
            <a:ext cx="688680" cy="482040"/>
          </a:xfrm>
          <a:prstGeom prst="rect">
            <a:avLst/>
          </a:prstGeom>
          <a:noFill/>
          <a:ln w="0">
            <a:noFill/>
          </a:ln>
        </p:spPr>
        <p:style>
          <a:lnRef idx="0"/>
          <a:fillRef idx="0"/>
          <a:effectRef idx="0"/>
          <a:fontRef idx="minor"/>
        </p:style>
        <p:txBody>
          <a:bodyPr lIns="0" tIns="0" rIns="0" bIns="0" anchor="t">
            <a:normAutofit/>
          </a:bodyPr>
          <a:p>
            <a:pPr defTabSz="914400">
              <a:lnSpc>
                <a:spcPts val="3600"/>
              </a:lnSpc>
              <a:tabLst>
                <a:tab pos="0" algn="l"/>
              </a:tabLst>
            </a:pPr>
            <a:r>
              <a:rPr lang="en-US" sz="3600" b="1" u="none" strike="noStrike">
                <a:solidFill>
                  <a:srgbClr val="FF2BD6"/>
                </a:solidFill>
                <a:effectLst/>
                <a:uFillTx/>
                <a:latin typeface="Space Grotesk"/>
                <a:ea typeface="Space Grotesk"/>
              </a:rPr>
              <a:t>01</a:t>
            </a:r>
            <a:endParaRPr lang="en-US" sz="3600" b="0" u="none" strike="noStrike">
              <a:solidFill>
                <a:srgbClr val="FFFFFF"/>
              </a:solidFill>
              <a:effectLst/>
              <a:uFillTx/>
              <a:latin typeface="Arial"/>
            </a:endParaRPr>
          </a:p>
        </p:txBody>
      </p:sp>
      <p:sp>
        <p:nvSpPr>
          <p:cNvPr id="235" name="Text 1"/>
          <p:cNvSpPr/>
          <p:nvPr/>
        </p:nvSpPr>
        <p:spPr>
          <a:xfrm>
            <a:off x="1184040" y="482760"/>
            <a:ext cx="24987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99" strike="noStrike">
                <a:solidFill>
                  <a:srgbClr val="FFE600"/>
                </a:solidFill>
                <a:effectLst/>
                <a:uFillTx/>
                <a:latin typeface="JetBrains Mono"/>
                <a:ea typeface="JetBrains Mono"/>
              </a:rPr>
              <a:t>LIVE ON THE EMULATOR</a:t>
            </a:r>
            <a:endParaRPr lang="en-US" sz="1200" b="0" u="none" strike="noStrike">
              <a:solidFill>
                <a:srgbClr val="FFFFFF"/>
              </a:solidFill>
              <a:effectLst/>
              <a:uFillTx/>
              <a:latin typeface="Arial"/>
            </a:endParaRPr>
          </a:p>
        </p:txBody>
      </p:sp>
      <p:sp>
        <p:nvSpPr>
          <p:cNvPr id="236" name="Image 1" descr="Emulator screen: the Uncrackable app splash screen"/>
          <p:cNvSpPr/>
          <p:nvPr/>
        </p:nvSpPr>
        <p:spPr>
          <a:xfrm rot="21420000">
            <a:off x="418320" y="979200"/>
            <a:ext cx="1243800" cy="2765160"/>
          </a:xfrm>
          <a:custGeom>
            <a:avLst/>
            <a:gdLst>
              <a:gd name="textAreaLeft" fmla="*/ 0 w 1243800"/>
              <a:gd name="textAreaRight" fmla="*/ 1244520 w 1243800"/>
              <a:gd name="textAreaTop" fmla="*/ 0 h 2765160"/>
              <a:gd name="textAreaBottom" fmla="*/ 2765880 h 2765160"/>
            </a:gdLst>
            <a:ahLst/>
            <a:cxnLst/>
            <a:rect l="textAreaLeft" t="textAreaTop" r="textAreaRight" b="textAreaBottom"/>
            <a:pathLst>
              <a:path w="1244600" h="2765778">
                <a:moveTo>
                  <a:pt x="0" y="62089"/>
                </a:moveTo>
                <a:arcTo wR="76200" hR="76200" stAng="10800000" swAng="3274143"/>
                <a:lnTo>
                  <a:pt x="1212575" y="0"/>
                </a:lnTo>
                <a:arcTo wR="76200" hR="76200" stAng="18325857" swAng="3274143"/>
                <a:lnTo>
                  <a:pt x="1244600" y="2703689"/>
                </a:lnTo>
                <a:arcTo wR="76200" hR="76200" stAng="0" swAng="3274143"/>
                <a:lnTo>
                  <a:pt x="32025" y="2765778"/>
                </a:lnTo>
                <a:arcTo wR="76200" hR="76200" stAng="7525857" swAng="3274143"/>
                <a:close/>
              </a:path>
            </a:pathLst>
          </a:custGeom>
          <a:blipFill rotWithShape="0">
            <a:blip r:embed="rId2"/>
            <a:srcRect/>
            <a:stretch/>
          </a:blipFill>
          <a:ln w="0">
            <a:noFill/>
          </a:ln>
          <a:effectLst>
            <a:outerShdw algn="bl" blurRad="19044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7" name="Shape 2"/>
          <p:cNvSpPr/>
          <p:nvPr/>
        </p:nvSpPr>
        <p:spPr>
          <a:xfrm rot="21420000">
            <a:off x="412200" y="958680"/>
            <a:ext cx="1256760" cy="2805840"/>
          </a:xfrm>
          <a:prstGeom prst="roundRect">
            <a:avLst>
              <a:gd name="adj" fmla="val 6566"/>
            </a:avLst>
          </a:prstGeom>
          <a:noFill/>
          <a:ln w="12700">
            <a:solidFill>
              <a:srgbClr val="FF2BD6"/>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38" name="Image 2" descr="Emulator screen: the Uncrackable1 app with the Enter the Secret String field"/>
          <p:cNvSpPr/>
          <p:nvPr/>
        </p:nvSpPr>
        <p:spPr>
          <a:xfrm rot="120000">
            <a:off x="1815480" y="1042200"/>
            <a:ext cx="1243800" cy="2765160"/>
          </a:xfrm>
          <a:custGeom>
            <a:avLst/>
            <a:gdLst>
              <a:gd name="textAreaLeft" fmla="*/ 0 w 1243800"/>
              <a:gd name="textAreaRight" fmla="*/ 1244520 w 1243800"/>
              <a:gd name="textAreaTop" fmla="*/ 0 h 2765160"/>
              <a:gd name="textAreaBottom" fmla="*/ 2765880 h 2765160"/>
            </a:gdLst>
            <a:ahLst/>
            <a:cxnLst/>
            <a:rect l="textAreaLeft" t="textAreaTop" r="textAreaRight" b="textAreaBottom"/>
            <a:pathLst>
              <a:path w="1244600" h="2765778">
                <a:moveTo>
                  <a:pt x="0" y="62089"/>
                </a:moveTo>
                <a:arcTo wR="76200" hR="76200" stAng="10800000" swAng="3274143"/>
                <a:lnTo>
                  <a:pt x="1212575" y="0"/>
                </a:lnTo>
                <a:arcTo wR="76200" hR="76200" stAng="18325857" swAng="3274143"/>
                <a:lnTo>
                  <a:pt x="1244600" y="2703689"/>
                </a:lnTo>
                <a:arcTo wR="76200" hR="76200" stAng="0" swAng="3274143"/>
                <a:lnTo>
                  <a:pt x="32025" y="2765778"/>
                </a:lnTo>
                <a:arcTo wR="76200" hR="76200" stAng="7525857" swAng="3274143"/>
                <a:close/>
              </a:path>
            </a:pathLst>
          </a:custGeom>
          <a:blipFill rotWithShape="0">
            <a:blip r:embed="rId3"/>
            <a:srcRect/>
            <a:stretch/>
          </a:blipFill>
          <a:ln w="0">
            <a:noFill/>
          </a:ln>
          <a:effectLst>
            <a:outerShdw algn="bl" blurRad="19044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Shape 3"/>
          <p:cNvSpPr/>
          <p:nvPr/>
        </p:nvSpPr>
        <p:spPr>
          <a:xfrm rot="120000">
            <a:off x="1809000" y="1021680"/>
            <a:ext cx="1256760" cy="2805840"/>
          </a:xfrm>
          <a:prstGeom prst="roundRect">
            <a:avLst>
              <a:gd name="adj" fmla="val 6566"/>
            </a:avLst>
          </a:prstGeom>
          <a:noFill/>
          <a:ln w="12700">
            <a:solidFill>
              <a:srgbClr val="FF2BD6"/>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40" name="Image 3" descr="Emulator screen: the secret string field focused"/>
          <p:cNvSpPr/>
          <p:nvPr/>
        </p:nvSpPr>
        <p:spPr>
          <a:xfrm rot="21480000">
            <a:off x="3212280" y="979200"/>
            <a:ext cx="1243800" cy="2765160"/>
          </a:xfrm>
          <a:custGeom>
            <a:avLst/>
            <a:gdLst>
              <a:gd name="textAreaLeft" fmla="*/ 0 w 1243800"/>
              <a:gd name="textAreaRight" fmla="*/ 1244520 w 1243800"/>
              <a:gd name="textAreaTop" fmla="*/ 0 h 2765160"/>
              <a:gd name="textAreaBottom" fmla="*/ 2765880 h 2765160"/>
            </a:gdLst>
            <a:ahLst/>
            <a:cxnLst/>
            <a:rect l="textAreaLeft" t="textAreaTop" r="textAreaRight" b="textAreaBottom"/>
            <a:pathLst>
              <a:path w="1244600" h="2765778">
                <a:moveTo>
                  <a:pt x="0" y="62089"/>
                </a:moveTo>
                <a:arcTo wR="76200" hR="76200" stAng="10800000" swAng="3274143"/>
                <a:lnTo>
                  <a:pt x="1212575" y="0"/>
                </a:lnTo>
                <a:arcTo wR="76200" hR="76200" stAng="18325857" swAng="3274143"/>
                <a:lnTo>
                  <a:pt x="1244600" y="2703689"/>
                </a:lnTo>
                <a:arcTo wR="76200" hR="76200" stAng="0" swAng="3274143"/>
                <a:lnTo>
                  <a:pt x="32025" y="2765778"/>
                </a:lnTo>
                <a:arcTo wR="76200" hR="76200" stAng="7525857" swAng="3274143"/>
                <a:close/>
              </a:path>
            </a:pathLst>
          </a:custGeom>
          <a:blipFill rotWithShape="0">
            <a:blip r:embed="rId4"/>
            <a:srcRect/>
            <a:stretch/>
          </a:blipFill>
          <a:ln w="0">
            <a:noFill/>
          </a:ln>
          <a:effectLst>
            <a:outerShdw algn="bl" blurRad="19044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Shape 4"/>
          <p:cNvSpPr/>
          <p:nvPr/>
        </p:nvSpPr>
        <p:spPr>
          <a:xfrm rot="21480000">
            <a:off x="3206160" y="958320"/>
            <a:ext cx="1256760" cy="2805840"/>
          </a:xfrm>
          <a:prstGeom prst="roundRect">
            <a:avLst>
              <a:gd name="adj" fmla="val 6566"/>
            </a:avLst>
          </a:prstGeom>
          <a:noFill/>
          <a:ln w="12700">
            <a:solidFill>
              <a:srgbClr val="FF2BD6"/>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42" name="Image 4" descr="Emulator screen: keyboard open while HookSmith taps the field"/>
          <p:cNvSpPr/>
          <p:nvPr/>
        </p:nvSpPr>
        <p:spPr>
          <a:xfrm rot="180000">
            <a:off x="4609440" y="1042560"/>
            <a:ext cx="1243800" cy="2765160"/>
          </a:xfrm>
          <a:custGeom>
            <a:avLst/>
            <a:gdLst>
              <a:gd name="textAreaLeft" fmla="*/ 0 w 1243800"/>
              <a:gd name="textAreaRight" fmla="*/ 1244520 w 1243800"/>
              <a:gd name="textAreaTop" fmla="*/ 0 h 2765160"/>
              <a:gd name="textAreaBottom" fmla="*/ 2765880 h 2765160"/>
            </a:gdLst>
            <a:ahLst/>
            <a:cxnLst/>
            <a:rect l="textAreaLeft" t="textAreaTop" r="textAreaRight" b="textAreaBottom"/>
            <a:pathLst>
              <a:path w="1244600" h="2765778">
                <a:moveTo>
                  <a:pt x="0" y="62089"/>
                </a:moveTo>
                <a:arcTo wR="76200" hR="76200" stAng="10800000" swAng="3274143"/>
                <a:lnTo>
                  <a:pt x="1212575" y="0"/>
                </a:lnTo>
                <a:arcTo wR="76200" hR="76200" stAng="18325857" swAng="3274143"/>
                <a:lnTo>
                  <a:pt x="1244600" y="2703689"/>
                </a:lnTo>
                <a:arcTo wR="76200" hR="76200" stAng="0" swAng="3274143"/>
                <a:lnTo>
                  <a:pt x="32025" y="2765778"/>
                </a:lnTo>
                <a:arcTo wR="76200" hR="76200" stAng="7525857" swAng="3274143"/>
                <a:close/>
              </a:path>
            </a:pathLst>
          </a:custGeom>
          <a:blipFill rotWithShape="0">
            <a:blip r:embed="rId5"/>
            <a:srcRect/>
            <a:stretch/>
          </a:blipFill>
          <a:ln w="0">
            <a:noFill/>
          </a:ln>
          <a:effectLst>
            <a:outerShdw algn="bl" blurRad="19044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3" name="Shape 5"/>
          <p:cNvSpPr/>
          <p:nvPr/>
        </p:nvSpPr>
        <p:spPr>
          <a:xfrm rot="180000">
            <a:off x="4603320" y="1022400"/>
            <a:ext cx="1256760" cy="2805840"/>
          </a:xfrm>
          <a:prstGeom prst="roundRect">
            <a:avLst>
              <a:gd name="adj" fmla="val 6566"/>
            </a:avLst>
          </a:prstGeom>
          <a:noFill/>
          <a:ln w="12700">
            <a:solidFill>
              <a:srgbClr val="FF2BD6"/>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44" name="Image 5" descr="Terminal: hooksmith run on UnCrackable-Level1 ends PROVEN"/>
          <p:cNvSpPr/>
          <p:nvPr/>
        </p:nvSpPr>
        <p:spPr>
          <a:xfrm rot="60000">
            <a:off x="6235560" y="965160"/>
            <a:ext cx="5434920" cy="2005920"/>
          </a:xfrm>
          <a:prstGeom prst="roundRect">
            <a:avLst>
              <a:gd name="adj" fmla="val 3797"/>
            </a:avLst>
          </a:prstGeom>
          <a:blipFill rotWithShape="0">
            <a:blip r:embed="rId6"/>
            <a:srcRect/>
            <a:stretch/>
          </a:blipFill>
          <a:ln w="0">
            <a:noFill/>
          </a:ln>
          <a:effectLst>
            <a:outerShdw algn="bl" blurRad="190440" dir="0" dist="0" kx="0" ky="0" rotWithShape="0" sx="100000" sy="100000">
              <a:srgbClr val="00F0FF">
                <a:alpha val="4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Shape 6"/>
          <p:cNvSpPr/>
          <p:nvPr/>
        </p:nvSpPr>
        <p:spPr>
          <a:xfrm rot="60000">
            <a:off x="6228720" y="958320"/>
            <a:ext cx="5447520" cy="2018520"/>
          </a:xfrm>
          <a:prstGeom prst="roundRect">
            <a:avLst>
              <a:gd name="adj" fmla="val 4088"/>
            </a:avLst>
          </a:prstGeom>
          <a:noFill/>
          <a:ln w="12700">
            <a:solidFill>
              <a:srgbClr val="00F0FF"/>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46" name="Image 6" descr="Terminal: runtime.log and verdict.json showing the matched 16-byte key"/>
          <p:cNvSpPr/>
          <p:nvPr/>
        </p:nvSpPr>
        <p:spPr>
          <a:xfrm rot="21540000">
            <a:off x="6234840" y="2869560"/>
            <a:ext cx="5054040" cy="3009240"/>
          </a:xfrm>
          <a:prstGeom prst="roundRect">
            <a:avLst>
              <a:gd name="adj" fmla="val 2532"/>
            </a:avLst>
          </a:prstGeom>
          <a:blipFill rotWithShape="0">
            <a:blip r:embed="rId7"/>
            <a:srcRect/>
            <a:stretch/>
          </a:blipFill>
          <a:ln w="0">
            <a:noFill/>
          </a:ln>
          <a:effectLst>
            <a:outerShdw algn="bl" blurRad="190440" dir="0" dist="0" kx="0" ky="0" rotWithShape="0" sx="100000" sy="100000">
              <a:srgbClr val="39FF9C">
                <a:alpha val="4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7" name="Shape 7"/>
          <p:cNvSpPr/>
          <p:nvPr/>
        </p:nvSpPr>
        <p:spPr>
          <a:xfrm rot="21540000">
            <a:off x="6229080" y="2863080"/>
            <a:ext cx="5066640" cy="3021840"/>
          </a:xfrm>
          <a:prstGeom prst="roundRect">
            <a:avLst>
              <a:gd name="adj" fmla="val 2731"/>
            </a:avLst>
          </a:prstGeom>
          <a:noFill/>
          <a:ln w="12700">
            <a:solidFill>
              <a:srgbClr val="39FF9C"/>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48" name="Image 7" descr="Terminal: the verdict table with PROVEN 1"/>
          <p:cNvSpPr/>
          <p:nvPr/>
        </p:nvSpPr>
        <p:spPr>
          <a:xfrm rot="21540000">
            <a:off x="418320" y="4075920"/>
            <a:ext cx="5180760" cy="2177280"/>
          </a:xfrm>
          <a:prstGeom prst="roundRect">
            <a:avLst>
              <a:gd name="adj" fmla="val 3499"/>
            </a:avLst>
          </a:prstGeom>
          <a:blipFill rotWithShape="0">
            <a:blip r:embed="rId8"/>
            <a:srcRect/>
            <a:stretch/>
          </a:blipFill>
          <a:ln w="0">
            <a:noFill/>
          </a:ln>
          <a:effectLst>
            <a:outerShdw algn="bl" blurRad="190440" dir="0" dist="0" kx="0" ky="0" rotWithShape="0" sx="100000" sy="100000">
              <a:srgbClr val="FFE600">
                <a:alpha val="4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9" name="Shape 8"/>
          <p:cNvSpPr/>
          <p:nvPr/>
        </p:nvSpPr>
        <p:spPr>
          <a:xfrm rot="21540000">
            <a:off x="412200" y="4069800"/>
            <a:ext cx="5193720" cy="2189880"/>
          </a:xfrm>
          <a:prstGeom prst="roundRect">
            <a:avLst>
              <a:gd name="adj" fmla="val 3768"/>
            </a:avLst>
          </a:prstGeom>
          <a:noFill/>
          <a:ln w="12700">
            <a:solidFill>
              <a:srgbClr val="FFE600"/>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50" name="Text 9"/>
          <p:cNvSpPr/>
          <p:nvPr/>
        </p:nvSpPr>
        <p:spPr>
          <a:xfrm>
            <a:off x="9416880" y="639072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16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1" name="Image 0" descr="Neon wave background"/>
          <p:cNvPicPr/>
          <p:nvPr/>
        </p:nvPicPr>
        <p:blipFill>
          <a:blip r:embed="rId1"/>
          <a:stretch/>
        </p:blipFill>
        <p:spPr>
          <a:xfrm>
            <a:off x="0" y="0"/>
            <a:ext cx="12191400" cy="6857280"/>
          </a:xfrm>
          <a:prstGeom prst="rect">
            <a:avLst/>
          </a:prstGeom>
          <a:noFill/>
          <a:ln w="0">
            <a:noFill/>
          </a:ln>
        </p:spPr>
      </p:pic>
      <p:sp>
        <p:nvSpPr>
          <p:cNvPr id="252"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253"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17 / 51</a:t>
            </a:r>
            <a:endParaRPr lang="en-US" sz="1200" b="0" u="none" strike="noStrike">
              <a:solidFill>
                <a:srgbClr val="FFFFFF"/>
              </a:solidFill>
              <a:effectLst/>
              <a:uFillTx/>
              <a:latin typeface="Arial"/>
            </a:endParaRPr>
          </a:p>
        </p:txBody>
      </p:sp>
      <p:sp>
        <p:nvSpPr>
          <p:cNvPr id="254"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hooksmith run --report findings.json --apk UnCrackable-Level1.apk --executor replay</a:t>
            </a:r>
            <a:endParaRPr lang="en-US" sz="1300" b="0" u="none" strike="noStrike">
              <a:solidFill>
                <a:srgbClr val="FFFFFF"/>
              </a:solidFill>
              <a:effectLst/>
              <a:uFillTx/>
              <a:latin typeface="Arial"/>
            </a:endParaRPr>
          </a:p>
        </p:txBody>
      </p:sp>
      <p:sp>
        <p:nvSpPr>
          <p:cNvPr id="255"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What the tool prints</a:t>
            </a:r>
            <a:endParaRPr lang="en-US" sz="3200" b="0" u="none" strike="noStrike">
              <a:solidFill>
                <a:srgbClr val="FFFFFF"/>
              </a:solidFill>
              <a:effectLst/>
              <a:uFillTx/>
              <a:latin typeface="Arial"/>
            </a:endParaRPr>
          </a:p>
        </p:txBody>
      </p:sp>
      <p:sp>
        <p:nvSpPr>
          <p:cNvPr id="256" name="Rounded Rectangle 23"/>
          <p:cNvSpPr/>
          <p:nvPr/>
        </p:nvSpPr>
        <p:spPr>
          <a:xfrm>
            <a:off x="699840" y="1550160"/>
            <a:ext cx="10799280" cy="324936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600" b="0" u="none" strike="noStrike">
                <a:solidFill>
                  <a:srgbClr val="6F82A8"/>
                </a:solidFill>
                <a:effectLst/>
                <a:uFillTx/>
                <a:latin typeface="JetBrains Mono"/>
              </a:rPr>
              <a:t>(1/1) Possible hardcoded cryptographic key  SCAN-001</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6F82A8"/>
                </a:solidFill>
                <a:effectLst/>
                <a:uFillTx/>
                <a:latin typeface="JetBrains Mono"/>
              </a:rPr>
              <a:t>   - decompile  - plan  - generate  - validate  - execute  - classify</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   </a:t>
            </a:r>
            <a:r>
              <a:rPr lang="en-US" sz="1600" b="0" u="none" strike="noStrike">
                <a:solidFill>
                  <a:srgbClr val="39FF9C"/>
                </a:solidFill>
                <a:effectLst/>
                <a:uFillTx/>
                <a:latin typeface="JetBrains Mono"/>
              </a:rPr>
              <a:t>PROVEN</a:t>
            </a:r>
            <a:r>
              <a:rPr lang="en-US" sz="1600" b="0" u="none" strike="noStrike">
                <a:solidFill>
                  <a:srgbClr val="E8F7FF"/>
                </a:solidFill>
                <a:effectLst/>
                <a:uFillTx/>
                <a:latin typeface="JetBrains Mono"/>
              </a:rPr>
              <a:t>  observed 16-byte key equals a static constant in</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           sg/vantagepoint/uncrackable1/a.java (hex), which calls the hooked method</a:t>
            </a:r>
            <a:endParaRPr lang="en-US" sz="1600" b="0" u="none" strike="noStrike">
              <a:solidFill>
                <a:srgbClr val="FFFFFF"/>
              </a:solidFill>
              <a:effectLst/>
              <a:uFillTx/>
              <a:latin typeface="Arial"/>
            </a:endParaRPr>
          </a:p>
          <a:p>
            <a:pPr defTabSz="914400">
              <a:lnSpc>
                <a:spcPct val="100000"/>
              </a:lnSpc>
            </a:pP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  1 findings, 1 verdicts</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  </a:t>
            </a:r>
            <a:r>
              <a:rPr lang="en-US" sz="1600" b="0" u="none" strike="noStrike">
                <a:solidFill>
                  <a:srgbClr val="39FF9C"/>
                </a:solidFill>
                <a:effectLst/>
                <a:uFillTx/>
                <a:latin typeface="JetBrains Mono"/>
              </a:rPr>
              <a:t>PROVEN</a:t>
            </a:r>
            <a:r>
              <a:rPr lang="en-US" sz="1600" b="0" u="none" strike="noStrike">
                <a:solidFill>
                  <a:srgbClr val="E8F7FF"/>
                </a:solidFill>
                <a:effectLst/>
                <a:uFillTx/>
                <a:latin typeface="JetBrains Mono"/>
              </a:rPr>
              <a:t> 1   </a:t>
            </a:r>
            <a:r>
              <a:rPr lang="en-US" sz="1600" b="0" u="none" strike="noStrike">
                <a:solidFill>
                  <a:srgbClr val="FF5A5F"/>
                </a:solidFill>
                <a:effectLst/>
                <a:uFillTx/>
                <a:latin typeface="JetBrains Mono"/>
              </a:rPr>
              <a:t>REFUTED</a:t>
            </a:r>
            <a:r>
              <a:rPr lang="en-US" sz="1600" b="0" u="none" strike="noStrike">
                <a:solidFill>
                  <a:srgbClr val="E8F7FF"/>
                </a:solidFill>
                <a:effectLst/>
                <a:uFillTx/>
                <a:latin typeface="JetBrains Mono"/>
              </a:rPr>
              <a:t> 0   </a:t>
            </a:r>
            <a:r>
              <a:rPr lang="en-US" sz="1600" b="0" u="none" strike="noStrike">
                <a:solidFill>
                  <a:srgbClr val="FFE600"/>
                </a:solidFill>
                <a:effectLst/>
                <a:uFillTx/>
                <a:latin typeface="JetBrains Mono"/>
              </a:rPr>
              <a:t>UNREACHABLE</a:t>
            </a:r>
            <a:r>
              <a:rPr lang="en-US" sz="1600" b="0" u="none" strike="noStrike">
                <a:solidFill>
                  <a:srgbClr val="E8F7FF"/>
                </a:solidFill>
                <a:effectLst/>
                <a:uFillTx/>
                <a:latin typeface="JetBrains Mono"/>
              </a:rPr>
              <a:t> 0   </a:t>
            </a:r>
            <a:r>
              <a:rPr lang="en-US" sz="1600" b="0" u="none" strike="noStrike">
                <a:solidFill>
                  <a:srgbClr val="B07CFF"/>
                </a:solidFill>
                <a:effectLst/>
                <a:uFillTx/>
                <a:latin typeface="JetBrains Mono"/>
              </a:rPr>
              <a:t>UNVALIDATED</a:t>
            </a:r>
            <a:r>
              <a:rPr lang="en-US" sz="1600" b="0" u="none" strike="noStrike">
                <a:solidFill>
                  <a:srgbClr val="E8F7FF"/>
                </a:solidFill>
                <a:effectLst/>
                <a:uFillTx/>
                <a:latin typeface="JetBrains Mono"/>
              </a:rPr>
              <a:t> 0</a:t>
            </a:r>
            <a:endParaRPr lang="en-US" sz="1600" b="0" u="none" strike="noStrike">
              <a:solidFill>
                <a:srgbClr val="FFFFFF"/>
              </a:solidFill>
              <a:effectLst/>
              <a:uFillTx/>
              <a:latin typeface="Arial"/>
            </a:endParaRPr>
          </a:p>
        </p:txBody>
      </p:sp>
      <p:sp>
        <p:nvSpPr>
          <p:cNvPr id="257" name="TextBox 24"/>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500" b="0" u="none" strike="noStrike">
                <a:solidFill>
                  <a:srgbClr val="6F82A8"/>
                </a:solidFill>
                <a:effectLst/>
                <a:uFillTx/>
                <a:latin typeface="Space Grotesk"/>
              </a:rPr>
              <a:t>Replayed from the recorded device run. Same pipeline, same verdict, no phone needed.</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8" name="Image 0" descr="Neon wave background"/>
          <p:cNvPicPr/>
          <p:nvPr/>
        </p:nvPicPr>
        <p:blipFill>
          <a:blip r:embed="rId1"/>
          <a:stretch/>
        </p:blipFill>
        <p:spPr>
          <a:xfrm>
            <a:off x="243360" y="0"/>
            <a:ext cx="12191400" cy="6857280"/>
          </a:xfrm>
          <a:prstGeom prst="rect">
            <a:avLst/>
          </a:prstGeom>
          <a:noFill/>
          <a:ln w="0">
            <a:noFill/>
          </a:ln>
        </p:spPr>
      </p:pic>
      <p:sp>
        <p:nvSpPr>
          <p:cNvPr id="259" name="Text 0"/>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260" name="Text 1"/>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18 / 51</a:t>
            </a:r>
            <a:endParaRPr lang="en-US" sz="1200" b="0" u="none" strike="noStrike">
              <a:solidFill>
                <a:srgbClr val="FFFFFF"/>
              </a:solidFill>
              <a:effectLst/>
              <a:uFillTx/>
              <a:latin typeface="Arial"/>
            </a:endParaRPr>
          </a:p>
        </p:txBody>
      </p:sp>
      <p:sp>
        <p:nvSpPr>
          <p:cNvPr id="261" name="Text 2"/>
          <p:cNvSpPr/>
          <p:nvPr/>
        </p:nvSpPr>
        <p:spPr>
          <a:xfrm>
            <a:off x="5097240" y="1359000"/>
            <a:ext cx="20034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cat signals.py</a:t>
            </a:r>
            <a:endParaRPr lang="en-US" sz="1200" b="0" u="none" strike="noStrike">
              <a:solidFill>
                <a:srgbClr val="FFFFFF"/>
              </a:solidFill>
              <a:effectLst/>
              <a:uFillTx/>
              <a:latin typeface="Arial"/>
            </a:endParaRPr>
          </a:p>
        </p:txBody>
      </p:sp>
      <p:sp>
        <p:nvSpPr>
          <p:cNvPr id="262" name="PlaceHolder 1"/>
          <p:cNvSpPr>
            <a:spLocks noGrp="1"/>
          </p:cNvSpPr>
          <p:nvPr>
            <p:ph type="title"/>
          </p:nvPr>
        </p:nvSpPr>
        <p:spPr>
          <a:xfrm>
            <a:off x="2209320" y="1771560"/>
            <a:ext cx="7779240" cy="471600"/>
          </a:xfrm>
          <a:prstGeom prst="rect">
            <a:avLst/>
          </a:prstGeom>
          <a:noFill/>
          <a:ln w="0">
            <a:noFill/>
          </a:ln>
        </p:spPr>
        <p:txBody>
          <a:bodyPr lIns="0" tIns="0" rIns="0" bIns="0" anchor="t">
            <a:normAutofit/>
          </a:bodyPr>
          <a:p>
            <a:pPr indent="0" algn="ctr" defTabSz="914400">
              <a:lnSpc>
                <a:spcPts val="3521"/>
              </a:lnSpc>
              <a:buNone/>
              <a:tabLst>
                <a:tab pos="0" algn="l"/>
              </a:tabLst>
            </a:pPr>
            <a:r>
              <a:rPr lang="en-US" sz="3200" b="1" u="none" spc="-51" strike="noStrike">
                <a:solidFill>
                  <a:srgbClr val="F2FFFF"/>
                </a:solidFill>
                <a:effectLst/>
                <a:uFillTx/>
                <a:latin typeface="Space Grotesk"/>
                <a:ea typeface="Space Grotesk"/>
              </a:rPr>
              <a:t>Code reads the log. Code decides.</a:t>
            </a:r>
            <a:endParaRPr lang="en-US" sz="3200" b="0" u="none" strike="noStrike">
              <a:solidFill>
                <a:schemeClr val="lt1"/>
              </a:solidFill>
              <a:effectLst/>
              <a:uFillTx/>
              <a:latin typeface="JetBrains Mono"/>
            </a:endParaRPr>
          </a:p>
        </p:txBody>
      </p:sp>
      <p:graphicFrame>
        <p:nvGraphicFramePr>
          <p:cNvPr id="263" name="Table 0"/>
          <p:cNvGraphicFramePr/>
          <p:nvPr/>
        </p:nvGraphicFramePr>
        <p:xfrm>
          <a:off x="1340640" y="2432880"/>
          <a:ext cx="9516600" cy="1520640"/>
        </p:xfrm>
        <a:graphic>
          <a:graphicData uri="http://schemas.openxmlformats.org/drawingml/2006/table">
            <a:tbl>
              <a:tblPr/>
              <a:tblGrid>
                <a:gridCol w="2664720"/>
                <a:gridCol w="3426120"/>
                <a:gridCol w="3426120"/>
              </a:tblGrid>
              <a:tr h="380160">
                <a:tc>
                  <a:txBody>
                    <a:bodyPr lIns="61920" tIns="61920" rIns="61920" bIns="61920" anchor="t">
                      <a:noAutofit/>
                    </a:bodyPr>
                    <a:p>
                      <a:pPr defTabSz="914400">
                        <a:lnSpc>
                          <a:spcPts val="1959"/>
                        </a:lnSpc>
                        <a:tabLst>
                          <a:tab pos="0" algn="l"/>
                        </a:tabLst>
                      </a:pPr>
                      <a:r>
                        <a:rPr lang="en-US" sz="1400" b="1" u="none" strike="noStrike">
                          <a:solidFill>
                            <a:srgbClr val="8FA3C7"/>
                          </a:solidFill>
                          <a:effectLst/>
                          <a:uFillTx/>
                          <a:latin typeface="Space Grotesk"/>
                          <a:ea typeface="Space Grotesk"/>
                        </a:rPr>
                        <a:t>Finding</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4B6265"/>
                      </a:solidFill>
                      <a:prstDash val="solid"/>
                    </a:lnR>
                    <a:lnT w="12240">
                      <a:solidFill>
                        <a:srgbClr val="3C5458"/>
                      </a:solidFill>
                      <a:prstDash val="solid"/>
                    </a:lnT>
                    <a:lnB w="12240">
                      <a:solidFill>
                        <a:srgbClr val="4B6265"/>
                      </a:solidFill>
                      <a:prstDash val="solid"/>
                    </a:lnB>
                    <a:solidFill>
                      <a:srgbClr val="1A373C"/>
                    </a:solidFill>
                  </a:tcPr>
                </a:tc>
                <a:tc>
                  <a:txBody>
                    <a:bodyPr lIns="61920" tIns="61920" rIns="61920" bIns="61920" anchor="t">
                      <a:noAutofit/>
                    </a:bodyPr>
                    <a:p>
                      <a:pPr defTabSz="914400">
                        <a:lnSpc>
                          <a:spcPts val="1959"/>
                        </a:lnSpc>
                        <a:tabLst>
                          <a:tab pos="0" algn="l"/>
                        </a:tabLst>
                      </a:pPr>
                      <a:r>
                        <a:rPr lang="en-US" sz="1400" b="1" u="none" strike="noStrike">
                          <a:solidFill>
                            <a:srgbClr val="39FF9C"/>
                          </a:solidFill>
                          <a:effectLst/>
                          <a:uFillTx/>
                          <a:latin typeface="Space Grotesk"/>
                          <a:ea typeface="Space Grotesk"/>
                        </a:rPr>
                        <a:t>PROVEN</a:t>
                      </a:r>
                      <a:endParaRPr lang="en-US" sz="1400" b="0" u="none" strike="noStrike">
                        <a:solidFill>
                          <a:srgbClr val="FFFFFF"/>
                        </a:solidFill>
                        <a:effectLst/>
                        <a:uFillTx/>
                        <a:latin typeface="Arial"/>
                      </a:endParaRPr>
                    </a:p>
                  </a:txBody>
                  <a:tcPr anchor="t" marL="61920" marR="61920" marT="61920" marB="61920">
                    <a:lnL w="12240">
                      <a:solidFill>
                        <a:srgbClr val="4B6265"/>
                      </a:solidFill>
                      <a:prstDash val="solid"/>
                    </a:lnL>
                    <a:lnR w="12240">
                      <a:solidFill>
                        <a:srgbClr val="4B6265"/>
                      </a:solidFill>
                      <a:prstDash val="solid"/>
                    </a:lnR>
                    <a:lnT w="12240">
                      <a:solidFill>
                        <a:srgbClr val="3C5458"/>
                      </a:solidFill>
                      <a:prstDash val="solid"/>
                    </a:lnT>
                    <a:lnB w="12240">
                      <a:solidFill>
                        <a:srgbClr val="4B6265"/>
                      </a:solidFill>
                      <a:prstDash val="solid"/>
                    </a:lnB>
                    <a:solidFill>
                      <a:srgbClr val="1A373C"/>
                    </a:solidFill>
                  </a:tcPr>
                </a:tc>
                <a:tc>
                  <a:txBody>
                    <a:bodyPr lIns="61920" tIns="61920" rIns="61920" bIns="61920" anchor="t">
                      <a:noAutofit/>
                    </a:bodyPr>
                    <a:p>
                      <a:pPr defTabSz="914400">
                        <a:lnSpc>
                          <a:spcPts val="1959"/>
                        </a:lnSpc>
                        <a:tabLst>
                          <a:tab pos="0" algn="l"/>
                        </a:tabLst>
                      </a:pPr>
                      <a:r>
                        <a:rPr lang="en-US" sz="1400" b="1" u="none" strike="noStrike">
                          <a:solidFill>
                            <a:srgbClr val="FFE600"/>
                          </a:solidFill>
                          <a:effectLst/>
                          <a:uFillTx/>
                          <a:latin typeface="Space Grotesk"/>
                          <a:ea typeface="Space Grotesk"/>
                        </a:rPr>
                        <a:t>REFUTED</a:t>
                      </a:r>
                      <a:endParaRPr lang="en-US" sz="1400" b="0" u="none" strike="noStrike">
                        <a:solidFill>
                          <a:srgbClr val="FFFFFF"/>
                        </a:solidFill>
                        <a:effectLst/>
                        <a:uFillTx/>
                        <a:latin typeface="Arial"/>
                      </a:endParaRPr>
                    </a:p>
                  </a:txBody>
                  <a:tcPr anchor="t" marL="61920" marR="61920" marT="61920" marB="61920">
                    <a:lnL w="12240">
                      <a:solidFill>
                        <a:srgbClr val="4B6265"/>
                      </a:solidFill>
                      <a:prstDash val="solid"/>
                    </a:lnL>
                    <a:lnR w="12240">
                      <a:solidFill>
                        <a:srgbClr val="4B6265"/>
                      </a:solidFill>
                      <a:prstDash val="solid"/>
                    </a:lnR>
                    <a:lnT w="12240">
                      <a:solidFill>
                        <a:srgbClr val="3C5458"/>
                      </a:solidFill>
                      <a:prstDash val="solid"/>
                    </a:lnT>
                    <a:lnB w="12240">
                      <a:solidFill>
                        <a:srgbClr val="4B6265"/>
                      </a:solidFill>
                      <a:prstDash val="solid"/>
                    </a:lnB>
                    <a:solidFill>
                      <a:srgbClr val="1A373C"/>
                    </a:solidFill>
                  </a:tcPr>
                </a:tc>
              </a:tr>
              <a:tr h="380160">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Hardcoded key</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4B6265"/>
                      </a:solidFill>
                      <a:prstDash val="solid"/>
                    </a:lnT>
                    <a:lnB w="12240">
                      <a:solidFill>
                        <a:srgbClr val="3C5458"/>
                      </a:solidFill>
                      <a:prstDash val="solid"/>
                    </a:lnB>
                    <a:noFill/>
                  </a:tcPr>
                </a:tc>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Matches a constant</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4B6265"/>
                      </a:solidFill>
                      <a:prstDash val="solid"/>
                    </a:lnT>
                    <a:lnB w="12240">
                      <a:solidFill>
                        <a:srgbClr val="3C5458"/>
                      </a:solidFill>
                      <a:prstDash val="solid"/>
                    </a:lnB>
                    <a:noFill/>
                  </a:tcPr>
                </a:tc>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Changes per call</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4B6265"/>
                      </a:solidFill>
                      <a:prstDash val="solid"/>
                    </a:lnT>
                    <a:lnB w="12240">
                      <a:solidFill>
                        <a:srgbClr val="3C5458"/>
                      </a:solidFill>
                      <a:prstDash val="solid"/>
                    </a:lnB>
                    <a:noFill/>
                  </a:tcPr>
                </a:tc>
              </a:tr>
              <a:tr h="380160">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Cleartext HTTP</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3C5458"/>
                      </a:solidFill>
                      <a:prstDash val="solid"/>
                    </a:lnT>
                    <a:lnB w="12240">
                      <a:solidFill>
                        <a:srgbClr val="3C5458"/>
                      </a:solidFill>
                      <a:prstDash val="solid"/>
                    </a:lnB>
                    <a:noFill/>
                  </a:tcPr>
                </a:tc>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http:// seen</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3C5458"/>
                      </a:solidFill>
                      <a:prstDash val="solid"/>
                    </a:lnT>
                    <a:lnB w="12240">
                      <a:solidFill>
                        <a:srgbClr val="3C5458"/>
                      </a:solidFill>
                      <a:prstDash val="solid"/>
                    </a:lnB>
                    <a:noFill/>
                  </a:tcPr>
                </a:tc>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https only</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3C5458"/>
                      </a:solidFill>
                      <a:prstDash val="solid"/>
                    </a:lnT>
                    <a:lnB w="12240">
                      <a:solidFill>
                        <a:srgbClr val="3C5458"/>
                      </a:solidFill>
                      <a:prstDash val="solid"/>
                    </a:lnB>
                    <a:noFill/>
                  </a:tcPr>
                </a:tc>
              </a:tr>
              <a:tr h="380160">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Insecure RNG</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3C5458"/>
                      </a:solidFill>
                      <a:prstDash val="solid"/>
                    </a:lnT>
                    <a:lnB w="12240">
                      <a:solidFill>
                        <a:srgbClr val="3C5458"/>
                      </a:solidFill>
                      <a:prstDash val="solid"/>
                    </a:lnB>
                    <a:noFill/>
                  </a:tcPr>
                </a:tc>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Random in key code</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3C5458"/>
                      </a:solidFill>
                      <a:prstDash val="solid"/>
                    </a:lnT>
                    <a:lnB w="12240">
                      <a:solidFill>
                        <a:srgbClr val="3C5458"/>
                      </a:solidFill>
                      <a:prstDash val="solid"/>
                    </a:lnB>
                    <a:noFill/>
                  </a:tcPr>
                </a:tc>
                <a:tc>
                  <a:txBody>
                    <a:bodyPr lIns="61920" tIns="61920" rIns="61920" bIns="61920" anchor="t">
                      <a:noAutofit/>
                    </a:bodyPr>
                    <a:p>
                      <a:pPr defTabSz="914400">
                        <a:lnSpc>
                          <a:spcPts val="1959"/>
                        </a:lnSpc>
                        <a:tabLst>
                          <a:tab pos="0" algn="l"/>
                        </a:tabLst>
                      </a:pPr>
                      <a:r>
                        <a:rPr lang="en-US" sz="1400" b="0" u="none" strike="noStrike">
                          <a:solidFill>
                            <a:srgbClr val="E8F7FF"/>
                          </a:solidFill>
                          <a:effectLst/>
                          <a:uFillTx/>
                          <a:latin typeface="Space Grotesk"/>
                          <a:ea typeface="Space Grotesk"/>
                        </a:rPr>
                        <a:t>SecureRandom</a:t>
                      </a:r>
                      <a:endParaRPr lang="en-US" sz="1400" b="0" u="none" strike="noStrike">
                        <a:solidFill>
                          <a:srgbClr val="FFFFFF"/>
                        </a:solidFill>
                        <a:effectLst/>
                        <a:uFillTx/>
                        <a:latin typeface="Arial"/>
                      </a:endParaRPr>
                    </a:p>
                  </a:txBody>
                  <a:tcPr anchor="t" marL="61920" marR="61920" marT="61920" marB="61920">
                    <a:lnL w="12240">
                      <a:solidFill>
                        <a:srgbClr val="3C5458"/>
                      </a:solidFill>
                      <a:prstDash val="solid"/>
                    </a:lnL>
                    <a:lnR w="12240">
                      <a:solidFill>
                        <a:srgbClr val="3C5458"/>
                      </a:solidFill>
                      <a:prstDash val="solid"/>
                    </a:lnR>
                    <a:lnT w="12240">
                      <a:solidFill>
                        <a:srgbClr val="3C5458"/>
                      </a:solidFill>
                      <a:prstDash val="solid"/>
                    </a:lnT>
                    <a:lnB w="12240">
                      <a:solidFill>
                        <a:srgbClr val="3C5458"/>
                      </a:solidFill>
                      <a:prstDash val="solid"/>
                    </a:lnB>
                    <a:noFill/>
                  </a:tcPr>
                </a:tc>
              </a:tr>
            </a:tbl>
          </a:graphicData>
        </a:graphic>
      </p:graphicFrame>
      <p:sp>
        <p:nvSpPr>
          <p:cNvPr id="264" name="Image 1" descr="Real terminal output showing a method ending UNREACHABLE and the write of three bug reports"/>
          <p:cNvSpPr/>
          <p:nvPr/>
        </p:nvSpPr>
        <p:spPr>
          <a:xfrm>
            <a:off x="2298240" y="3967560"/>
            <a:ext cx="7976880" cy="2270160"/>
          </a:xfrm>
          <a:prstGeom prst="roundRect">
            <a:avLst>
              <a:gd name="adj" fmla="val 3356"/>
            </a:avLst>
          </a:prstGeom>
          <a:blipFill rotWithShape="0">
            <a:blip r:embed="rId2"/>
            <a:srcRect/>
            <a:stretch/>
          </a:blipFill>
          <a:ln w="0">
            <a:noFill/>
          </a:ln>
          <a:effectLst>
            <a:outerShdw algn="bl" blurRad="165240" dir="0" dist="0" kx="0" ky="0" rotWithShape="0" sx="100000" sy="100000">
              <a:srgbClr val="FF9F1C">
                <a:alpha val="4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5" name="Shape 4"/>
          <p:cNvSpPr/>
          <p:nvPr/>
        </p:nvSpPr>
        <p:spPr>
          <a:xfrm>
            <a:off x="2291760" y="3961080"/>
            <a:ext cx="7989480" cy="2282760"/>
          </a:xfrm>
          <a:prstGeom prst="roundRect">
            <a:avLst>
              <a:gd name="adj" fmla="val 3615"/>
            </a:avLst>
          </a:prstGeom>
          <a:noFill/>
          <a:ln w="12700">
            <a:solidFill>
              <a:srgbClr val="FF9F1C"/>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6" name="Image 0" descr="Neon wave background"/>
          <p:cNvPicPr/>
          <p:nvPr/>
        </p:nvPicPr>
        <p:blipFill>
          <a:blip r:embed="rId1"/>
          <a:stretch/>
        </p:blipFill>
        <p:spPr>
          <a:xfrm>
            <a:off x="0" y="0"/>
            <a:ext cx="12191400" cy="6857280"/>
          </a:xfrm>
          <a:prstGeom prst="rect">
            <a:avLst/>
          </a:prstGeom>
          <a:noFill/>
          <a:ln w="0">
            <a:noFill/>
          </a:ln>
        </p:spPr>
      </p:pic>
      <p:sp>
        <p:nvSpPr>
          <p:cNvPr id="267" name="Text 0"/>
          <p:cNvSpPr/>
          <p:nvPr/>
        </p:nvSpPr>
        <p:spPr>
          <a:xfrm>
            <a:off x="5033880" y="1460520"/>
            <a:ext cx="212364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tree runs/run-…</a:t>
            </a:r>
            <a:endParaRPr lang="en-US" sz="1200" b="0" u="none" strike="noStrike">
              <a:solidFill>
                <a:srgbClr val="FFFFFF"/>
              </a:solidFill>
              <a:effectLst/>
              <a:uFillTx/>
              <a:latin typeface="Arial"/>
            </a:endParaRPr>
          </a:p>
        </p:txBody>
      </p:sp>
      <p:sp>
        <p:nvSpPr>
          <p:cNvPr id="268" name="PlaceHolder 1"/>
          <p:cNvSpPr>
            <a:spLocks noGrp="1"/>
          </p:cNvSpPr>
          <p:nvPr>
            <p:ph type="title"/>
          </p:nvPr>
        </p:nvSpPr>
        <p:spPr>
          <a:xfrm>
            <a:off x="3414240" y="1877040"/>
            <a:ext cx="5362920" cy="471600"/>
          </a:xfrm>
          <a:prstGeom prst="rect">
            <a:avLst/>
          </a:prstGeom>
          <a:noFill/>
          <a:ln w="0">
            <a:noFill/>
          </a:ln>
        </p:spPr>
        <p:txBody>
          <a:bodyPr lIns="0" tIns="0" rIns="0" bIns="0" anchor="t">
            <a:normAutofit/>
          </a:bodyPr>
          <a:p>
            <a:pPr indent="0" algn="ctr" defTabSz="914400">
              <a:lnSpc>
                <a:spcPts val="3521"/>
              </a:lnSpc>
              <a:buNone/>
              <a:tabLst>
                <a:tab pos="0" algn="l"/>
              </a:tabLst>
            </a:pPr>
            <a:r>
              <a:rPr lang="en-US" sz="3200" b="1" u="none" spc="-51" strike="noStrike">
                <a:solidFill>
                  <a:srgbClr val="F2FFFF"/>
                </a:solidFill>
                <a:effectLst/>
                <a:uFillTx/>
                <a:latin typeface="Space Grotesk"/>
                <a:ea typeface="Space Grotesk"/>
              </a:rPr>
              <a:t>Every verdict is a folder</a:t>
            </a:r>
            <a:endParaRPr lang="en-US" sz="3200" b="0" u="none" strike="noStrike">
              <a:solidFill>
                <a:schemeClr val="lt1"/>
              </a:solidFill>
              <a:effectLst/>
              <a:uFillTx/>
              <a:latin typeface="JetBrains Mono"/>
            </a:endParaRPr>
          </a:p>
        </p:txBody>
      </p:sp>
      <p:sp>
        <p:nvSpPr>
          <p:cNvPr id="269" name="Shape 2"/>
          <p:cNvSpPr/>
          <p:nvPr/>
        </p:nvSpPr>
        <p:spPr>
          <a:xfrm>
            <a:off x="946080" y="2918880"/>
            <a:ext cx="3923640" cy="1882800"/>
          </a:xfrm>
          <a:prstGeom prst="roundRect">
            <a:avLst>
              <a:gd name="adj" fmla="val 6405"/>
            </a:avLst>
          </a:prstGeom>
          <a:solidFill>
            <a:srgbClr val="000000"/>
          </a:solidFill>
          <a:ln w="12700">
            <a:solidFill>
              <a:srgbClr val="00F0FF"/>
            </a:solidFill>
            <a:round/>
          </a:ln>
          <a:effectLst>
            <a:outerShdw algn="bl" blurRad="190440" dir="0" dist="0" kx="0" ky="0" rotWithShape="0" sx="100000" sy="100000">
              <a:srgbClr val="00F0FF">
                <a:alpha val="4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70" name="Text 3"/>
          <p:cNvSpPr/>
          <p:nvPr/>
        </p:nvSpPr>
        <p:spPr>
          <a:xfrm>
            <a:off x="1137240" y="3072240"/>
            <a:ext cx="364752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00F0FF"/>
                </a:solidFill>
                <a:effectLst/>
                <a:uFillTx/>
                <a:latin typeface="JetBrains Mono"/>
                <a:ea typeface="JetBrains Mono"/>
              </a:rPr>
              <a:t>runs/run-…/</a:t>
            </a:r>
            <a:endParaRPr lang="en-US" sz="1300" b="0" u="none" strike="noStrike">
              <a:solidFill>
                <a:srgbClr val="FFFFFF"/>
              </a:solidFill>
              <a:effectLst/>
              <a:uFillTx/>
              <a:latin typeface="Arial"/>
            </a:endParaRPr>
          </a:p>
        </p:txBody>
      </p:sp>
      <p:sp>
        <p:nvSpPr>
          <p:cNvPr id="271" name="Text 4"/>
          <p:cNvSpPr/>
          <p:nvPr/>
        </p:nvSpPr>
        <p:spPr>
          <a:xfrm>
            <a:off x="1340640" y="3341520"/>
            <a:ext cx="343800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E8F7FF"/>
                </a:solidFill>
                <a:effectLst/>
                <a:uFillTx/>
                <a:latin typeface="JetBrains Mono"/>
                <a:ea typeface="JetBrains Mono"/>
              </a:rPr>
              <a:t>run.json</a:t>
            </a:r>
            <a:endParaRPr lang="en-US" sz="1300" b="0" u="none" strike="noStrike">
              <a:solidFill>
                <a:srgbClr val="FFFFFF"/>
              </a:solidFill>
              <a:effectLst/>
              <a:uFillTx/>
              <a:latin typeface="Arial"/>
            </a:endParaRPr>
          </a:p>
        </p:txBody>
      </p:sp>
      <p:sp>
        <p:nvSpPr>
          <p:cNvPr id="272" name="Text 5"/>
          <p:cNvSpPr/>
          <p:nvPr/>
        </p:nvSpPr>
        <p:spPr>
          <a:xfrm>
            <a:off x="1340640" y="3610800"/>
            <a:ext cx="343800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B07CFF"/>
                </a:solidFill>
                <a:effectLst/>
                <a:uFillTx/>
                <a:latin typeface="JetBrains Mono"/>
                <a:ea typeface="JetBrains Mono"/>
              </a:rPr>
              <a:t>findings/&lt;id&gt;/</a:t>
            </a:r>
            <a:endParaRPr lang="en-US" sz="1300" b="0" u="none" strike="noStrike">
              <a:solidFill>
                <a:srgbClr val="FFFFFF"/>
              </a:solidFill>
              <a:effectLst/>
              <a:uFillTx/>
              <a:latin typeface="Arial"/>
            </a:endParaRPr>
          </a:p>
        </p:txBody>
      </p:sp>
      <p:sp>
        <p:nvSpPr>
          <p:cNvPr id="273" name="Text 6"/>
          <p:cNvSpPr/>
          <p:nvPr/>
        </p:nvSpPr>
        <p:spPr>
          <a:xfrm>
            <a:off x="1543680" y="3879720"/>
            <a:ext cx="322884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E8F7FF"/>
                </a:solidFill>
                <a:effectLst/>
                <a:uFillTx/>
                <a:latin typeface="JetBrains Mono"/>
                <a:ea typeface="JetBrains Mono"/>
              </a:rPr>
              <a:t>hook.js · runtime.log</a:t>
            </a:r>
            <a:endParaRPr lang="en-US" sz="1300" b="0" u="none" strike="noStrike">
              <a:solidFill>
                <a:srgbClr val="FFFFFF"/>
              </a:solidFill>
              <a:effectLst/>
              <a:uFillTx/>
              <a:latin typeface="Arial"/>
            </a:endParaRPr>
          </a:p>
        </p:txBody>
      </p:sp>
      <p:sp>
        <p:nvSpPr>
          <p:cNvPr id="274" name="Text 7"/>
          <p:cNvSpPr/>
          <p:nvPr/>
        </p:nvSpPr>
        <p:spPr>
          <a:xfrm>
            <a:off x="1543680" y="4149000"/>
            <a:ext cx="322884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E8F7FF"/>
                </a:solidFill>
                <a:effectLst/>
                <a:uFillTx/>
                <a:latin typeface="JetBrains Mono"/>
                <a:ea typeface="JetBrains Mono"/>
              </a:rPr>
              <a:t>verdict.json · screen.mp4</a:t>
            </a:r>
            <a:endParaRPr lang="en-US" sz="1300" b="0" u="none" strike="noStrike">
              <a:solidFill>
                <a:srgbClr val="FFFFFF"/>
              </a:solidFill>
              <a:effectLst/>
              <a:uFillTx/>
              <a:latin typeface="Arial"/>
            </a:endParaRPr>
          </a:p>
        </p:txBody>
      </p:sp>
      <p:sp>
        <p:nvSpPr>
          <p:cNvPr id="275" name="Text 8"/>
          <p:cNvSpPr/>
          <p:nvPr/>
        </p:nvSpPr>
        <p:spPr>
          <a:xfrm>
            <a:off x="1340640" y="4418280"/>
            <a:ext cx="343800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39FF9C"/>
                </a:solidFill>
                <a:effectLst/>
                <a:uFillTx/>
                <a:latin typeface="JetBrains Mono"/>
                <a:ea typeface="JetBrains Mono"/>
              </a:rPr>
              <a:t>bugs/&lt;id&gt;.md</a:t>
            </a:r>
            <a:endParaRPr lang="en-US" sz="1300" b="0" u="none" strike="noStrike">
              <a:solidFill>
                <a:srgbClr val="FFFFFF"/>
              </a:solidFill>
              <a:effectLst/>
              <a:uFillTx/>
              <a:latin typeface="Arial"/>
            </a:endParaRPr>
          </a:p>
        </p:txBody>
      </p:sp>
      <p:sp>
        <p:nvSpPr>
          <p:cNvPr id="276" name="Image 1" descr="Real terminal output: ls of an evidence folder followed by the actual runtime.log and verdict.json for a PROVEN finding"/>
          <p:cNvSpPr/>
          <p:nvPr/>
        </p:nvSpPr>
        <p:spPr>
          <a:xfrm>
            <a:off x="5092560" y="2540160"/>
            <a:ext cx="3276000" cy="2640960"/>
          </a:xfrm>
          <a:prstGeom prst="roundRect">
            <a:avLst>
              <a:gd name="adj" fmla="val 2885"/>
            </a:avLst>
          </a:prstGeom>
          <a:blipFill rotWithShape="0">
            <a:blip r:embed="rId2"/>
            <a:srcRect/>
            <a:stretch/>
          </a:blipFill>
          <a:ln w="0">
            <a:noFill/>
          </a:ln>
          <a:effectLst>
            <a:outerShdw algn="bl" blurRad="190440" dir="0" dist="0" kx="0" ky="0" rotWithShape="0" sx="100000" sy="100000">
              <a:srgbClr val="39FF9C">
                <a:alpha val="4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Shape 9"/>
          <p:cNvSpPr/>
          <p:nvPr/>
        </p:nvSpPr>
        <p:spPr>
          <a:xfrm>
            <a:off x="5086440" y="2533680"/>
            <a:ext cx="3288600" cy="2653560"/>
          </a:xfrm>
          <a:prstGeom prst="roundRect">
            <a:avLst>
              <a:gd name="adj" fmla="val 3110"/>
            </a:avLst>
          </a:prstGeom>
          <a:noFill/>
          <a:ln w="12700">
            <a:solidFill>
              <a:srgbClr val="39FF9C"/>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78" name="Text 10"/>
          <p:cNvSpPr/>
          <p:nvPr/>
        </p:nvSpPr>
        <p:spPr>
          <a:xfrm>
            <a:off x="8585280" y="3613320"/>
            <a:ext cx="2746440" cy="519840"/>
          </a:xfrm>
          <a:prstGeom prst="rect">
            <a:avLst/>
          </a:prstGeom>
          <a:noFill/>
          <a:ln w="0">
            <a:noFill/>
          </a:ln>
        </p:spPr>
        <p:style>
          <a:lnRef idx="0"/>
          <a:fillRef idx="0"/>
          <a:effectRef idx="0"/>
          <a:fontRef idx="minor"/>
        </p:style>
        <p:txBody>
          <a:bodyPr lIns="0" tIns="0" rIns="0" bIns="0" anchor="t">
            <a:normAutofit/>
          </a:bodyPr>
          <a:p>
            <a:pPr defTabSz="914400">
              <a:lnSpc>
                <a:spcPts val="1950"/>
              </a:lnSpc>
              <a:tabLst>
                <a:tab pos="0" algn="l"/>
              </a:tabLst>
            </a:pPr>
            <a:r>
              <a:rPr lang="en-US" sz="1500" b="1" u="none" strike="noStrike">
                <a:solidFill>
                  <a:srgbClr val="E8F7FF"/>
                </a:solidFill>
                <a:effectLst/>
                <a:uFillTx/>
                <a:latin typeface="Space Grotesk"/>
                <a:ea typeface="Space Grotesk"/>
              </a:rPr>
              <a:t>Replay it.</a:t>
            </a:r>
            <a:endParaRPr lang="en-US" sz="1500" b="0" u="none" strike="noStrike">
              <a:solidFill>
                <a:srgbClr val="FFFFFF"/>
              </a:solidFill>
              <a:effectLst/>
              <a:uFillTx/>
              <a:latin typeface="Arial"/>
            </a:endParaRPr>
          </a:p>
          <a:p>
            <a:pPr defTabSz="914400">
              <a:lnSpc>
                <a:spcPts val="1950"/>
              </a:lnSpc>
              <a:tabLst>
                <a:tab pos="0" algn="l"/>
              </a:tabLst>
            </a:pPr>
            <a:r>
              <a:rPr lang="en-US" sz="1500" b="1" u="none" strike="noStrike">
                <a:solidFill>
                  <a:srgbClr val="39FF9C"/>
                </a:solidFill>
                <a:effectLst/>
                <a:uFillTx/>
                <a:latin typeface="Space Grotesk"/>
                <a:ea typeface="Space Grotesk"/>
              </a:rPr>
              <a:t>Don't just take my word.</a:t>
            </a:r>
            <a:endParaRPr lang="en-US" sz="1500" b="0" u="none" strike="noStrike">
              <a:solidFill>
                <a:srgbClr val="FFFFFF"/>
              </a:solidFill>
              <a:effectLst/>
              <a:uFillTx/>
              <a:latin typeface="Arial"/>
            </a:endParaRPr>
          </a:p>
        </p:txBody>
      </p:sp>
      <p:sp>
        <p:nvSpPr>
          <p:cNvPr id="279" name="Text 11"/>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280" name="Text 12"/>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19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1" name="Image 0" descr="Neon wave background"/>
          <p:cNvPicPr/>
          <p:nvPr/>
        </p:nvPicPr>
        <p:blipFill>
          <a:blip r:embed="rId1"/>
          <a:stretch/>
        </p:blipFill>
        <p:spPr>
          <a:xfrm>
            <a:off x="0" y="0"/>
            <a:ext cx="12191400" cy="6857280"/>
          </a:xfrm>
          <a:prstGeom prst="rect">
            <a:avLst/>
          </a:prstGeom>
          <a:noFill/>
          <a:ln w="0">
            <a:noFill/>
          </a:ln>
        </p:spPr>
      </p:pic>
      <p:sp>
        <p:nvSpPr>
          <p:cNvPr id="282" name="Text 0"/>
          <p:cNvSpPr/>
          <p:nvPr/>
        </p:nvSpPr>
        <p:spPr>
          <a:xfrm>
            <a:off x="3721680" y="1571760"/>
            <a:ext cx="474804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hooksmith run --report findings.json</a:t>
            </a:r>
            <a:endParaRPr lang="en-US" sz="1200" b="0" u="none" strike="noStrike">
              <a:solidFill>
                <a:srgbClr val="FFFFFF"/>
              </a:solidFill>
              <a:effectLst/>
              <a:uFillTx/>
              <a:latin typeface="Arial"/>
            </a:endParaRPr>
          </a:p>
        </p:txBody>
      </p:sp>
      <p:sp>
        <p:nvSpPr>
          <p:cNvPr id="283" name="PlaceHolder 1"/>
          <p:cNvSpPr>
            <a:spLocks noGrp="1"/>
          </p:cNvSpPr>
          <p:nvPr>
            <p:ph type="title"/>
          </p:nvPr>
        </p:nvSpPr>
        <p:spPr>
          <a:xfrm>
            <a:off x="3661200" y="2013840"/>
            <a:ext cx="486864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Inside the machine</a:t>
            </a:r>
            <a:endParaRPr lang="en-US" sz="3600" b="0" u="none" strike="noStrike">
              <a:solidFill>
                <a:schemeClr val="lt1"/>
              </a:solidFill>
              <a:effectLst/>
              <a:uFillTx/>
              <a:latin typeface="JetBrains Mono"/>
            </a:endParaRPr>
          </a:p>
        </p:txBody>
      </p:sp>
      <p:sp>
        <p:nvSpPr>
          <p:cNvPr id="284" name="Shape 2"/>
          <p:cNvSpPr/>
          <p:nvPr/>
        </p:nvSpPr>
        <p:spPr>
          <a:xfrm>
            <a:off x="819000" y="2758680"/>
            <a:ext cx="1917360" cy="744840"/>
          </a:xfrm>
          <a:prstGeom prst="roundRect">
            <a:avLst>
              <a:gd name="adj" fmla="val 16179"/>
            </a:avLst>
          </a:prstGeom>
          <a:solidFill>
            <a:srgbClr val="05070F"/>
          </a:solidFill>
          <a:ln w="12700">
            <a:solidFill>
              <a:srgbClr val="00F0FF"/>
            </a:solidFill>
            <a:round/>
          </a:ln>
          <a:effectLst>
            <a:outerShdw algn="bl" blurRad="152280" dir="0" dist="0" kx="0" ky="0" rotWithShape="0" sx="100000" sy="100000">
              <a:srgbClr val="00F0F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85" name="Text 3"/>
          <p:cNvSpPr/>
          <p:nvPr/>
        </p:nvSpPr>
        <p:spPr>
          <a:xfrm>
            <a:off x="1449000" y="2899080"/>
            <a:ext cx="6577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00F0FF"/>
                </a:solidFill>
                <a:effectLst/>
                <a:uFillTx/>
                <a:latin typeface="JetBrains Mono"/>
                <a:ea typeface="JetBrains Mono"/>
              </a:rPr>
              <a:t>Triage</a:t>
            </a:r>
            <a:endParaRPr lang="en-US" sz="1200" b="0" u="none" strike="noStrike">
              <a:solidFill>
                <a:srgbClr val="FFFFFF"/>
              </a:solidFill>
              <a:effectLst/>
              <a:uFillTx/>
              <a:latin typeface="Arial"/>
            </a:endParaRPr>
          </a:p>
        </p:txBody>
      </p:sp>
      <p:sp>
        <p:nvSpPr>
          <p:cNvPr id="286" name="Text 4"/>
          <p:cNvSpPr/>
          <p:nvPr/>
        </p:nvSpPr>
        <p:spPr>
          <a:xfrm>
            <a:off x="1136160" y="3150720"/>
            <a:ext cx="12834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dedupe · order</a:t>
            </a:r>
            <a:endParaRPr lang="en-US" sz="1200" b="0" u="none" strike="noStrike">
              <a:solidFill>
                <a:srgbClr val="FFFFFF"/>
              </a:solidFill>
              <a:effectLst/>
              <a:uFillTx/>
              <a:latin typeface="Arial"/>
            </a:endParaRPr>
          </a:p>
        </p:txBody>
      </p:sp>
      <p:sp>
        <p:nvSpPr>
          <p:cNvPr id="287" name="Text 5"/>
          <p:cNvSpPr/>
          <p:nvPr/>
        </p:nvSpPr>
        <p:spPr>
          <a:xfrm>
            <a:off x="2781720" y="2989440"/>
            <a:ext cx="144000" cy="309240"/>
          </a:xfrm>
          <a:prstGeom prst="rect">
            <a:avLst/>
          </a:prstGeom>
          <a:noFill/>
          <a:ln w="0">
            <a:noFill/>
          </a:ln>
        </p:spPr>
        <p:style>
          <a:lnRef idx="0"/>
          <a:fillRef idx="0"/>
          <a:effectRef idx="0"/>
          <a:fontRef idx="minor"/>
        </p:style>
        <p:txBody>
          <a:bodyPr lIns="0" tIns="0" rIns="0" bIns="0" anchor="t">
            <a:normAutofit/>
          </a:bodyPr>
          <a:p>
            <a:pPr algn="ctr" defTabSz="914400">
              <a:lnSpc>
                <a:spcPts val="2239"/>
              </a:lnSpc>
              <a:tabLst>
                <a:tab pos="0" algn="l"/>
              </a:tabLst>
            </a:pPr>
            <a:r>
              <a:rPr lang="en-US" sz="1600" b="0" u="none" strike="noStrike">
                <a:solidFill>
                  <a:srgbClr val="6F82A8"/>
                </a:solidFill>
                <a:effectLst/>
                <a:uFillTx/>
                <a:latin typeface="Space Grotesk"/>
                <a:ea typeface="Space Grotesk"/>
              </a:rPr>
              <a:t>›</a:t>
            </a:r>
            <a:endParaRPr lang="en-US" sz="1600" b="0" u="none" strike="noStrike">
              <a:solidFill>
                <a:srgbClr val="FFFFFF"/>
              </a:solidFill>
              <a:effectLst/>
              <a:uFillTx/>
              <a:latin typeface="Arial"/>
            </a:endParaRPr>
          </a:p>
        </p:txBody>
      </p:sp>
      <p:sp>
        <p:nvSpPr>
          <p:cNvPr id="288" name="Shape 6"/>
          <p:cNvSpPr/>
          <p:nvPr/>
        </p:nvSpPr>
        <p:spPr>
          <a:xfrm>
            <a:off x="2970720" y="2758680"/>
            <a:ext cx="1917360" cy="744840"/>
          </a:xfrm>
          <a:prstGeom prst="roundRect">
            <a:avLst>
              <a:gd name="adj" fmla="val 16179"/>
            </a:avLst>
          </a:prstGeom>
          <a:solidFill>
            <a:srgbClr val="05070F"/>
          </a:solidFill>
          <a:ln w="12700">
            <a:solidFill>
              <a:srgbClr val="00F0FF"/>
            </a:solidFill>
            <a:round/>
          </a:ln>
          <a:effectLst>
            <a:outerShdw algn="bl" blurRad="152280" dir="0" dist="0" kx="0" ky="0" rotWithShape="0" sx="100000" sy="100000">
              <a:srgbClr val="00F0F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89" name="Text 7"/>
          <p:cNvSpPr/>
          <p:nvPr/>
        </p:nvSpPr>
        <p:spPr>
          <a:xfrm>
            <a:off x="3436200" y="2899080"/>
            <a:ext cx="9867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00F0FF"/>
                </a:solidFill>
                <a:effectLst/>
                <a:uFillTx/>
                <a:latin typeface="JetBrains Mono"/>
                <a:ea typeface="JetBrains Mono"/>
              </a:rPr>
              <a:t>Decompile</a:t>
            </a:r>
            <a:endParaRPr lang="en-US" sz="1200" b="0" u="none" strike="noStrike">
              <a:solidFill>
                <a:srgbClr val="FFFFFF"/>
              </a:solidFill>
              <a:effectLst/>
              <a:uFillTx/>
              <a:latin typeface="Arial"/>
            </a:endParaRPr>
          </a:p>
        </p:txBody>
      </p:sp>
      <p:sp>
        <p:nvSpPr>
          <p:cNvPr id="290" name="Text 8"/>
          <p:cNvSpPr/>
          <p:nvPr/>
        </p:nvSpPr>
        <p:spPr>
          <a:xfrm>
            <a:off x="3742920" y="3150720"/>
            <a:ext cx="3736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jadx</a:t>
            </a:r>
            <a:endParaRPr lang="en-US" sz="1200" b="0" u="none" strike="noStrike">
              <a:solidFill>
                <a:srgbClr val="FFFFFF"/>
              </a:solidFill>
              <a:effectLst/>
              <a:uFillTx/>
              <a:latin typeface="Arial"/>
            </a:endParaRPr>
          </a:p>
        </p:txBody>
      </p:sp>
      <p:sp>
        <p:nvSpPr>
          <p:cNvPr id="291" name="Text 9"/>
          <p:cNvSpPr/>
          <p:nvPr/>
        </p:nvSpPr>
        <p:spPr>
          <a:xfrm>
            <a:off x="4933440" y="2989440"/>
            <a:ext cx="144000" cy="309240"/>
          </a:xfrm>
          <a:prstGeom prst="rect">
            <a:avLst/>
          </a:prstGeom>
          <a:noFill/>
          <a:ln w="0">
            <a:noFill/>
          </a:ln>
        </p:spPr>
        <p:style>
          <a:lnRef idx="0"/>
          <a:fillRef idx="0"/>
          <a:effectRef idx="0"/>
          <a:fontRef idx="minor"/>
        </p:style>
        <p:txBody>
          <a:bodyPr lIns="0" tIns="0" rIns="0" bIns="0" anchor="t">
            <a:normAutofit/>
          </a:bodyPr>
          <a:p>
            <a:pPr algn="ctr" defTabSz="914400">
              <a:lnSpc>
                <a:spcPts val="2239"/>
              </a:lnSpc>
              <a:tabLst>
                <a:tab pos="0" algn="l"/>
              </a:tabLst>
            </a:pPr>
            <a:r>
              <a:rPr lang="en-US" sz="1600" b="0" u="none" strike="noStrike">
                <a:solidFill>
                  <a:srgbClr val="6F82A8"/>
                </a:solidFill>
                <a:effectLst/>
                <a:uFillTx/>
                <a:latin typeface="Space Grotesk"/>
                <a:ea typeface="Space Grotesk"/>
              </a:rPr>
              <a:t>›</a:t>
            </a:r>
            <a:endParaRPr lang="en-US" sz="1600" b="0" u="none" strike="noStrike">
              <a:solidFill>
                <a:srgbClr val="FFFFFF"/>
              </a:solidFill>
              <a:effectLst/>
              <a:uFillTx/>
              <a:latin typeface="Arial"/>
            </a:endParaRPr>
          </a:p>
        </p:txBody>
      </p:sp>
      <p:sp>
        <p:nvSpPr>
          <p:cNvPr id="292" name="Shape 10"/>
          <p:cNvSpPr/>
          <p:nvPr/>
        </p:nvSpPr>
        <p:spPr>
          <a:xfrm>
            <a:off x="5122800" y="2758680"/>
            <a:ext cx="1917360" cy="744840"/>
          </a:xfrm>
          <a:prstGeom prst="roundRect">
            <a:avLst>
              <a:gd name="adj" fmla="val 16179"/>
            </a:avLst>
          </a:prstGeom>
          <a:solidFill>
            <a:srgbClr val="05070F"/>
          </a:solidFill>
          <a:ln w="12700">
            <a:solidFill>
              <a:srgbClr val="00F0FF"/>
            </a:solidFill>
            <a:round/>
          </a:ln>
          <a:effectLst>
            <a:outerShdw algn="bl" blurRad="152280" dir="0" dist="0" kx="0" ky="0" rotWithShape="0" sx="100000" sy="100000">
              <a:srgbClr val="00F0F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93" name="Text 11"/>
          <p:cNvSpPr/>
          <p:nvPr/>
        </p:nvSpPr>
        <p:spPr>
          <a:xfrm>
            <a:off x="5862240" y="2899080"/>
            <a:ext cx="4381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00F0FF"/>
                </a:solidFill>
                <a:effectLst/>
                <a:uFillTx/>
                <a:latin typeface="JetBrains Mono"/>
                <a:ea typeface="JetBrains Mono"/>
              </a:rPr>
              <a:t>Plan</a:t>
            </a:r>
            <a:endParaRPr lang="en-US" sz="1200" b="0" u="none" strike="noStrike">
              <a:solidFill>
                <a:srgbClr val="FFFFFF"/>
              </a:solidFill>
              <a:effectLst/>
              <a:uFillTx/>
              <a:latin typeface="Arial"/>
            </a:endParaRPr>
          </a:p>
        </p:txBody>
      </p:sp>
      <p:sp>
        <p:nvSpPr>
          <p:cNvPr id="294" name="Text 12"/>
          <p:cNvSpPr/>
          <p:nvPr/>
        </p:nvSpPr>
        <p:spPr>
          <a:xfrm>
            <a:off x="5415840" y="3150720"/>
            <a:ext cx="13312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how to reach it</a:t>
            </a:r>
            <a:endParaRPr lang="en-US" sz="1200" b="0" u="none" strike="noStrike">
              <a:solidFill>
                <a:srgbClr val="FFFFFF"/>
              </a:solidFill>
              <a:effectLst/>
              <a:uFillTx/>
              <a:latin typeface="Arial"/>
            </a:endParaRPr>
          </a:p>
        </p:txBody>
      </p:sp>
      <p:sp>
        <p:nvSpPr>
          <p:cNvPr id="295" name="Text 13"/>
          <p:cNvSpPr/>
          <p:nvPr/>
        </p:nvSpPr>
        <p:spPr>
          <a:xfrm>
            <a:off x="7085160" y="2989440"/>
            <a:ext cx="144000" cy="309240"/>
          </a:xfrm>
          <a:prstGeom prst="rect">
            <a:avLst/>
          </a:prstGeom>
          <a:noFill/>
          <a:ln w="0">
            <a:noFill/>
          </a:ln>
        </p:spPr>
        <p:style>
          <a:lnRef idx="0"/>
          <a:fillRef idx="0"/>
          <a:effectRef idx="0"/>
          <a:fontRef idx="minor"/>
        </p:style>
        <p:txBody>
          <a:bodyPr lIns="0" tIns="0" rIns="0" bIns="0" anchor="t">
            <a:normAutofit/>
          </a:bodyPr>
          <a:p>
            <a:pPr algn="ctr" defTabSz="914400">
              <a:lnSpc>
                <a:spcPts val="2239"/>
              </a:lnSpc>
              <a:tabLst>
                <a:tab pos="0" algn="l"/>
              </a:tabLst>
            </a:pPr>
            <a:r>
              <a:rPr lang="en-US" sz="1600" b="0" u="none" strike="noStrike">
                <a:solidFill>
                  <a:srgbClr val="6F82A8"/>
                </a:solidFill>
                <a:effectLst/>
                <a:uFillTx/>
                <a:latin typeface="Space Grotesk"/>
                <a:ea typeface="Space Grotesk"/>
              </a:rPr>
              <a:t>›</a:t>
            </a:r>
            <a:endParaRPr lang="en-US" sz="1600" b="0" u="none" strike="noStrike">
              <a:solidFill>
                <a:srgbClr val="FFFFFF"/>
              </a:solidFill>
              <a:effectLst/>
              <a:uFillTx/>
              <a:latin typeface="Arial"/>
            </a:endParaRPr>
          </a:p>
        </p:txBody>
      </p:sp>
      <p:sp>
        <p:nvSpPr>
          <p:cNvPr id="296" name="Shape 14"/>
          <p:cNvSpPr/>
          <p:nvPr/>
        </p:nvSpPr>
        <p:spPr>
          <a:xfrm>
            <a:off x="7277760" y="2754720"/>
            <a:ext cx="1925280" cy="752760"/>
          </a:xfrm>
          <a:prstGeom prst="roundRect">
            <a:avLst>
              <a:gd name="adj" fmla="val 15590"/>
            </a:avLst>
          </a:prstGeom>
          <a:solidFill>
            <a:srgbClr val="05070F"/>
          </a:solidFill>
          <a:ln w="19050">
            <a:solidFill>
              <a:srgbClr val="B07CFF"/>
            </a:solidFill>
            <a:round/>
          </a:ln>
          <a:effectLst>
            <a:outerShdw algn="bl" blurRad="228600" dir="0" dist="0" kx="0" ky="0" rotWithShape="0" sx="100000" sy="100000">
              <a:srgbClr val="B07CFF">
                <a:alpha val="6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297" name="Text 15"/>
          <p:cNvSpPr/>
          <p:nvPr/>
        </p:nvSpPr>
        <p:spPr>
          <a:xfrm>
            <a:off x="7801560" y="2899080"/>
            <a:ext cx="8769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B07CFF"/>
                </a:solidFill>
                <a:effectLst/>
                <a:uFillTx/>
                <a:latin typeface="JetBrains Mono"/>
                <a:ea typeface="JetBrains Mono"/>
              </a:rPr>
              <a:t>Generate</a:t>
            </a:r>
            <a:endParaRPr lang="en-US" sz="1200" b="0" u="none" strike="noStrike">
              <a:solidFill>
                <a:srgbClr val="FFFFFF"/>
              </a:solidFill>
              <a:effectLst/>
              <a:uFillTx/>
              <a:latin typeface="Arial"/>
            </a:endParaRPr>
          </a:p>
        </p:txBody>
      </p:sp>
      <p:sp>
        <p:nvSpPr>
          <p:cNvPr id="298" name="Text 16"/>
          <p:cNvSpPr/>
          <p:nvPr/>
        </p:nvSpPr>
        <p:spPr>
          <a:xfrm>
            <a:off x="8061480" y="3150720"/>
            <a:ext cx="3574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LLM</a:t>
            </a:r>
            <a:endParaRPr lang="en-US" sz="1200" b="0" u="none" strike="noStrike">
              <a:solidFill>
                <a:srgbClr val="FFFFFF"/>
              </a:solidFill>
              <a:effectLst/>
              <a:uFillTx/>
              <a:latin typeface="Arial"/>
            </a:endParaRPr>
          </a:p>
        </p:txBody>
      </p:sp>
      <p:sp>
        <p:nvSpPr>
          <p:cNvPr id="299" name="Text 17"/>
          <p:cNvSpPr/>
          <p:nvPr/>
        </p:nvSpPr>
        <p:spPr>
          <a:xfrm>
            <a:off x="9251280" y="2989440"/>
            <a:ext cx="144000" cy="309240"/>
          </a:xfrm>
          <a:prstGeom prst="rect">
            <a:avLst/>
          </a:prstGeom>
          <a:noFill/>
          <a:ln w="0">
            <a:noFill/>
          </a:ln>
        </p:spPr>
        <p:style>
          <a:lnRef idx="0"/>
          <a:fillRef idx="0"/>
          <a:effectRef idx="0"/>
          <a:fontRef idx="minor"/>
        </p:style>
        <p:txBody>
          <a:bodyPr lIns="0" tIns="0" rIns="0" bIns="0" anchor="t">
            <a:normAutofit/>
          </a:bodyPr>
          <a:p>
            <a:pPr algn="ctr" defTabSz="914400">
              <a:lnSpc>
                <a:spcPts val="2239"/>
              </a:lnSpc>
              <a:tabLst>
                <a:tab pos="0" algn="l"/>
              </a:tabLst>
            </a:pPr>
            <a:r>
              <a:rPr lang="en-US" sz="1600" b="0" u="none" strike="noStrike">
                <a:solidFill>
                  <a:srgbClr val="6F82A8"/>
                </a:solidFill>
                <a:effectLst/>
                <a:uFillTx/>
                <a:latin typeface="Space Grotesk"/>
                <a:ea typeface="Space Grotesk"/>
              </a:rPr>
              <a:t>›</a:t>
            </a:r>
            <a:endParaRPr lang="en-US" sz="1600" b="0" u="none" strike="noStrike">
              <a:solidFill>
                <a:srgbClr val="FFFFFF"/>
              </a:solidFill>
              <a:effectLst/>
              <a:uFillTx/>
              <a:latin typeface="Arial"/>
            </a:endParaRPr>
          </a:p>
        </p:txBody>
      </p:sp>
      <p:sp>
        <p:nvSpPr>
          <p:cNvPr id="300" name="Shape 18"/>
          <p:cNvSpPr/>
          <p:nvPr/>
        </p:nvSpPr>
        <p:spPr>
          <a:xfrm>
            <a:off x="9443520" y="2754720"/>
            <a:ext cx="1925280" cy="752760"/>
          </a:xfrm>
          <a:prstGeom prst="roundRect">
            <a:avLst>
              <a:gd name="adj" fmla="val 15590"/>
            </a:avLst>
          </a:prstGeom>
          <a:solidFill>
            <a:srgbClr val="05070F"/>
          </a:solidFill>
          <a:ln w="19050">
            <a:solidFill>
              <a:srgbClr val="39FF9C"/>
            </a:solidFill>
            <a:round/>
          </a:ln>
          <a:effectLst>
            <a:outerShdw algn="bl" blurRad="228600" dir="0" dist="0" kx="0" ky="0" rotWithShape="0" sx="100000" sy="100000">
              <a:srgbClr val="39FF9C">
                <a:alpha val="5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01" name="Text 19"/>
          <p:cNvSpPr/>
          <p:nvPr/>
        </p:nvSpPr>
        <p:spPr>
          <a:xfrm>
            <a:off x="9967680" y="2899080"/>
            <a:ext cx="8769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39FF9C"/>
                </a:solidFill>
                <a:effectLst/>
                <a:uFillTx/>
                <a:latin typeface="JetBrains Mono"/>
                <a:ea typeface="JetBrains Mono"/>
              </a:rPr>
              <a:t>Validate</a:t>
            </a:r>
            <a:endParaRPr lang="en-US" sz="1200" b="0" u="none" strike="noStrike">
              <a:solidFill>
                <a:srgbClr val="FFFFFF"/>
              </a:solidFill>
              <a:effectLst/>
              <a:uFillTx/>
              <a:latin typeface="Arial"/>
            </a:endParaRPr>
          </a:p>
        </p:txBody>
      </p:sp>
      <p:sp>
        <p:nvSpPr>
          <p:cNvPr id="302" name="Text 20"/>
          <p:cNvSpPr/>
          <p:nvPr/>
        </p:nvSpPr>
        <p:spPr>
          <a:xfrm>
            <a:off x="10015560" y="3150720"/>
            <a:ext cx="7812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7 checks</a:t>
            </a:r>
            <a:endParaRPr lang="en-US" sz="1200" b="0" u="none" strike="noStrike">
              <a:solidFill>
                <a:srgbClr val="FFFFFF"/>
              </a:solidFill>
              <a:effectLst/>
              <a:uFillTx/>
              <a:latin typeface="Arial"/>
            </a:endParaRPr>
          </a:p>
        </p:txBody>
      </p:sp>
      <p:sp>
        <p:nvSpPr>
          <p:cNvPr id="303" name="Shape 21"/>
          <p:cNvSpPr/>
          <p:nvPr/>
        </p:nvSpPr>
        <p:spPr>
          <a:xfrm>
            <a:off x="819000" y="3759840"/>
            <a:ext cx="2458800" cy="744840"/>
          </a:xfrm>
          <a:prstGeom prst="roundRect">
            <a:avLst>
              <a:gd name="adj" fmla="val 16179"/>
            </a:avLst>
          </a:prstGeom>
          <a:solidFill>
            <a:srgbClr val="05070F"/>
          </a:solidFill>
          <a:ln w="12700">
            <a:solidFill>
              <a:srgbClr val="00F0FF"/>
            </a:solidFill>
            <a:round/>
          </a:ln>
          <a:effectLst>
            <a:outerShdw algn="bl" blurRad="152280" dir="0" dist="0" kx="0" ky="0" rotWithShape="0" sx="100000" sy="100000">
              <a:srgbClr val="00F0F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04" name="Text 22"/>
          <p:cNvSpPr/>
          <p:nvPr/>
        </p:nvSpPr>
        <p:spPr>
          <a:xfrm>
            <a:off x="1665000" y="3900240"/>
            <a:ext cx="7675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00F0FF"/>
                </a:solidFill>
                <a:effectLst/>
                <a:uFillTx/>
                <a:latin typeface="JetBrains Mono"/>
                <a:ea typeface="JetBrains Mono"/>
              </a:rPr>
              <a:t>Execute</a:t>
            </a:r>
            <a:endParaRPr lang="en-US" sz="1200" b="0" u="none" strike="noStrike">
              <a:solidFill>
                <a:srgbClr val="FFFFFF"/>
              </a:solidFill>
              <a:effectLst/>
              <a:uFillTx/>
              <a:latin typeface="Arial"/>
            </a:endParaRPr>
          </a:p>
        </p:txBody>
      </p:sp>
      <p:sp>
        <p:nvSpPr>
          <p:cNvPr id="305" name="Text 23"/>
          <p:cNvSpPr/>
          <p:nvPr/>
        </p:nvSpPr>
        <p:spPr>
          <a:xfrm>
            <a:off x="1356840" y="4151880"/>
            <a:ext cx="13834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Frida, on device</a:t>
            </a:r>
            <a:endParaRPr lang="en-US" sz="1200" b="0" u="none" strike="noStrike">
              <a:solidFill>
                <a:srgbClr val="FFFFFF"/>
              </a:solidFill>
              <a:effectLst/>
              <a:uFillTx/>
              <a:latin typeface="Arial"/>
            </a:endParaRPr>
          </a:p>
        </p:txBody>
      </p:sp>
      <p:sp>
        <p:nvSpPr>
          <p:cNvPr id="306" name="Text 24"/>
          <p:cNvSpPr/>
          <p:nvPr/>
        </p:nvSpPr>
        <p:spPr>
          <a:xfrm>
            <a:off x="3323160" y="3990600"/>
            <a:ext cx="144000" cy="309240"/>
          </a:xfrm>
          <a:prstGeom prst="rect">
            <a:avLst/>
          </a:prstGeom>
          <a:noFill/>
          <a:ln w="0">
            <a:noFill/>
          </a:ln>
        </p:spPr>
        <p:style>
          <a:lnRef idx="0"/>
          <a:fillRef idx="0"/>
          <a:effectRef idx="0"/>
          <a:fontRef idx="minor"/>
        </p:style>
        <p:txBody>
          <a:bodyPr lIns="0" tIns="0" rIns="0" bIns="0" anchor="t">
            <a:normAutofit/>
          </a:bodyPr>
          <a:p>
            <a:pPr algn="ctr" defTabSz="914400">
              <a:lnSpc>
                <a:spcPts val="2239"/>
              </a:lnSpc>
              <a:tabLst>
                <a:tab pos="0" algn="l"/>
              </a:tabLst>
            </a:pPr>
            <a:r>
              <a:rPr lang="en-US" sz="1600" b="0" u="none" strike="noStrike">
                <a:solidFill>
                  <a:srgbClr val="6F82A8"/>
                </a:solidFill>
                <a:effectLst/>
                <a:uFillTx/>
                <a:latin typeface="Space Grotesk"/>
                <a:ea typeface="Space Grotesk"/>
              </a:rPr>
              <a:t>›</a:t>
            </a:r>
            <a:endParaRPr lang="en-US" sz="1600" b="0" u="none" strike="noStrike">
              <a:solidFill>
                <a:srgbClr val="FFFFFF"/>
              </a:solidFill>
              <a:effectLst/>
              <a:uFillTx/>
              <a:latin typeface="Arial"/>
            </a:endParaRPr>
          </a:p>
        </p:txBody>
      </p:sp>
      <p:sp>
        <p:nvSpPr>
          <p:cNvPr id="307" name="Shape 25"/>
          <p:cNvSpPr/>
          <p:nvPr/>
        </p:nvSpPr>
        <p:spPr>
          <a:xfrm>
            <a:off x="3515400" y="3755880"/>
            <a:ext cx="2466720" cy="752760"/>
          </a:xfrm>
          <a:prstGeom prst="roundRect">
            <a:avLst>
              <a:gd name="adj" fmla="val 15590"/>
            </a:avLst>
          </a:prstGeom>
          <a:solidFill>
            <a:srgbClr val="05070F"/>
          </a:solidFill>
          <a:ln w="19050">
            <a:solidFill>
              <a:srgbClr val="39FF9C"/>
            </a:solidFill>
            <a:round/>
          </a:ln>
          <a:effectLst>
            <a:outerShdw algn="bl" blurRad="228600" dir="0" dist="0" kx="0" ky="0" rotWithShape="0" sx="100000" sy="100000">
              <a:srgbClr val="39FF9C">
                <a:alpha val="5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08" name="Text 26"/>
          <p:cNvSpPr/>
          <p:nvPr/>
        </p:nvSpPr>
        <p:spPr>
          <a:xfrm>
            <a:off x="4310640" y="3900240"/>
            <a:ext cx="8769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39FF9C"/>
                </a:solidFill>
                <a:effectLst/>
                <a:uFillTx/>
                <a:latin typeface="JetBrains Mono"/>
                <a:ea typeface="JetBrains Mono"/>
              </a:rPr>
              <a:t>Classify</a:t>
            </a:r>
            <a:endParaRPr lang="en-US" sz="1200" b="0" u="none" strike="noStrike">
              <a:solidFill>
                <a:srgbClr val="FFFFFF"/>
              </a:solidFill>
              <a:effectLst/>
              <a:uFillTx/>
              <a:latin typeface="Arial"/>
            </a:endParaRPr>
          </a:p>
        </p:txBody>
      </p:sp>
      <p:sp>
        <p:nvSpPr>
          <p:cNvPr id="309" name="Text 27"/>
          <p:cNvSpPr/>
          <p:nvPr/>
        </p:nvSpPr>
        <p:spPr>
          <a:xfrm>
            <a:off x="4185720" y="4151880"/>
            <a:ext cx="11268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signal library</a:t>
            </a:r>
            <a:endParaRPr lang="en-US" sz="1200" b="0" u="none" strike="noStrike">
              <a:solidFill>
                <a:srgbClr val="FFFFFF"/>
              </a:solidFill>
              <a:effectLst/>
              <a:uFillTx/>
              <a:latin typeface="Arial"/>
            </a:endParaRPr>
          </a:p>
        </p:txBody>
      </p:sp>
      <p:sp>
        <p:nvSpPr>
          <p:cNvPr id="310" name="Text 28"/>
          <p:cNvSpPr/>
          <p:nvPr/>
        </p:nvSpPr>
        <p:spPr>
          <a:xfrm>
            <a:off x="6030720" y="3990600"/>
            <a:ext cx="144000" cy="309240"/>
          </a:xfrm>
          <a:prstGeom prst="rect">
            <a:avLst/>
          </a:prstGeom>
          <a:noFill/>
          <a:ln w="0">
            <a:noFill/>
          </a:ln>
        </p:spPr>
        <p:style>
          <a:lnRef idx="0"/>
          <a:fillRef idx="0"/>
          <a:effectRef idx="0"/>
          <a:fontRef idx="minor"/>
        </p:style>
        <p:txBody>
          <a:bodyPr lIns="0" tIns="0" rIns="0" bIns="0" anchor="t">
            <a:normAutofit/>
          </a:bodyPr>
          <a:p>
            <a:pPr algn="ctr" defTabSz="914400">
              <a:lnSpc>
                <a:spcPts val="2239"/>
              </a:lnSpc>
              <a:tabLst>
                <a:tab pos="0" algn="l"/>
              </a:tabLst>
            </a:pPr>
            <a:r>
              <a:rPr lang="en-US" sz="1600" b="0" u="none" strike="noStrike">
                <a:solidFill>
                  <a:srgbClr val="6F82A8"/>
                </a:solidFill>
                <a:effectLst/>
                <a:uFillTx/>
                <a:latin typeface="Space Grotesk"/>
                <a:ea typeface="Space Grotesk"/>
              </a:rPr>
              <a:t>›</a:t>
            </a:r>
            <a:endParaRPr lang="en-US" sz="1600" b="0" u="none" strike="noStrike">
              <a:solidFill>
                <a:srgbClr val="FFFFFF"/>
              </a:solidFill>
              <a:effectLst/>
              <a:uFillTx/>
              <a:latin typeface="Arial"/>
            </a:endParaRPr>
          </a:p>
        </p:txBody>
      </p:sp>
      <p:sp>
        <p:nvSpPr>
          <p:cNvPr id="311" name="Shape 29"/>
          <p:cNvSpPr/>
          <p:nvPr/>
        </p:nvSpPr>
        <p:spPr>
          <a:xfrm>
            <a:off x="6220080" y="3759840"/>
            <a:ext cx="2458800" cy="744840"/>
          </a:xfrm>
          <a:prstGeom prst="roundRect">
            <a:avLst>
              <a:gd name="adj" fmla="val 16179"/>
            </a:avLst>
          </a:prstGeom>
          <a:solidFill>
            <a:srgbClr val="05070F"/>
          </a:solidFill>
          <a:ln w="12700">
            <a:solidFill>
              <a:srgbClr val="00F0FF"/>
            </a:solidFill>
            <a:round/>
          </a:ln>
          <a:effectLst>
            <a:outerShdw algn="bl" blurRad="152280" dir="0" dist="0" kx="0" ky="0" rotWithShape="0" sx="100000" sy="100000">
              <a:srgbClr val="00F0F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12" name="Text 30"/>
          <p:cNvSpPr/>
          <p:nvPr/>
        </p:nvSpPr>
        <p:spPr>
          <a:xfrm>
            <a:off x="7120440" y="3900240"/>
            <a:ext cx="6577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00F0FF"/>
                </a:solidFill>
                <a:effectLst/>
                <a:uFillTx/>
                <a:latin typeface="JetBrains Mono"/>
                <a:ea typeface="JetBrains Mono"/>
              </a:rPr>
              <a:t>Record</a:t>
            </a:r>
            <a:endParaRPr lang="en-US" sz="1200" b="0" u="none" strike="noStrike">
              <a:solidFill>
                <a:srgbClr val="FFFFFF"/>
              </a:solidFill>
              <a:effectLst/>
              <a:uFillTx/>
              <a:latin typeface="Arial"/>
            </a:endParaRPr>
          </a:p>
        </p:txBody>
      </p:sp>
      <p:sp>
        <p:nvSpPr>
          <p:cNvPr id="313" name="Text 31"/>
          <p:cNvSpPr/>
          <p:nvPr/>
        </p:nvSpPr>
        <p:spPr>
          <a:xfrm>
            <a:off x="7047720" y="4151880"/>
            <a:ext cx="8031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evidence</a:t>
            </a:r>
            <a:endParaRPr lang="en-US" sz="1200" b="0" u="none" strike="noStrike">
              <a:solidFill>
                <a:srgbClr val="FFFFFF"/>
              </a:solidFill>
              <a:effectLst/>
              <a:uFillTx/>
              <a:latin typeface="Arial"/>
            </a:endParaRPr>
          </a:p>
        </p:txBody>
      </p:sp>
      <p:sp>
        <p:nvSpPr>
          <p:cNvPr id="314" name="Text 32"/>
          <p:cNvSpPr/>
          <p:nvPr/>
        </p:nvSpPr>
        <p:spPr>
          <a:xfrm>
            <a:off x="8723880" y="3990600"/>
            <a:ext cx="144000" cy="309240"/>
          </a:xfrm>
          <a:prstGeom prst="rect">
            <a:avLst/>
          </a:prstGeom>
          <a:noFill/>
          <a:ln w="0">
            <a:noFill/>
          </a:ln>
        </p:spPr>
        <p:style>
          <a:lnRef idx="0"/>
          <a:fillRef idx="0"/>
          <a:effectRef idx="0"/>
          <a:fontRef idx="minor"/>
        </p:style>
        <p:txBody>
          <a:bodyPr lIns="0" tIns="0" rIns="0" bIns="0" anchor="t">
            <a:normAutofit/>
          </a:bodyPr>
          <a:p>
            <a:pPr algn="ctr" defTabSz="914400">
              <a:lnSpc>
                <a:spcPts val="2239"/>
              </a:lnSpc>
              <a:tabLst>
                <a:tab pos="0" algn="l"/>
              </a:tabLst>
            </a:pPr>
            <a:r>
              <a:rPr lang="en-US" sz="1600" b="0" u="none" strike="noStrike">
                <a:solidFill>
                  <a:srgbClr val="6F82A8"/>
                </a:solidFill>
                <a:effectLst/>
                <a:uFillTx/>
                <a:latin typeface="Space Grotesk"/>
                <a:ea typeface="Space Grotesk"/>
              </a:rPr>
              <a:t>›</a:t>
            </a:r>
            <a:endParaRPr lang="en-US" sz="1600" b="0" u="none" strike="noStrike">
              <a:solidFill>
                <a:srgbClr val="FFFFFF"/>
              </a:solidFill>
              <a:effectLst/>
              <a:uFillTx/>
              <a:latin typeface="Arial"/>
            </a:endParaRPr>
          </a:p>
        </p:txBody>
      </p:sp>
      <p:sp>
        <p:nvSpPr>
          <p:cNvPr id="315" name="Shape 33"/>
          <p:cNvSpPr/>
          <p:nvPr/>
        </p:nvSpPr>
        <p:spPr>
          <a:xfrm>
            <a:off x="8913240" y="3759840"/>
            <a:ext cx="2458800" cy="744840"/>
          </a:xfrm>
          <a:prstGeom prst="roundRect">
            <a:avLst>
              <a:gd name="adj" fmla="val 16179"/>
            </a:avLst>
          </a:prstGeom>
          <a:solidFill>
            <a:srgbClr val="05070F"/>
          </a:solidFill>
          <a:ln w="12700">
            <a:solidFill>
              <a:srgbClr val="00F0FF"/>
            </a:solidFill>
            <a:round/>
          </a:ln>
          <a:effectLst>
            <a:outerShdw algn="bl" blurRad="152280" dir="0" dist="0" kx="0" ky="0" rotWithShape="0" sx="100000" sy="100000">
              <a:srgbClr val="00F0F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16" name="Text 34"/>
          <p:cNvSpPr/>
          <p:nvPr/>
        </p:nvSpPr>
        <p:spPr>
          <a:xfrm>
            <a:off x="9813600" y="3900240"/>
            <a:ext cx="6577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1" u="none" strike="noStrike">
                <a:solidFill>
                  <a:srgbClr val="00F0FF"/>
                </a:solidFill>
                <a:effectLst/>
                <a:uFillTx/>
                <a:latin typeface="JetBrains Mono"/>
                <a:ea typeface="JetBrains Mono"/>
              </a:rPr>
              <a:t>Report</a:t>
            </a:r>
            <a:endParaRPr lang="en-US" sz="1200" b="0" u="none" strike="noStrike">
              <a:solidFill>
                <a:srgbClr val="FFFFFF"/>
              </a:solidFill>
              <a:effectLst/>
              <a:uFillTx/>
              <a:latin typeface="Arial"/>
            </a:endParaRPr>
          </a:p>
        </p:txBody>
      </p:sp>
      <p:sp>
        <p:nvSpPr>
          <p:cNvPr id="317" name="Text 35"/>
          <p:cNvSpPr/>
          <p:nvPr/>
        </p:nvSpPr>
        <p:spPr>
          <a:xfrm>
            <a:off x="9433440" y="4151880"/>
            <a:ext cx="14184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trike="noStrike">
                <a:solidFill>
                  <a:srgbClr val="8FA3C7"/>
                </a:solidFill>
                <a:effectLst/>
                <a:uFillTx/>
                <a:latin typeface="Space Grotesk"/>
                <a:ea typeface="Space Grotesk"/>
              </a:rPr>
              <a:t>bug per PROVEN</a:t>
            </a:r>
            <a:endParaRPr lang="en-US" sz="1200" b="0" u="none" strike="noStrike">
              <a:solidFill>
                <a:srgbClr val="FFFFFF"/>
              </a:solidFill>
              <a:effectLst/>
              <a:uFillTx/>
              <a:latin typeface="Arial"/>
            </a:endParaRPr>
          </a:p>
        </p:txBody>
      </p:sp>
      <p:sp>
        <p:nvSpPr>
          <p:cNvPr id="318" name="Text 36"/>
          <p:cNvSpPr/>
          <p:nvPr/>
        </p:nvSpPr>
        <p:spPr>
          <a:xfrm>
            <a:off x="3479040" y="4747680"/>
            <a:ext cx="5232960" cy="360000"/>
          </a:xfrm>
          <a:prstGeom prst="rect">
            <a:avLst/>
          </a:prstGeom>
          <a:noFill/>
          <a:ln w="0">
            <a:noFill/>
          </a:ln>
        </p:spPr>
        <p:style>
          <a:lnRef idx="0"/>
          <a:fillRef idx="0"/>
          <a:effectRef idx="0"/>
          <a:fontRef idx="minor"/>
        </p:style>
        <p:txBody>
          <a:bodyPr lIns="0" tIns="0" rIns="0" bIns="0" anchor="t">
            <a:normAutofit/>
          </a:bodyPr>
          <a:p>
            <a:pPr algn="ctr" defTabSz="914400">
              <a:lnSpc>
                <a:spcPts val="2639"/>
              </a:lnSpc>
              <a:tabLst>
                <a:tab pos="0" algn="l"/>
              </a:tabLst>
            </a:pPr>
            <a:r>
              <a:rPr lang="en-US" sz="2200" b="0" u="none" strike="noStrike">
                <a:solidFill>
                  <a:srgbClr val="B07CFF"/>
                </a:solidFill>
                <a:effectLst/>
                <a:uFillTx/>
                <a:latin typeface="Space Grotesk"/>
                <a:ea typeface="Space Grotesk"/>
              </a:rPr>
              <a:t>The model writes.</a:t>
            </a:r>
            <a:r>
              <a:rPr lang="en-US" sz="2200" b="0" u="none" strike="noStrike">
                <a:solidFill>
                  <a:srgbClr val="E8F7FF"/>
                </a:solidFill>
                <a:effectLst/>
                <a:uFillTx/>
                <a:latin typeface="Space Grotesk"/>
                <a:ea typeface="Space Grotesk"/>
              </a:rPr>
              <a:t> </a:t>
            </a:r>
            <a:r>
              <a:rPr lang="en-US" sz="2200" b="0" u="none" strike="noStrike">
                <a:solidFill>
                  <a:srgbClr val="39FF9C"/>
                </a:solidFill>
                <a:effectLst/>
                <a:uFillTx/>
                <a:latin typeface="Space Grotesk"/>
                <a:ea typeface="Space Grotesk"/>
              </a:rPr>
              <a:t>Code decides.</a:t>
            </a:r>
            <a:endParaRPr lang="en-US" sz="2200" b="0" u="none" strike="noStrike">
              <a:solidFill>
                <a:srgbClr val="FFFFFF"/>
              </a:solidFill>
              <a:effectLst/>
              <a:uFillTx/>
              <a:latin typeface="Arial"/>
            </a:endParaRPr>
          </a:p>
        </p:txBody>
      </p:sp>
      <p:sp>
        <p:nvSpPr>
          <p:cNvPr id="319" name="Text 3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320" name="Text 3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20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1" name="Image 0" descr="Neon wave background"/>
          <p:cNvPicPr/>
          <p:nvPr/>
        </p:nvPicPr>
        <p:blipFill>
          <a:blip r:embed="rId1"/>
          <a:stretch/>
        </p:blipFill>
        <p:spPr>
          <a:xfrm>
            <a:off x="0" y="0"/>
            <a:ext cx="12191400" cy="6857280"/>
          </a:xfrm>
          <a:prstGeom prst="rect">
            <a:avLst/>
          </a:prstGeom>
          <a:noFill/>
          <a:ln w="0">
            <a:noFill/>
          </a:ln>
        </p:spPr>
      </p:pic>
      <p:sp>
        <p:nvSpPr>
          <p:cNvPr id="322"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323"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21 / 51</a:t>
            </a:r>
            <a:endParaRPr lang="en-US" sz="1200" b="0" u="none" strike="noStrike">
              <a:solidFill>
                <a:srgbClr val="FFFFFF"/>
              </a:solidFill>
              <a:effectLst/>
              <a:uFillTx/>
              <a:latin typeface="Arial"/>
            </a:endParaRPr>
          </a:p>
        </p:txBody>
      </p:sp>
      <p:sp>
        <p:nvSpPr>
          <p:cNvPr id="324"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cat src/hooksmith/graph.py</a:t>
            </a:r>
            <a:endParaRPr lang="en-US" sz="1300" b="0" u="none" strike="noStrike">
              <a:solidFill>
                <a:srgbClr val="FFFFFF"/>
              </a:solidFill>
              <a:effectLst/>
              <a:uFillTx/>
              <a:latin typeface="Arial"/>
            </a:endParaRPr>
          </a:p>
        </p:txBody>
      </p:sp>
      <p:sp>
        <p:nvSpPr>
          <p:cNvPr id="325"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The pipeline is a state machine</a:t>
            </a:r>
            <a:endParaRPr lang="en-US" sz="3200" b="0" u="none" strike="noStrike">
              <a:solidFill>
                <a:srgbClr val="FFFFFF"/>
              </a:solidFill>
              <a:effectLst/>
              <a:uFillTx/>
              <a:latin typeface="Arial"/>
            </a:endParaRPr>
          </a:p>
        </p:txBody>
      </p:sp>
      <p:sp>
        <p:nvSpPr>
          <p:cNvPr id="326" name="TextBox 23"/>
          <p:cNvSpPr/>
          <p:nvPr/>
        </p:nvSpPr>
        <p:spPr>
          <a:xfrm>
            <a:off x="900000" y="1559880"/>
            <a:ext cx="10391400" cy="3592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600" b="0" u="none" strike="noStrike">
                <a:solidFill>
                  <a:srgbClr val="6F82A8"/>
                </a:solidFill>
                <a:effectLst/>
                <a:uFillTx/>
                <a:latin typeface="Space Grotesk"/>
              </a:rPr>
              <a:t>Every edge a failure can take is written down. Nothing falls through.</a:t>
            </a:r>
            <a:endParaRPr lang="en-US" sz="1600" b="0" u="none" strike="noStrike">
              <a:solidFill>
                <a:srgbClr val="FFFFFF"/>
              </a:solidFill>
              <a:effectLst/>
              <a:uFillTx/>
              <a:latin typeface="Arial"/>
            </a:endParaRPr>
          </a:p>
        </p:txBody>
      </p:sp>
      <p:sp>
        <p:nvSpPr>
          <p:cNvPr id="327" name="Rounded Rectangle 24"/>
          <p:cNvSpPr/>
          <p:nvPr/>
        </p:nvSpPr>
        <p:spPr>
          <a:xfrm>
            <a:off x="699840" y="1950120"/>
            <a:ext cx="6099120" cy="274932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00F0FF"/>
                </a:solidFill>
                <a:effectLst/>
                <a:uFillTx/>
                <a:latin typeface="JetBrains Mono"/>
              </a:rPr>
              <a:t>graph.py</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g = StateGraph(State)</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g.add_edge(</a:t>
            </a:r>
            <a:r>
              <a:rPr lang="en-US" sz="1400" b="0" u="none" strike="noStrike">
                <a:solidFill>
                  <a:srgbClr val="39FF9C"/>
                </a:solidFill>
                <a:effectLst/>
                <a:uFillTx/>
                <a:latin typeface="JetBrains Mono"/>
              </a:rPr>
              <a:t>"triage"</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"next_finding"</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g.add_conditional_edges(</a:t>
            </a:r>
            <a:r>
              <a:rPr lang="en-US" sz="1400" b="0" u="none" strike="noStrike">
                <a:solidFill>
                  <a:srgbClr val="39FF9C"/>
                </a:solidFill>
                <a:effectLst/>
                <a:uFillTx/>
                <a:latin typeface="JetBrains Mono"/>
              </a:rPr>
              <a:t>"decompile"</a:t>
            </a:r>
            <a:r>
              <a:rPr lang="en-US" sz="1400" b="0" u="none" strike="noStrike">
                <a:solidFill>
                  <a:srgbClr val="E8F7FF"/>
                </a:solidFill>
                <a:effectLst/>
                <a:uFillTx/>
                <a:latin typeface="JetBrains Mono"/>
              </a:rPr>
              <a:t>, after_decompile,</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"record"</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"record"</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"plan"</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"plan"</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g.add_edge(</a:t>
            </a:r>
            <a:r>
              <a:rPr lang="en-US" sz="1400" b="0" u="none" strike="noStrike">
                <a:solidFill>
                  <a:srgbClr val="39FF9C"/>
                </a:solidFill>
                <a:effectLst/>
                <a:uFillTx/>
                <a:latin typeface="JetBrains Mono"/>
              </a:rPr>
              <a:t>"plan"</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"generate"</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g.add_conditional_edges(</a:t>
            </a:r>
            <a:r>
              <a:rPr lang="en-US" sz="1400" b="0" u="none" strike="noStrike">
                <a:solidFill>
                  <a:srgbClr val="39FF9C"/>
                </a:solidFill>
                <a:effectLst/>
                <a:uFillTx/>
                <a:latin typeface="JetBrains Mono"/>
              </a:rPr>
              <a:t>"validate"</a:t>
            </a:r>
            <a:r>
              <a:rPr lang="en-US" sz="1400" b="0" u="none" strike="noStrike">
                <a:solidFill>
                  <a:srgbClr val="E8F7FF"/>
                </a:solidFill>
                <a:effectLst/>
                <a:uFillTx/>
                <a:latin typeface="JetBrains Mono"/>
              </a:rPr>
              <a:t>, after_validate,</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"record"</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"record"</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"execute"</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"execute"</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"generate"</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"generate"</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g.add_edge(</a:t>
            </a:r>
            <a:r>
              <a:rPr lang="en-US" sz="1400" b="0" u="none" strike="noStrike">
                <a:solidFill>
                  <a:srgbClr val="39FF9C"/>
                </a:solidFill>
                <a:effectLst/>
                <a:uFillTx/>
                <a:latin typeface="JetBrains Mono"/>
              </a:rPr>
              <a:t>"classify"</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"record"</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g.add_edge(</a:t>
            </a:r>
            <a:r>
              <a:rPr lang="en-US" sz="1400" b="0" u="none" strike="noStrike">
                <a:solidFill>
                  <a:srgbClr val="39FF9C"/>
                </a:solidFill>
                <a:effectLst/>
                <a:uFillTx/>
                <a:latin typeface="JetBrains Mono"/>
              </a:rPr>
              <a:t>"record"</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"next_finding"</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p:txBody>
      </p:sp>
      <p:sp>
        <p:nvSpPr>
          <p:cNvPr id="328" name="Rounded Rectangle 25"/>
          <p:cNvSpPr/>
          <p:nvPr/>
        </p:nvSpPr>
        <p:spPr>
          <a:xfrm>
            <a:off x="6999840" y="1950120"/>
            <a:ext cx="4499280" cy="2749320"/>
          </a:xfrm>
          <a:prstGeom prst="roundRect">
            <a:avLst>
              <a:gd name="adj" fmla="val 6000"/>
            </a:avLst>
          </a:prstGeom>
          <a:solidFill>
            <a:srgbClr val="05070F"/>
          </a:solidFill>
          <a:ln w="12700">
            <a:solidFill>
              <a:srgbClr val="B07C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B07CFF"/>
                </a:solidFill>
                <a:effectLst/>
                <a:uFillTx/>
                <a:latin typeface="JetBrains Mono"/>
              </a:rPr>
              <a:t>the routing function</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300" b="0" u="none" strike="noStrike">
                <a:solidFill>
                  <a:srgbClr val="B07CFF"/>
                </a:solidFill>
                <a:effectLst/>
                <a:uFillTx/>
                <a:latin typeface="JetBrains Mono"/>
              </a:rPr>
              <a:t>def</a:t>
            </a:r>
            <a:r>
              <a:rPr lang="en-US" sz="1300" b="0" u="none" strike="noStrike">
                <a:solidFill>
                  <a:srgbClr val="E8F7FF"/>
                </a:solidFill>
                <a:effectLst/>
                <a:uFillTx/>
                <a:latin typeface="JetBrains Mono"/>
              </a:rPr>
              <a:t> after_validate(s):</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a:t>
            </a:r>
            <a:r>
              <a:rPr lang="en-US" sz="1300" b="0" u="none" strike="noStrike">
                <a:solidFill>
                  <a:srgbClr val="B07CFF"/>
                </a:solidFill>
                <a:effectLst/>
                <a:uFillTx/>
                <a:latin typeface="JetBrains Mono"/>
              </a:rPr>
              <a:t>if</a:t>
            </a:r>
            <a:r>
              <a:rPr lang="en-US" sz="1300" b="0" u="none" strike="noStrike">
                <a:solidFill>
                  <a:srgbClr val="E8F7FF"/>
                </a:solidFill>
                <a:effectLst/>
                <a:uFillTx/>
                <a:latin typeface="JetBrains Mono"/>
              </a:rPr>
              <a:t> s.get(</a:t>
            </a:r>
            <a:r>
              <a:rPr lang="en-US" sz="1300" b="0" u="none" strike="noStrike">
                <a:solidFill>
                  <a:srgbClr val="39FF9C"/>
                </a:solidFill>
                <a:effectLst/>
                <a:uFillTx/>
                <a:latin typeface="JetBrains Mono"/>
              </a:rPr>
              <a:t>"outcome"</a:t>
            </a:r>
            <a:r>
              <a:rPr lang="en-US" sz="1300" b="0" u="none" strike="noStrike">
                <a:solidFill>
                  <a:srgbClr val="E8F7FF"/>
                </a:solidFill>
                <a:effectLst/>
                <a:uFillTx/>
                <a:latin typeface="JetBrains Mono"/>
              </a:rPr>
              <a:t>):</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a:t>
            </a:r>
            <a:r>
              <a:rPr lang="en-US" sz="1300" b="0" u="none" strike="noStrike">
                <a:solidFill>
                  <a:srgbClr val="B07CFF"/>
                </a:solidFill>
                <a:effectLst/>
                <a:uFillTx/>
                <a:latin typeface="JetBrains Mono"/>
              </a:rPr>
              <a:t>return</a:t>
            </a:r>
            <a:r>
              <a:rPr lang="en-US" sz="1300" b="0" u="none" strike="noStrike">
                <a:solidFill>
                  <a:srgbClr val="E8F7FF"/>
                </a:solidFill>
                <a:effectLst/>
                <a:uFillTx/>
                <a:latin typeface="JetBrains Mono"/>
              </a:rPr>
              <a:t> </a:t>
            </a:r>
            <a:r>
              <a:rPr lang="en-US" sz="1300" b="0" u="none" strike="noStrike">
                <a:solidFill>
                  <a:srgbClr val="39FF9C"/>
                </a:solidFill>
                <a:effectLst/>
                <a:uFillTx/>
                <a:latin typeface="JetBrains Mono"/>
              </a:rPr>
              <a:t>"record"</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ok = s[</a:t>
            </a:r>
            <a:r>
              <a:rPr lang="en-US" sz="1300" b="0" u="none" strike="noStrike">
                <a:solidFill>
                  <a:srgbClr val="39FF9C"/>
                </a:solidFill>
                <a:effectLst/>
                <a:uFillTx/>
                <a:latin typeface="JetBrains Mono"/>
              </a:rPr>
              <a:t>"attempts"</a:t>
            </a:r>
            <a:r>
              <a:rPr lang="en-US" sz="1300" b="0" u="none" strike="noStrike">
                <a:solidFill>
                  <a:srgbClr val="E8F7FF"/>
                </a:solidFill>
                <a:effectLst/>
                <a:uFillTx/>
                <a:latin typeface="JetBrains Mono"/>
              </a:rPr>
              <a:t>][-1].validation.ok</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a:t>
            </a:r>
            <a:r>
              <a:rPr lang="en-US" sz="1300" b="0" u="none" strike="noStrike">
                <a:solidFill>
                  <a:srgbClr val="B07CFF"/>
                </a:solidFill>
                <a:effectLst/>
                <a:uFillTx/>
                <a:latin typeface="JetBrains Mono"/>
              </a:rPr>
              <a:t>return</a:t>
            </a:r>
            <a:r>
              <a:rPr lang="en-US" sz="1300" b="0" u="none" strike="noStrike">
                <a:solidFill>
                  <a:srgbClr val="E8F7FF"/>
                </a:solidFill>
                <a:effectLst/>
                <a:uFillTx/>
                <a:latin typeface="JetBrains Mono"/>
              </a:rPr>
              <a:t> </a:t>
            </a:r>
            <a:r>
              <a:rPr lang="en-US" sz="1300" b="0" u="none" strike="noStrike">
                <a:solidFill>
                  <a:srgbClr val="39FF9C"/>
                </a:solidFill>
                <a:effectLst/>
                <a:uFillTx/>
                <a:latin typeface="JetBrains Mono"/>
              </a:rPr>
              <a:t>"execute"</a:t>
            </a:r>
            <a:r>
              <a:rPr lang="en-US" sz="1300" b="0" u="none" strike="noStrike">
                <a:solidFill>
                  <a:srgbClr val="E8F7FF"/>
                </a:solidFill>
                <a:effectLst/>
                <a:uFillTx/>
                <a:latin typeface="JetBrains Mono"/>
              </a:rPr>
              <a:t> </a:t>
            </a:r>
            <a:r>
              <a:rPr lang="en-US" sz="1300" b="0" u="none" strike="noStrike">
                <a:solidFill>
                  <a:srgbClr val="B07CFF"/>
                </a:solidFill>
                <a:effectLst/>
                <a:uFillTx/>
                <a:latin typeface="JetBrains Mono"/>
              </a:rPr>
              <a:t>if</a:t>
            </a:r>
            <a:r>
              <a:rPr lang="en-US" sz="1300" b="0" u="none" strike="noStrike">
                <a:solidFill>
                  <a:srgbClr val="E8F7FF"/>
                </a:solidFill>
                <a:effectLst/>
                <a:uFillTx/>
                <a:latin typeface="JetBrains Mono"/>
              </a:rPr>
              <a:t> ok </a:t>
            </a:r>
            <a:r>
              <a:rPr lang="en-US" sz="1300" b="0" u="none" strike="noStrike">
                <a:solidFill>
                  <a:srgbClr val="B07CFF"/>
                </a:solidFill>
                <a:effectLst/>
                <a:uFillTx/>
                <a:latin typeface="JetBrains Mono"/>
              </a:rPr>
              <a:t>else</a:t>
            </a:r>
            <a:r>
              <a:rPr lang="en-US" sz="1300" b="0" u="none" strike="noStrike">
                <a:solidFill>
                  <a:srgbClr val="E8F7FF"/>
                </a:solidFill>
                <a:effectLst/>
                <a:uFillTx/>
                <a:latin typeface="JetBrains Mono"/>
              </a:rPr>
              <a:t> </a:t>
            </a:r>
            <a:r>
              <a:rPr lang="en-US" sz="1300" b="0" u="none" strike="noStrike">
                <a:solidFill>
                  <a:srgbClr val="39FF9C"/>
                </a:solidFill>
                <a:effectLst/>
                <a:uFillTx/>
                <a:latin typeface="JetBrains Mono"/>
              </a:rPr>
              <a:t>"generate"</a:t>
            </a:r>
            <a:endParaRPr lang="en-US" sz="1300" b="0" u="none" strike="noStrike">
              <a:solidFill>
                <a:srgbClr val="FFFFFF"/>
              </a:solidFill>
              <a:effectLst/>
              <a:uFillTx/>
              <a:latin typeface="Arial"/>
            </a:endParaRPr>
          </a:p>
          <a:p>
            <a:pPr defTabSz="914400">
              <a:lnSpc>
                <a:spcPct val="100000"/>
              </a:lnSpc>
            </a:pP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6F82A8"/>
                </a:solidFill>
                <a:effectLst/>
                <a:uFillTx/>
                <a:latin typeface="JetBrains Mono"/>
              </a:rPr>
              <a:t># fail twice: UNVALIDATED</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6F82A8"/>
                </a:solidFill>
                <a:effectLst/>
                <a:uFillTx/>
                <a:latin typeface="JetBrains Mono"/>
              </a:rPr>
              <a:t># never a third try</a:t>
            </a:r>
            <a:endParaRPr lang="en-US" sz="1300" b="0" u="none" strike="noStrike">
              <a:solidFill>
                <a:srgbClr val="FFFFFF"/>
              </a:solidFill>
              <a:effectLst/>
              <a:uFillTx/>
              <a:latin typeface="Arial"/>
            </a:endParaRPr>
          </a:p>
        </p:txBody>
      </p:sp>
      <p:sp>
        <p:nvSpPr>
          <p:cNvPr id="329" name="TextBox 26"/>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500" b="0" u="none" strike="noStrike">
                <a:solidFill>
                  <a:srgbClr val="6F82A8"/>
                </a:solidFill>
                <a:effectLst/>
                <a:uFillTx/>
                <a:latin typeface="Space Grotesk"/>
              </a:rPr>
              <a:t>A hook that fails validation loops back to generate once, with the errors fed in. Two failures end as UNVALIDATED.</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Image 0" descr="Neon wave background"/>
          <p:cNvPicPr/>
          <p:nvPr/>
        </p:nvPicPr>
        <p:blipFill>
          <a:blip r:embed="rId1"/>
          <a:stretch/>
        </p:blipFill>
        <p:spPr>
          <a:xfrm>
            <a:off x="276840" y="239400"/>
            <a:ext cx="12191400" cy="6857280"/>
          </a:xfrm>
          <a:prstGeom prst="rect">
            <a:avLst/>
          </a:prstGeom>
          <a:noFill/>
          <a:ln w="0">
            <a:noFill/>
          </a:ln>
        </p:spPr>
      </p:pic>
      <p:sp>
        <p:nvSpPr>
          <p:cNvPr id="331" name="Text 0"/>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332" name="Text 1"/>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22 / 51</a:t>
            </a:r>
            <a:endParaRPr lang="en-US" sz="1200" b="0" u="none" strike="noStrike">
              <a:solidFill>
                <a:srgbClr val="FFFFFF"/>
              </a:solidFill>
              <a:effectLst/>
              <a:uFillTx/>
              <a:latin typeface="Arial"/>
            </a:endParaRPr>
          </a:p>
        </p:txBody>
      </p:sp>
      <p:sp>
        <p:nvSpPr>
          <p:cNvPr id="333" name="Text 2"/>
          <p:cNvSpPr/>
          <p:nvPr/>
        </p:nvSpPr>
        <p:spPr>
          <a:xfrm>
            <a:off x="3200400" y="971640"/>
            <a:ext cx="5790600" cy="220320"/>
          </a:xfrm>
          <a:prstGeom prst="rect">
            <a:avLst/>
          </a:prstGeom>
          <a:noFill/>
          <a:ln w="0">
            <a:noFill/>
          </a:ln>
        </p:spPr>
        <p:style>
          <a:lnRef idx="0"/>
          <a:fillRef idx="0"/>
          <a:effectRef idx="0"/>
          <a:fontRef idx="minor"/>
        </p:style>
        <p:txBody>
          <a:bodyPr lIns="0" tIns="0" rIns="0" bIns="0" anchor="t">
            <a:normAutofit/>
          </a:bodyPr>
          <a:p>
            <a:pPr algn="ctr" defTabSz="914400">
              <a:lnSpc>
                <a:spcPts val="1539"/>
              </a:lnSpc>
              <a:tabLst>
                <a:tab pos="0" algn="l"/>
              </a:tabLst>
            </a:pPr>
            <a:r>
              <a:rPr lang="en-US" sz="1100" b="0" u="none" spc="99" strike="noStrike">
                <a:solidFill>
                  <a:srgbClr val="B07CFF"/>
                </a:solidFill>
                <a:effectLst/>
                <a:uFillTx/>
                <a:latin typeface="JetBrains Mono"/>
                <a:ea typeface="JetBrains Mono"/>
              </a:rPr>
              <a:t>$ cat prompts/system.txt prompts/hardcoded_key.txt</a:t>
            </a:r>
            <a:endParaRPr lang="en-US" sz="1100" b="0" u="none" strike="noStrike">
              <a:solidFill>
                <a:srgbClr val="FFFFFF"/>
              </a:solidFill>
              <a:effectLst/>
              <a:uFillTx/>
              <a:latin typeface="Arial"/>
            </a:endParaRPr>
          </a:p>
        </p:txBody>
      </p:sp>
      <p:sp>
        <p:nvSpPr>
          <p:cNvPr id="334" name="PlaceHolder 1"/>
          <p:cNvSpPr>
            <a:spLocks noGrp="1"/>
          </p:cNvSpPr>
          <p:nvPr>
            <p:ph type="title"/>
          </p:nvPr>
        </p:nvSpPr>
        <p:spPr>
          <a:xfrm>
            <a:off x="2773080" y="1346040"/>
            <a:ext cx="6651720" cy="443880"/>
          </a:xfrm>
          <a:prstGeom prst="rect">
            <a:avLst/>
          </a:prstGeom>
          <a:noFill/>
          <a:ln w="0">
            <a:noFill/>
          </a:ln>
        </p:spPr>
        <p:txBody>
          <a:bodyPr lIns="0" tIns="0" rIns="0" bIns="0" anchor="t">
            <a:normAutofit/>
          </a:bodyPr>
          <a:p>
            <a:pPr indent="0" algn="ctr" defTabSz="914400">
              <a:lnSpc>
                <a:spcPts val="3300"/>
              </a:lnSpc>
              <a:buNone/>
              <a:tabLst>
                <a:tab pos="0" algn="l"/>
              </a:tabLst>
            </a:pPr>
            <a:r>
              <a:rPr lang="en-US" sz="3000" b="1" u="none" spc="-51" strike="noStrike">
                <a:solidFill>
                  <a:srgbClr val="F2FFFF"/>
                </a:solidFill>
                <a:effectLst/>
                <a:uFillTx/>
                <a:latin typeface="Space Grotesk"/>
                <a:ea typeface="Space Grotesk"/>
              </a:rPr>
              <a:t>What the model is actually told</a:t>
            </a:r>
            <a:endParaRPr lang="en-US" sz="3000" b="0" u="none" strike="noStrike">
              <a:solidFill>
                <a:schemeClr val="lt1"/>
              </a:solidFill>
              <a:effectLst/>
              <a:uFillTx/>
              <a:latin typeface="JetBrains Mono"/>
            </a:endParaRPr>
          </a:p>
        </p:txBody>
      </p:sp>
      <p:sp>
        <p:nvSpPr>
          <p:cNvPr id="335" name="Shape 4"/>
          <p:cNvSpPr/>
          <p:nvPr/>
        </p:nvSpPr>
        <p:spPr>
          <a:xfrm>
            <a:off x="2336760" y="1950840"/>
            <a:ext cx="5701680" cy="574920"/>
          </a:xfrm>
          <a:prstGeom prst="roundRect">
            <a:avLst>
              <a:gd name="adj" fmla="val 16550"/>
            </a:avLst>
          </a:prstGeom>
          <a:solidFill>
            <a:srgbClr val="05070F"/>
          </a:solidFill>
          <a:ln w="12700">
            <a:solidFill>
              <a:srgbClr val="00F0FF"/>
            </a:solidFill>
            <a:round/>
          </a:ln>
          <a:effectLst>
            <a:outerShdw algn="bl" blurRad="114480" dir="0" dist="0" kx="0" ky="0" rotWithShape="0" sx="100000" sy="100000">
              <a:srgbClr val="00F0FF">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36" name="Text 5"/>
          <p:cNvSpPr/>
          <p:nvPr/>
        </p:nvSpPr>
        <p:spPr>
          <a:xfrm>
            <a:off x="2477160" y="2027880"/>
            <a:ext cx="5583240" cy="202320"/>
          </a:xfrm>
          <a:prstGeom prst="rect">
            <a:avLst/>
          </a:prstGeom>
          <a:noFill/>
          <a:ln w="0">
            <a:noFill/>
          </a:ln>
        </p:spPr>
        <p:style>
          <a:lnRef idx="0"/>
          <a:fillRef idx="0"/>
          <a:effectRef idx="0"/>
          <a:fontRef idx="minor"/>
        </p:style>
        <p:txBody>
          <a:bodyPr lIns="0" tIns="0" rIns="0" bIns="0" anchor="t">
            <a:normAutofit/>
          </a:bodyPr>
          <a:p>
            <a:pPr defTabSz="914400">
              <a:lnSpc>
                <a:spcPts val="1400"/>
              </a:lnSpc>
              <a:tabLst>
                <a:tab pos="0" algn="l"/>
              </a:tabLst>
            </a:pPr>
            <a:r>
              <a:rPr lang="en-US" sz="1000" b="0" u="none" strike="noStrike">
                <a:solidFill>
                  <a:srgbClr val="00F0FF"/>
                </a:solidFill>
                <a:effectLst/>
                <a:uFillTx/>
                <a:latin typeface="JetBrains Mono"/>
                <a:ea typeface="JetBrains Mono"/>
              </a:rPr>
              <a:t>1 · HOUSE RULES</a:t>
            </a:r>
            <a:endParaRPr lang="en-US" sz="1000" b="0" u="none" strike="noStrike">
              <a:solidFill>
                <a:srgbClr val="FFFFFF"/>
              </a:solidFill>
              <a:effectLst/>
              <a:uFillTx/>
              <a:latin typeface="Arial"/>
            </a:endParaRPr>
          </a:p>
        </p:txBody>
      </p:sp>
      <p:sp>
        <p:nvSpPr>
          <p:cNvPr id="337" name="Text 6"/>
          <p:cNvSpPr/>
          <p:nvPr/>
        </p:nvSpPr>
        <p:spPr>
          <a:xfrm>
            <a:off x="2477160" y="2218320"/>
            <a:ext cx="558324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E8F7FF"/>
                </a:solidFill>
                <a:effectLst/>
                <a:uFillTx/>
                <a:latin typeface="Space Grotesk"/>
                <a:ea typeface="Space Grotesk"/>
              </a:rPr>
              <a:t>Output only JavaScript due to Frida</a:t>
            </a:r>
            <a:endParaRPr lang="en-US" sz="1300" b="0" u="none" strike="noStrike">
              <a:solidFill>
                <a:srgbClr val="FFFFFF"/>
              </a:solidFill>
              <a:effectLst/>
              <a:uFillTx/>
              <a:latin typeface="Arial"/>
            </a:endParaRPr>
          </a:p>
        </p:txBody>
      </p:sp>
      <p:sp>
        <p:nvSpPr>
          <p:cNvPr id="338" name="Shape 7"/>
          <p:cNvSpPr/>
          <p:nvPr/>
        </p:nvSpPr>
        <p:spPr>
          <a:xfrm>
            <a:off x="2336760" y="2602800"/>
            <a:ext cx="5701680" cy="574920"/>
          </a:xfrm>
          <a:prstGeom prst="roundRect">
            <a:avLst>
              <a:gd name="adj" fmla="val 16550"/>
            </a:avLst>
          </a:prstGeom>
          <a:solidFill>
            <a:srgbClr val="05070F"/>
          </a:solidFill>
          <a:ln w="12700">
            <a:solidFill>
              <a:srgbClr val="39FF9C"/>
            </a:solidFill>
            <a:round/>
          </a:ln>
          <a:effectLst>
            <a:outerShdw algn="bl" blurRad="114480" dir="0" dist="0" kx="0" ky="0" rotWithShape="0" sx="100000" sy="100000">
              <a:srgbClr val="39FF9C">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39" name="Text 8"/>
          <p:cNvSpPr/>
          <p:nvPr/>
        </p:nvSpPr>
        <p:spPr>
          <a:xfrm>
            <a:off x="2477160" y="2679480"/>
            <a:ext cx="5583240" cy="202320"/>
          </a:xfrm>
          <a:prstGeom prst="rect">
            <a:avLst/>
          </a:prstGeom>
          <a:noFill/>
          <a:ln w="0">
            <a:noFill/>
          </a:ln>
        </p:spPr>
        <p:style>
          <a:lnRef idx="0"/>
          <a:fillRef idx="0"/>
          <a:effectRef idx="0"/>
          <a:fontRef idx="minor"/>
        </p:style>
        <p:txBody>
          <a:bodyPr lIns="0" tIns="0" rIns="0" bIns="0" anchor="t">
            <a:normAutofit/>
          </a:bodyPr>
          <a:p>
            <a:pPr defTabSz="914400">
              <a:lnSpc>
                <a:spcPts val="1400"/>
              </a:lnSpc>
              <a:tabLst>
                <a:tab pos="0" algn="l"/>
              </a:tabLst>
            </a:pPr>
            <a:r>
              <a:rPr lang="en-US" sz="1000" b="0" u="none" strike="noStrike">
                <a:solidFill>
                  <a:srgbClr val="39FF9C"/>
                </a:solidFill>
                <a:effectLst/>
                <a:uFillTx/>
                <a:latin typeface="JetBrains Mono"/>
                <a:ea typeface="JetBrains Mono"/>
              </a:rPr>
              <a:t>2 · THE CLAIM</a:t>
            </a:r>
            <a:endParaRPr lang="en-US" sz="1000" b="0" u="none" strike="noStrike">
              <a:solidFill>
                <a:srgbClr val="FFFFFF"/>
              </a:solidFill>
              <a:effectLst/>
              <a:uFillTx/>
              <a:latin typeface="Arial"/>
            </a:endParaRPr>
          </a:p>
        </p:txBody>
      </p:sp>
      <p:sp>
        <p:nvSpPr>
          <p:cNvPr id="340" name="Text 9"/>
          <p:cNvSpPr/>
          <p:nvPr/>
        </p:nvSpPr>
        <p:spPr>
          <a:xfrm>
            <a:off x="2477160" y="2869920"/>
            <a:ext cx="558324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E8F7FF"/>
                </a:solidFill>
                <a:effectLst/>
                <a:uFillTx/>
                <a:latin typeface="Space Grotesk"/>
                <a:ea typeface="Space Grotesk"/>
              </a:rPr>
              <a:t>This method uses a constant key. Log the key bytes.</a:t>
            </a:r>
            <a:endParaRPr lang="en-US" sz="1300" b="0" u="none" strike="noStrike">
              <a:solidFill>
                <a:srgbClr val="FFFFFF"/>
              </a:solidFill>
              <a:effectLst/>
              <a:uFillTx/>
              <a:latin typeface="Arial"/>
            </a:endParaRPr>
          </a:p>
        </p:txBody>
      </p:sp>
      <p:sp>
        <p:nvSpPr>
          <p:cNvPr id="341" name="Shape 10"/>
          <p:cNvSpPr/>
          <p:nvPr/>
        </p:nvSpPr>
        <p:spPr>
          <a:xfrm>
            <a:off x="2336760" y="3254400"/>
            <a:ext cx="5701680" cy="574920"/>
          </a:xfrm>
          <a:prstGeom prst="roundRect">
            <a:avLst>
              <a:gd name="adj" fmla="val 16550"/>
            </a:avLst>
          </a:prstGeom>
          <a:solidFill>
            <a:srgbClr val="05070F"/>
          </a:solidFill>
          <a:ln w="12700">
            <a:solidFill>
              <a:srgbClr val="FFE600"/>
            </a:solidFill>
            <a:round/>
          </a:ln>
          <a:effectLst>
            <a:outerShdw algn="bl" blurRad="114480" dir="0" dist="0" kx="0" ky="0" rotWithShape="0" sx="100000" sy="100000">
              <a:srgbClr val="FFE600">
                <a:alpha val="28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42" name="Text 11"/>
          <p:cNvSpPr/>
          <p:nvPr/>
        </p:nvSpPr>
        <p:spPr>
          <a:xfrm>
            <a:off x="2477160" y="3331440"/>
            <a:ext cx="5583240" cy="202320"/>
          </a:xfrm>
          <a:prstGeom prst="rect">
            <a:avLst/>
          </a:prstGeom>
          <a:noFill/>
          <a:ln w="0">
            <a:noFill/>
          </a:ln>
        </p:spPr>
        <p:style>
          <a:lnRef idx="0"/>
          <a:fillRef idx="0"/>
          <a:effectRef idx="0"/>
          <a:fontRef idx="minor"/>
        </p:style>
        <p:txBody>
          <a:bodyPr lIns="0" tIns="0" rIns="0" bIns="0" anchor="t">
            <a:normAutofit/>
          </a:bodyPr>
          <a:p>
            <a:pPr defTabSz="914400">
              <a:lnSpc>
                <a:spcPts val="1400"/>
              </a:lnSpc>
              <a:tabLst>
                <a:tab pos="0" algn="l"/>
              </a:tabLst>
            </a:pPr>
            <a:r>
              <a:rPr lang="en-US" sz="1000" b="0" u="none" strike="noStrike">
                <a:solidFill>
                  <a:srgbClr val="FFE600"/>
                </a:solidFill>
                <a:effectLst/>
                <a:uFillTx/>
                <a:latin typeface="JetBrains Mono"/>
                <a:ea typeface="JetBrains Mono"/>
              </a:rPr>
              <a:t>3 · WORKED EXAMPLE</a:t>
            </a:r>
            <a:endParaRPr lang="en-US" sz="1000" b="0" u="none" strike="noStrike">
              <a:solidFill>
                <a:srgbClr val="FFFFFF"/>
              </a:solidFill>
              <a:effectLst/>
              <a:uFillTx/>
              <a:latin typeface="Arial"/>
            </a:endParaRPr>
          </a:p>
        </p:txBody>
      </p:sp>
      <p:sp>
        <p:nvSpPr>
          <p:cNvPr id="343" name="Text 12"/>
          <p:cNvSpPr/>
          <p:nvPr/>
        </p:nvSpPr>
        <p:spPr>
          <a:xfrm>
            <a:off x="2477160" y="3521880"/>
            <a:ext cx="558324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E8F7FF"/>
                </a:solidFill>
                <a:effectLst/>
                <a:uFillTx/>
                <a:latin typeface="Space Grotesk"/>
                <a:ea typeface="Space Grotesk"/>
              </a:rPr>
              <a:t>A correct hook for a different class, to copy from/build upon.</a:t>
            </a:r>
            <a:endParaRPr lang="en-US" sz="1300" b="0" u="none" strike="noStrike">
              <a:solidFill>
                <a:srgbClr val="FFFFFF"/>
              </a:solidFill>
              <a:effectLst/>
              <a:uFillTx/>
              <a:latin typeface="Arial"/>
            </a:endParaRPr>
          </a:p>
        </p:txBody>
      </p:sp>
      <p:sp>
        <p:nvSpPr>
          <p:cNvPr id="344" name="Shape 13"/>
          <p:cNvSpPr/>
          <p:nvPr/>
        </p:nvSpPr>
        <p:spPr>
          <a:xfrm>
            <a:off x="2336760" y="3906000"/>
            <a:ext cx="5701680" cy="574920"/>
          </a:xfrm>
          <a:prstGeom prst="roundRect">
            <a:avLst>
              <a:gd name="adj" fmla="val 16550"/>
            </a:avLst>
          </a:prstGeom>
          <a:solidFill>
            <a:srgbClr val="05070F"/>
          </a:solidFill>
          <a:ln w="12700">
            <a:solidFill>
              <a:srgbClr val="FF2BD6"/>
            </a:solidFill>
            <a:round/>
          </a:ln>
          <a:effectLst>
            <a:outerShdw algn="bl" blurRad="114480" dir="0" dist="0" kx="0" ky="0" rotWithShape="0" sx="100000" sy="100000">
              <a:srgbClr val="FF2BD6">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45" name="Text 14"/>
          <p:cNvSpPr/>
          <p:nvPr/>
        </p:nvSpPr>
        <p:spPr>
          <a:xfrm>
            <a:off x="2477160" y="3983040"/>
            <a:ext cx="5583240" cy="202320"/>
          </a:xfrm>
          <a:prstGeom prst="rect">
            <a:avLst/>
          </a:prstGeom>
          <a:noFill/>
          <a:ln w="0">
            <a:noFill/>
          </a:ln>
        </p:spPr>
        <p:style>
          <a:lnRef idx="0"/>
          <a:fillRef idx="0"/>
          <a:effectRef idx="0"/>
          <a:fontRef idx="minor"/>
        </p:style>
        <p:txBody>
          <a:bodyPr lIns="0" tIns="0" rIns="0" bIns="0" anchor="t">
            <a:normAutofit/>
          </a:bodyPr>
          <a:p>
            <a:pPr defTabSz="914400">
              <a:lnSpc>
                <a:spcPts val="1400"/>
              </a:lnSpc>
              <a:tabLst>
                <a:tab pos="0" algn="l"/>
              </a:tabLst>
            </a:pPr>
            <a:r>
              <a:rPr lang="en-US" sz="1000" b="0" u="none" strike="noStrike">
                <a:solidFill>
                  <a:srgbClr val="FF2BD6"/>
                </a:solidFill>
                <a:effectLst/>
                <a:uFillTx/>
                <a:latin typeface="JetBrains Mono"/>
                <a:ea typeface="JetBrains Mono"/>
              </a:rPr>
              <a:t>4 · YOUR TARGET</a:t>
            </a:r>
            <a:endParaRPr lang="en-US" sz="1000" b="0" u="none" strike="noStrike">
              <a:solidFill>
                <a:srgbClr val="FFFFFF"/>
              </a:solidFill>
              <a:effectLst/>
              <a:uFillTx/>
              <a:latin typeface="Arial"/>
            </a:endParaRPr>
          </a:p>
        </p:txBody>
      </p:sp>
      <p:sp>
        <p:nvSpPr>
          <p:cNvPr id="346" name="Text 15"/>
          <p:cNvSpPr/>
          <p:nvPr/>
        </p:nvSpPr>
        <p:spPr>
          <a:xfrm>
            <a:off x="2477160" y="4173480"/>
            <a:ext cx="5583240" cy="255960"/>
          </a:xfrm>
          <a:prstGeom prst="rect">
            <a:avLst/>
          </a:prstGeom>
          <a:noFill/>
          <a:ln w="0">
            <a:noFill/>
          </a:ln>
        </p:spPr>
        <p:style>
          <a:lnRef idx="0"/>
          <a:fillRef idx="0"/>
          <a:effectRef idx="0"/>
          <a:fontRef idx="minor"/>
        </p:style>
        <p:txBody>
          <a:bodyPr lIns="0" tIns="0" rIns="0" bIns="0" anchor="t">
            <a:normAutofit/>
          </a:bodyPr>
          <a:p>
            <a:pPr defTabSz="914400">
              <a:lnSpc>
                <a:spcPts val="1820"/>
              </a:lnSpc>
              <a:tabLst>
                <a:tab pos="0" algn="l"/>
              </a:tabLst>
            </a:pPr>
            <a:r>
              <a:rPr lang="en-US" sz="1300" b="0" u="none" strike="noStrike">
                <a:solidFill>
                  <a:srgbClr val="E8F7FF"/>
                </a:solidFill>
                <a:effectLst/>
                <a:uFillTx/>
                <a:latin typeface="Space Grotesk"/>
                <a:ea typeface="Space Grotesk"/>
              </a:rPr>
              <a:t>Class, method, and the decompiled source.</a:t>
            </a:r>
            <a:endParaRPr lang="en-US" sz="1300" b="0" u="none" strike="noStrike">
              <a:solidFill>
                <a:srgbClr val="FFFFFF"/>
              </a:solidFill>
              <a:effectLst/>
              <a:uFillTx/>
              <a:latin typeface="Arial"/>
            </a:endParaRPr>
          </a:p>
        </p:txBody>
      </p:sp>
      <p:pic>
        <p:nvPicPr>
          <p:cNvPr id="347" name="Image 1" descr="arrow-right"/>
          <p:cNvPicPr/>
          <p:nvPr/>
        </p:nvPicPr>
        <p:blipFill>
          <a:blip r:embed="rId2"/>
          <a:stretch/>
        </p:blipFill>
        <p:spPr>
          <a:xfrm>
            <a:off x="8185320" y="3089160"/>
            <a:ext cx="380160" cy="253440"/>
          </a:xfrm>
          <a:prstGeom prst="rect">
            <a:avLst/>
          </a:prstGeom>
          <a:noFill/>
          <a:ln w="0">
            <a:noFill/>
          </a:ln>
        </p:spPr>
      </p:pic>
      <p:sp>
        <p:nvSpPr>
          <p:cNvPr id="348" name="Text 16"/>
          <p:cNvSpPr/>
          <p:nvPr/>
        </p:nvSpPr>
        <p:spPr>
          <a:xfrm>
            <a:off x="8715240" y="2479320"/>
            <a:ext cx="1131120" cy="493560"/>
          </a:xfrm>
          <a:prstGeom prst="roundRect">
            <a:avLst>
              <a:gd name="adj" fmla="val 23759"/>
            </a:avLst>
          </a:prstGeom>
          <a:solidFill>
            <a:srgbClr val="05070F"/>
          </a:solidFill>
          <a:ln w="19050">
            <a:solidFill>
              <a:srgbClr val="B07CFF"/>
            </a:solidFill>
            <a:round/>
          </a:ln>
          <a:effectLst>
            <a:outerShdw algn="bl" blurRad="228600" dir="0" dist="0" kx="0" ky="0" rotWithShape="0" sx="100000" sy="100000">
              <a:srgbClr val="B07CFF">
                <a:alpha val="70000"/>
              </a:srgbClr>
            </a:outerShdw>
          </a:effectLst>
        </p:spPr>
        <p:style>
          <a:lnRef idx="0"/>
          <a:fillRef idx="0"/>
          <a:effectRef idx="0"/>
          <a:fontRef idx="minor"/>
        </p:style>
        <p:txBody>
          <a:bodyPr wrap="none" lIns="0" tIns="0" rIns="0" bIns="0" anchor="ctr">
            <a:normAutofit/>
          </a:bodyPr>
          <a:p>
            <a:pPr algn="ctr" defTabSz="914400">
              <a:lnSpc>
                <a:spcPts val="1820"/>
              </a:lnSpc>
              <a:tabLst>
                <a:tab pos="0" algn="l"/>
              </a:tabLst>
            </a:pPr>
            <a:r>
              <a:rPr lang="en-US" sz="1300" b="1" u="none" strike="noStrike">
                <a:solidFill>
                  <a:srgbClr val="B07CFF"/>
                </a:solidFill>
                <a:effectLst/>
                <a:uFillTx/>
                <a:latin typeface="JetBrains Mono"/>
                <a:ea typeface="JetBrains Mono"/>
              </a:rPr>
              <a:t>Edge LLM</a:t>
            </a:r>
            <a:endParaRPr lang="en-US" sz="1300" b="0" u="none" strike="noStrike">
              <a:solidFill>
                <a:srgbClr val="FFFFFF"/>
              </a:solidFill>
              <a:effectLst/>
              <a:uFillTx/>
              <a:latin typeface="Arial"/>
            </a:endParaRPr>
          </a:p>
        </p:txBody>
      </p:sp>
      <p:sp>
        <p:nvSpPr>
          <p:cNvPr id="349" name="Text 17"/>
          <p:cNvSpPr/>
          <p:nvPr/>
        </p:nvSpPr>
        <p:spPr>
          <a:xfrm>
            <a:off x="9189000" y="3097800"/>
            <a:ext cx="183960" cy="326880"/>
          </a:xfrm>
          <a:prstGeom prst="rect">
            <a:avLst/>
          </a:prstGeom>
          <a:noFill/>
          <a:ln w="0">
            <a:noFill/>
          </a:ln>
        </p:spPr>
        <p:style>
          <a:lnRef idx="0"/>
          <a:fillRef idx="0"/>
          <a:effectRef idx="0"/>
          <a:fontRef idx="minor"/>
        </p:style>
        <p:txBody>
          <a:bodyPr lIns="0" tIns="0" rIns="0" bIns="0" anchor="t">
            <a:normAutofit/>
          </a:bodyPr>
          <a:p>
            <a:pPr algn="ctr" defTabSz="914400">
              <a:lnSpc>
                <a:spcPts val="2381"/>
              </a:lnSpc>
              <a:tabLst>
                <a:tab pos="0" algn="l"/>
              </a:tabLst>
            </a:pPr>
            <a:r>
              <a:rPr lang="en-US" sz="1700" b="0" u="none" strike="noStrike">
                <a:solidFill>
                  <a:srgbClr val="6F82A8"/>
                </a:solidFill>
                <a:effectLst/>
                <a:uFillTx/>
                <a:latin typeface="Space Grotesk"/>
                <a:ea typeface="Space Grotesk"/>
              </a:rPr>
              <a:t>↓</a:t>
            </a:r>
            <a:endParaRPr lang="en-US" sz="1700" b="0" u="none" strike="noStrike">
              <a:solidFill>
                <a:srgbClr val="FFFFFF"/>
              </a:solidFill>
              <a:effectLst/>
              <a:uFillTx/>
              <a:latin typeface="Arial"/>
            </a:endParaRPr>
          </a:p>
        </p:txBody>
      </p:sp>
      <p:sp>
        <p:nvSpPr>
          <p:cNvPr id="350" name="Text 18"/>
          <p:cNvSpPr/>
          <p:nvPr/>
        </p:nvSpPr>
        <p:spPr>
          <a:xfrm>
            <a:off x="8768880" y="3520440"/>
            <a:ext cx="1024560" cy="435240"/>
          </a:xfrm>
          <a:prstGeom prst="roundRect">
            <a:avLst>
              <a:gd name="adj" fmla="val 21855"/>
            </a:avLst>
          </a:prstGeom>
          <a:solidFill>
            <a:srgbClr val="05070F"/>
          </a:solidFill>
          <a:ln w="12700">
            <a:solidFill>
              <a:srgbClr val="00F0FF"/>
            </a:solidFill>
            <a:round/>
          </a:ln>
          <a:effectLst>
            <a:outerShdw algn="bl" blurRad="114480" dir="0" dist="0" kx="0" ky="0" rotWithShape="0" sx="100000" sy="100000">
              <a:srgbClr val="00F0FF">
                <a:alpha val="30000"/>
              </a:srgbClr>
            </a:outerShdw>
          </a:effectLst>
        </p:spPr>
        <p:style>
          <a:lnRef idx="0"/>
          <a:fillRef idx="0"/>
          <a:effectRef idx="0"/>
          <a:fontRef idx="minor"/>
        </p:style>
        <p:txBody>
          <a:bodyPr wrap="none" lIns="0" tIns="0" rIns="0" bIns="0" anchor="ctr">
            <a:normAutofit/>
          </a:bodyPr>
          <a:p>
            <a:pPr algn="ctr" defTabSz="914400">
              <a:lnSpc>
                <a:spcPts val="1820"/>
              </a:lnSpc>
              <a:tabLst>
                <a:tab pos="0" algn="l"/>
              </a:tabLst>
            </a:pPr>
            <a:r>
              <a:rPr lang="en-US" sz="1300" b="0" u="none" strike="noStrike">
                <a:solidFill>
                  <a:srgbClr val="E8F7FF"/>
                </a:solidFill>
                <a:effectLst/>
                <a:uFillTx/>
                <a:latin typeface="JetBrains Mono"/>
                <a:ea typeface="JetBrains Mono"/>
              </a:rPr>
              <a:t>hook.js</a:t>
            </a:r>
            <a:endParaRPr lang="en-US" sz="1300" b="0" u="none" strike="noStrike">
              <a:solidFill>
                <a:srgbClr val="FFFFFF"/>
              </a:solidFill>
              <a:effectLst/>
              <a:uFillTx/>
              <a:latin typeface="Arial"/>
            </a:endParaRPr>
          </a:p>
        </p:txBody>
      </p:sp>
      <p:sp>
        <p:nvSpPr>
          <p:cNvPr id="351" name="Image 2" descr="Real terminal output showing the validator rejecting the first hook and the generator producing a corrected second attempt"/>
          <p:cNvSpPr/>
          <p:nvPr/>
        </p:nvSpPr>
        <p:spPr>
          <a:xfrm>
            <a:off x="2342880" y="4678200"/>
            <a:ext cx="5686920" cy="1546920"/>
          </a:xfrm>
          <a:prstGeom prst="roundRect">
            <a:avLst>
              <a:gd name="adj" fmla="val 4924"/>
            </a:avLst>
          </a:prstGeom>
          <a:blipFill rotWithShape="0">
            <a:blip r:embed="rId3"/>
            <a:srcRect/>
            <a:stretch/>
          </a:blipFill>
          <a:ln w="0">
            <a:noFill/>
          </a:ln>
          <a:effectLst>
            <a:outerShdw algn="bl" blurRad="165240" dir="0" dist="0" kx="0" ky="0" rotWithShape="0" sx="100000" sy="100000">
              <a:srgbClr val="B07CFF">
                <a:alpha val="4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2" name="Shape 19"/>
          <p:cNvSpPr/>
          <p:nvPr/>
        </p:nvSpPr>
        <p:spPr>
          <a:xfrm>
            <a:off x="2336760" y="4671720"/>
            <a:ext cx="5699520" cy="1559520"/>
          </a:xfrm>
          <a:prstGeom prst="roundRect">
            <a:avLst>
              <a:gd name="adj" fmla="val 5291"/>
            </a:avLst>
          </a:prstGeom>
          <a:noFill/>
          <a:ln w="12700">
            <a:solidFill>
              <a:srgbClr val="B07CFF"/>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3" name="Image 0" descr="Neon wave background"/>
          <p:cNvPicPr/>
          <p:nvPr/>
        </p:nvPicPr>
        <p:blipFill>
          <a:blip r:embed="rId1"/>
          <a:stretch/>
        </p:blipFill>
        <p:spPr>
          <a:xfrm>
            <a:off x="276840" y="239400"/>
            <a:ext cx="12191400" cy="6857280"/>
          </a:xfrm>
          <a:prstGeom prst="rect">
            <a:avLst/>
          </a:prstGeom>
          <a:noFill/>
          <a:ln w="0">
            <a:noFill/>
          </a:ln>
        </p:spPr>
      </p:pic>
      <p:sp>
        <p:nvSpPr>
          <p:cNvPr id="354" name="Shape 126"/>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355" name="Shape 127"/>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en-US" sz="1200" b="0" u="none" strike="noStrike">
                <a:solidFill>
                  <a:srgbClr val="6F82A8"/>
                </a:solidFill>
                <a:effectLst/>
                <a:uFillTx/>
                <a:latin typeface="JetBrains Mono"/>
                <a:ea typeface="JetBrains Mono"/>
              </a:rPr>
              <a:t>23 / 51</a:t>
            </a:r>
            <a:endParaRPr lang="en-US" sz="1200" b="0" u="none" strike="noStrike">
              <a:solidFill>
                <a:srgbClr val="FFFFFF"/>
              </a:solidFill>
              <a:effectLst/>
              <a:uFillTx/>
              <a:latin typeface="Arial"/>
            </a:endParaRPr>
          </a:p>
        </p:txBody>
      </p:sp>
      <p:sp>
        <p:nvSpPr>
          <p:cNvPr id="356" name="Shape 128"/>
          <p:cNvSpPr/>
          <p:nvPr/>
        </p:nvSpPr>
        <p:spPr>
          <a:xfrm>
            <a:off x="1199880" y="971640"/>
            <a:ext cx="9791280" cy="220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rgbClr val="B07CFF"/>
                </a:solidFill>
                <a:effectLst/>
                <a:uFillTx/>
                <a:latin typeface="JetBrains Mono"/>
                <a:ea typeface="JetBrains Mono"/>
              </a:rPr>
              <a:t>$ cat findings/TokenGen/hook.js</a:t>
            </a:r>
            <a:endParaRPr lang="en-US" sz="1100" b="0" u="none" strike="noStrike">
              <a:solidFill>
                <a:srgbClr val="FFFFFF"/>
              </a:solidFill>
              <a:effectLst/>
              <a:uFillTx/>
              <a:latin typeface="Arial"/>
            </a:endParaRPr>
          </a:p>
        </p:txBody>
      </p:sp>
      <p:sp>
        <p:nvSpPr>
          <p:cNvPr id="357" name="PlaceHolder 1"/>
          <p:cNvSpPr>
            <a:spLocks noGrp="1"/>
          </p:cNvSpPr>
          <p:nvPr>
            <p:ph type="title"/>
          </p:nvPr>
        </p:nvSpPr>
        <p:spPr>
          <a:xfrm>
            <a:off x="1199880" y="1329840"/>
            <a:ext cx="9791280" cy="479160"/>
          </a:xfrm>
          <a:prstGeom prst="rect">
            <a:avLst/>
          </a:prstGeom>
          <a:noFill/>
          <a:ln w="0">
            <a:noFill/>
          </a:ln>
        </p:spPr>
        <p:txBody>
          <a:bodyPr lIns="0" tIns="0" rIns="0" bIns="0" anchor="t">
            <a:noAutofit/>
          </a:bodyPr>
          <a:p>
            <a:pPr indent="0" algn="ctr" defTabSz="914400">
              <a:lnSpc>
                <a:spcPts val="3300"/>
              </a:lnSpc>
              <a:buNone/>
              <a:tabLst>
                <a:tab pos="0" algn="l"/>
              </a:tabLst>
            </a:pPr>
            <a:r>
              <a:rPr lang="en-US" sz="3000" b="1" u="none" strike="noStrike">
                <a:solidFill>
                  <a:srgbClr val="F2FFFF"/>
                </a:solidFill>
                <a:effectLst/>
                <a:uFillTx/>
                <a:latin typeface="Space Grotesk"/>
                <a:ea typeface="Space Grotesk"/>
              </a:rPr>
              <a:t>A real Frida hook it wrote</a:t>
            </a:r>
            <a:endParaRPr lang="en-US" sz="3000" b="0" u="none" strike="noStrike">
              <a:solidFill>
                <a:schemeClr val="lt1"/>
              </a:solidFill>
              <a:effectLst/>
              <a:uFillTx/>
              <a:latin typeface="JetBrains Mono"/>
            </a:endParaRPr>
          </a:p>
        </p:txBody>
      </p:sp>
      <p:sp>
        <p:nvSpPr>
          <p:cNvPr id="358" name="Shape 124"/>
          <p:cNvSpPr/>
          <p:nvPr/>
        </p:nvSpPr>
        <p:spPr>
          <a:xfrm>
            <a:off x="699840" y="1950120"/>
            <a:ext cx="6699240" cy="414936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59840" tIns="159840" rIns="159840" bIns="159840" anchor="t">
            <a:noAutofit/>
          </a:bodyPr>
          <a:p>
            <a:pPr defTabSz="914400">
              <a:lnSpc>
                <a:spcPts val="1551"/>
              </a:lnSpc>
              <a:tabLst>
                <a:tab pos="0" algn="l"/>
              </a:tabLst>
            </a:pPr>
            <a:r>
              <a:rPr lang="en-US" sz="1000" b="0" u="none" strike="noStrike">
                <a:solidFill>
                  <a:srgbClr val="F2FFFF"/>
                </a:solidFill>
                <a:effectLst/>
                <a:uFillTx/>
                <a:latin typeface="JetBrains Mono"/>
                <a:ea typeface="JetBrains Mono"/>
              </a:rPr>
              <a:t>function hex(b){ …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Java.perform(function ()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var C = Java.use("com.demo.auth.TokenGen");</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var inTarget = 0;</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var R = Java.use("java.util.Random");</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R.nextInt.overloads.forEach(function (ov)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ov.implementation = function ()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00F0FF"/>
                </a:solidFill>
                <a:effectLst/>
                <a:uFillTx/>
                <a:latin typeface="JetBrains Mono"/>
                <a:ea typeface="JetBrains Mono"/>
              </a:rPr>
              <a:t>      if (inTarget &gt; 0) console.log("HS|" + JSON.stringify(</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{event: "random", impl: "java.util.Random"}));</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return ov.apply(this, arguments);</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C.newSessionToken.overload().implementation = function ()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inTarget++;</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00F0FF"/>
                </a:solidFill>
                <a:effectLst/>
                <a:uFillTx/>
                <a:latin typeface="JetBrains Mono"/>
                <a:ea typeface="JetBrains Mono"/>
              </a:rPr>
              <a:t>    try { console.log("HS|" + JSON.stringify({event: "call"}));</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return this.newSessionToken.apply(this, arguments);</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 finally { inTarget--;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  };</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00F0FF"/>
                </a:solidFill>
                <a:effectLst/>
                <a:uFillTx/>
                <a:latin typeface="JetBrains Mono"/>
                <a:ea typeface="JetBrains Mono"/>
              </a:rPr>
              <a:t>  console.log("HS|" + JSON.stringify({event: "ready"}));</a:t>
            </a:r>
            <a:endParaRPr lang="en-US" sz="1000" b="0" u="none" strike="noStrike">
              <a:solidFill>
                <a:srgbClr val="FFFFFF"/>
              </a:solidFill>
              <a:effectLst/>
              <a:uFillTx/>
              <a:latin typeface="Arial"/>
            </a:endParaRPr>
          </a:p>
          <a:p>
            <a:pPr defTabSz="914400">
              <a:lnSpc>
                <a:spcPts val="1551"/>
              </a:lnSpc>
              <a:tabLst>
                <a:tab pos="0" algn="l"/>
              </a:tabLst>
            </a:pPr>
            <a:r>
              <a:rPr lang="en-US" sz="1000" b="0" u="none" strike="noStrike">
                <a:solidFill>
                  <a:srgbClr val="F2FFFF"/>
                </a:solidFill>
                <a:effectLst/>
                <a:uFillTx/>
                <a:latin typeface="JetBrains Mono"/>
                <a:ea typeface="JetBrains Mono"/>
              </a:rPr>
              <a:t>});</a:t>
            </a:r>
            <a:endParaRPr lang="en-US" sz="1000" b="0" u="none" strike="noStrike">
              <a:solidFill>
                <a:srgbClr val="FFFFFF"/>
              </a:solidFill>
              <a:effectLst/>
              <a:uFillTx/>
              <a:latin typeface="Arial"/>
            </a:endParaRPr>
          </a:p>
        </p:txBody>
      </p:sp>
      <p:sp>
        <p:nvSpPr>
          <p:cNvPr id="359" name="Shape 125"/>
          <p:cNvSpPr/>
          <p:nvPr/>
        </p:nvSpPr>
        <p:spPr>
          <a:xfrm>
            <a:off x="7599960" y="1950120"/>
            <a:ext cx="3939120" cy="4149360"/>
          </a:xfrm>
          <a:prstGeom prst="roundRect">
            <a:avLst>
              <a:gd name="adj" fmla="val 8000"/>
            </a:avLst>
          </a:prstGeom>
          <a:solidFill>
            <a:srgbClr val="05070F"/>
          </a:solidFill>
          <a:ln w="12700">
            <a:solidFill>
              <a:srgbClr val="B07CFF"/>
            </a:solidFill>
            <a:round/>
          </a:ln>
        </p:spPr>
        <p:style>
          <a:lnRef idx="0"/>
          <a:fillRef idx="0"/>
          <a:effectRef idx="0"/>
          <a:fontRef idx="minor"/>
        </p:style>
        <p:txBody>
          <a:bodyPr lIns="159840" tIns="159840" rIns="159840" bIns="159840" anchor="t">
            <a:noAutofit/>
          </a:bodyPr>
          <a:p>
            <a:pPr defTabSz="914400">
              <a:lnSpc>
                <a:spcPts val="1500"/>
              </a:lnSpc>
              <a:tabLst>
                <a:tab pos="0" algn="l"/>
              </a:tabLst>
            </a:pPr>
            <a:r>
              <a:rPr lang="en-US" sz="1000" b="0" u="none" strike="noStrike">
                <a:solidFill>
                  <a:srgbClr val="B07CFF"/>
                </a:solidFill>
                <a:effectLst/>
                <a:uFillTx/>
                <a:latin typeface="JetBrains Mono"/>
                <a:ea typeface="JetBrains Mono"/>
              </a:rPr>
              <a:t>WHAT IT PROMISES</a:t>
            </a:r>
            <a:endParaRPr lang="en-US" sz="1000" b="0" u="none" strike="noStrike">
              <a:solidFill>
                <a:srgbClr val="FFFFFF"/>
              </a:solidFill>
              <a:effectLst/>
              <a:uFillTx/>
              <a:latin typeface="Arial"/>
            </a:endParaRPr>
          </a:p>
          <a:p>
            <a:pPr defTabSz="914400">
              <a:lnSpc>
                <a:spcPts val="901"/>
              </a:lnSpc>
              <a:tabLst>
                <a:tab pos="0" algn="l"/>
              </a:tabLst>
            </a:pPr>
            <a:endParaRPr lang="en-US" sz="600" b="0" u="none" strike="noStrike">
              <a:solidFill>
                <a:srgbClr val="FFFFFF"/>
              </a:solidFill>
              <a:effectLst/>
              <a:uFillTx/>
              <a:latin typeface="Arial"/>
            </a:endParaRPr>
          </a:p>
          <a:p>
            <a:pPr defTabSz="914400">
              <a:lnSpc>
                <a:spcPts val="1800"/>
              </a:lnSpc>
              <a:tabLst>
                <a:tab pos="0" algn="l"/>
              </a:tabLst>
            </a:pPr>
            <a:r>
              <a:rPr lang="en-US" sz="1300" b="1" u="none" strike="noStrike">
                <a:solidFill>
                  <a:srgbClr val="00F0FF"/>
                </a:solidFill>
                <a:effectLst/>
                <a:uFillTx/>
                <a:latin typeface="JetBrains Mono"/>
                <a:ea typeface="JetBrains Mono"/>
              </a:rPr>
              <a:t>ready</a:t>
            </a:r>
            <a:endParaRPr lang="en-US" sz="13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hook installed</a:t>
            </a:r>
            <a:endParaRPr lang="en-US" sz="1100" b="0" u="none" strike="noStrike">
              <a:solidFill>
                <a:srgbClr val="FFFFFF"/>
              </a:solidFill>
              <a:effectLst/>
              <a:uFillTx/>
              <a:latin typeface="Arial"/>
            </a:endParaRPr>
          </a:p>
          <a:p>
            <a:pPr defTabSz="914400">
              <a:lnSpc>
                <a:spcPts val="799"/>
              </a:lnSpc>
              <a:tabLst>
                <a:tab pos="0" algn="l"/>
              </a:tabLst>
            </a:pPr>
            <a:endParaRPr lang="en-US" sz="500" b="0" u="none" strike="noStrike">
              <a:solidFill>
                <a:srgbClr val="FFFFFF"/>
              </a:solidFill>
              <a:effectLst/>
              <a:uFillTx/>
              <a:latin typeface="Arial"/>
            </a:endParaRPr>
          </a:p>
          <a:p>
            <a:pPr defTabSz="914400">
              <a:lnSpc>
                <a:spcPts val="1800"/>
              </a:lnSpc>
              <a:tabLst>
                <a:tab pos="0" algn="l"/>
              </a:tabLst>
            </a:pPr>
            <a:r>
              <a:rPr lang="en-US" sz="1300" b="1" u="none" strike="noStrike">
                <a:solidFill>
                  <a:srgbClr val="00F0FF"/>
                </a:solidFill>
                <a:effectLst/>
                <a:uFillTx/>
                <a:latin typeface="JetBrains Mono"/>
                <a:ea typeface="JetBrains Mono"/>
              </a:rPr>
              <a:t>call</a:t>
            </a:r>
            <a:endParaRPr lang="en-US" sz="13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target method ran</a:t>
            </a:r>
            <a:endParaRPr lang="en-US" sz="1100" b="0" u="none" strike="noStrike">
              <a:solidFill>
                <a:srgbClr val="FFFFFF"/>
              </a:solidFill>
              <a:effectLst/>
              <a:uFillTx/>
              <a:latin typeface="Arial"/>
            </a:endParaRPr>
          </a:p>
          <a:p>
            <a:pPr defTabSz="914400">
              <a:lnSpc>
                <a:spcPts val="799"/>
              </a:lnSpc>
              <a:tabLst>
                <a:tab pos="0" algn="l"/>
              </a:tabLst>
            </a:pPr>
            <a:endParaRPr lang="en-US" sz="500" b="0" u="none" strike="noStrike">
              <a:solidFill>
                <a:srgbClr val="FFFFFF"/>
              </a:solidFill>
              <a:effectLst/>
              <a:uFillTx/>
              <a:latin typeface="Arial"/>
            </a:endParaRPr>
          </a:p>
          <a:p>
            <a:pPr defTabSz="914400">
              <a:lnSpc>
                <a:spcPts val="1800"/>
              </a:lnSpc>
              <a:tabLst>
                <a:tab pos="0" algn="l"/>
              </a:tabLst>
            </a:pPr>
            <a:r>
              <a:rPr lang="en-US" sz="1300" b="1" u="none" strike="noStrike">
                <a:solidFill>
                  <a:srgbClr val="00F0FF"/>
                </a:solidFill>
                <a:effectLst/>
                <a:uFillTx/>
                <a:latin typeface="JetBrains Mono"/>
                <a:ea typeface="JetBrains Mono"/>
              </a:rPr>
              <a:t>random</a:t>
            </a:r>
            <a:endParaRPr lang="en-US" sz="13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java.util.Random, in target</a:t>
            </a:r>
            <a:endParaRPr lang="en-US" sz="1100" b="0" u="none" strike="noStrike">
              <a:solidFill>
                <a:srgbClr val="FFFFFF"/>
              </a:solidFill>
              <a:effectLst/>
              <a:uFillTx/>
              <a:latin typeface="Arial"/>
            </a:endParaRPr>
          </a:p>
          <a:p>
            <a:pPr defTabSz="914400">
              <a:lnSpc>
                <a:spcPts val="799"/>
              </a:lnSpc>
              <a:tabLst>
                <a:tab pos="0" algn="l"/>
              </a:tabLst>
            </a:pPr>
            <a:endParaRPr lang="en-US" sz="500" b="0" u="none" strike="noStrike">
              <a:solidFill>
                <a:srgbClr val="FFFFFF"/>
              </a:solidFill>
              <a:effectLst/>
              <a:uFillTx/>
              <a:latin typeface="Arial"/>
            </a:endParaRPr>
          </a:p>
          <a:p>
            <a:pPr defTabSz="914400">
              <a:lnSpc>
                <a:spcPts val="1800"/>
              </a:lnSpc>
              <a:tabLst>
                <a:tab pos="0" algn="l"/>
              </a:tabLst>
            </a:pPr>
            <a:r>
              <a:rPr lang="en-US" sz="1300" b="1" u="none" strike="noStrike">
                <a:solidFill>
                  <a:srgbClr val="00F0FF"/>
                </a:solidFill>
                <a:effectLst/>
                <a:uFillTx/>
                <a:latin typeface="JetBrains Mono"/>
                <a:ea typeface="JetBrains Mono"/>
              </a:rPr>
              <a:t>original</a:t>
            </a:r>
            <a:endParaRPr lang="en-US" sz="13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always called, result unchanged</a:t>
            </a:r>
            <a:endParaRPr lang="en-US" sz="1100" b="0" u="none" strike="noStrike">
              <a:solidFill>
                <a:srgbClr val="FFFFFF"/>
              </a:solidFill>
              <a:effectLst/>
              <a:uFillTx/>
              <a:latin typeface="Arial"/>
            </a:endParaRPr>
          </a:p>
          <a:p>
            <a:pPr defTabSz="914400">
              <a:lnSpc>
                <a:spcPts val="799"/>
              </a:lnSpc>
              <a:tabLst>
                <a:tab pos="0" algn="l"/>
              </a:tabLst>
            </a:pPr>
            <a:endParaRPr lang="en-US" sz="5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6F82A8"/>
                </a:solidFill>
                <a:effectLst/>
                <a:uFillTx/>
                <a:latin typeface="JetBrains Mono"/>
                <a:ea typeface="JetBrains Mono"/>
              </a:rPr>
              <a:t>7 gates check this before it ever runs.</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0" name="Image 0" descr="Neon wave background"/>
          <p:cNvPicPr/>
          <p:nvPr/>
        </p:nvPicPr>
        <p:blipFill>
          <a:blip r:embed="rId1"/>
          <a:stretch/>
        </p:blipFill>
        <p:spPr>
          <a:xfrm>
            <a:off x="0" y="0"/>
            <a:ext cx="12191400" cy="6857280"/>
          </a:xfrm>
          <a:prstGeom prst="rect">
            <a:avLst/>
          </a:prstGeom>
          <a:noFill/>
          <a:ln w="0">
            <a:noFill/>
          </a:ln>
        </p:spPr>
      </p:pic>
      <p:sp>
        <p:nvSpPr>
          <p:cNvPr id="361"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362"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24 / 51</a:t>
            </a:r>
            <a:endParaRPr lang="en-US" sz="1200" b="0" u="none" strike="noStrike">
              <a:solidFill>
                <a:srgbClr val="FFFFFF"/>
              </a:solidFill>
              <a:effectLst/>
              <a:uFillTx/>
              <a:latin typeface="Arial"/>
            </a:endParaRPr>
          </a:p>
        </p:txBody>
      </p:sp>
      <p:sp>
        <p:nvSpPr>
          <p:cNvPr id="363"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cat src/hooksmith/validator.py</a:t>
            </a:r>
            <a:endParaRPr lang="en-US" sz="1300" b="0" u="none" strike="noStrike">
              <a:solidFill>
                <a:srgbClr val="FFFFFF"/>
              </a:solidFill>
              <a:effectLst/>
              <a:uFillTx/>
              <a:latin typeface="Arial"/>
            </a:endParaRPr>
          </a:p>
        </p:txBody>
      </p:sp>
      <p:sp>
        <p:nvSpPr>
          <p:cNvPr id="364"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Model output is untrusted input</a:t>
            </a:r>
            <a:endParaRPr lang="en-US" sz="3200" b="0" u="none" strike="noStrike">
              <a:solidFill>
                <a:srgbClr val="FFFFFF"/>
              </a:solidFill>
              <a:effectLst/>
              <a:uFillTx/>
              <a:latin typeface="Arial"/>
            </a:endParaRPr>
          </a:p>
        </p:txBody>
      </p:sp>
      <p:sp>
        <p:nvSpPr>
          <p:cNvPr id="365" name="TextBox 23"/>
          <p:cNvSpPr/>
          <p:nvPr/>
        </p:nvSpPr>
        <p:spPr>
          <a:xfrm>
            <a:off x="900000" y="1559880"/>
            <a:ext cx="10391400" cy="3592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600" b="0" u="none" strike="noStrike">
                <a:solidFill>
                  <a:srgbClr val="6F82A8"/>
                </a:solidFill>
                <a:effectLst/>
                <a:uFillTx/>
                <a:latin typeface="Space Grotesk"/>
              </a:rPr>
              <a:t>Seven gates run before a single second of device time is spent.</a:t>
            </a:r>
            <a:endParaRPr lang="en-US" sz="1600" b="0" u="none" strike="noStrike">
              <a:solidFill>
                <a:srgbClr val="FFFFFF"/>
              </a:solidFill>
              <a:effectLst/>
              <a:uFillTx/>
              <a:latin typeface="Arial"/>
            </a:endParaRPr>
          </a:p>
        </p:txBody>
      </p:sp>
      <p:sp>
        <p:nvSpPr>
          <p:cNvPr id="366" name="Rounded Rectangle 24"/>
          <p:cNvSpPr/>
          <p:nvPr/>
        </p:nvSpPr>
        <p:spPr>
          <a:xfrm>
            <a:off x="699840" y="1950120"/>
            <a:ext cx="6699240" cy="274932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00F0FF"/>
                </a:solidFill>
                <a:effectLst/>
                <a:uFillTx/>
                <a:latin typeface="JetBrains Mono"/>
              </a:rPr>
              <a:t>validator.py (trimmed)</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uses = [m.group(2) </a:t>
            </a:r>
            <a:r>
              <a:rPr lang="en-US" sz="1300" b="0" u="none" strike="noStrike">
                <a:solidFill>
                  <a:srgbClr val="B07CFF"/>
                </a:solidFill>
                <a:effectLst/>
                <a:uFillTx/>
                <a:latin typeface="JetBrains Mono"/>
              </a:rPr>
              <a:t>for</a:t>
            </a:r>
            <a:r>
              <a:rPr lang="en-US" sz="1300" b="0" u="none" strike="noStrike">
                <a:solidFill>
                  <a:srgbClr val="E8F7FF"/>
                </a:solidFill>
                <a:effectLst/>
                <a:uFillTx/>
                <a:latin typeface="JetBrains Mono"/>
              </a:rPr>
              <a:t> m </a:t>
            </a:r>
            <a:r>
              <a:rPr lang="en-US" sz="1300" b="0" u="none" strike="noStrike">
                <a:solidFill>
                  <a:srgbClr val="B07CFF"/>
                </a:solidFill>
                <a:effectLst/>
                <a:uFillTx/>
                <a:latin typeface="JetBrains Mono"/>
              </a:rPr>
              <a:t>in</a:t>
            </a:r>
            <a:r>
              <a:rPr lang="en-US" sz="1300" b="0" u="none" strike="noStrike">
                <a:solidFill>
                  <a:srgbClr val="E8F7FF"/>
                </a:solidFill>
                <a:effectLst/>
                <a:uFillTx/>
                <a:latin typeface="JetBrains Mono"/>
              </a:rPr>
              <a:t> _USE_RE.finditer(js)]</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add(</a:t>
            </a:r>
            <a:r>
              <a:rPr lang="en-US" sz="1300" b="0" u="none" strike="noStrike">
                <a:solidFill>
                  <a:srgbClr val="39FF9C"/>
                </a:solidFill>
                <a:effectLst/>
                <a:uFillTx/>
                <a:latin typeface="JetBrains Mono"/>
              </a:rPr>
              <a:t>"Java.use targets the correct class"</a:t>
            </a:r>
            <a:r>
              <a:rPr lang="en-US" sz="1300" b="0" u="none" strike="noStrike">
                <a:solidFill>
                  <a:srgbClr val="E8F7FF"/>
                </a:solidFill>
                <a:effectLst/>
                <a:uFillTx/>
                <a:latin typeface="JetBrains Mono"/>
              </a:rPr>
              <a:t>,</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class_name </a:t>
            </a:r>
            <a:r>
              <a:rPr lang="en-US" sz="1300" b="0" u="none" strike="noStrike">
                <a:solidFill>
                  <a:srgbClr val="B07CFF"/>
                </a:solidFill>
                <a:effectLst/>
                <a:uFillTx/>
                <a:latin typeface="JetBrains Mono"/>
              </a:rPr>
              <a:t>in</a:t>
            </a:r>
            <a:r>
              <a:rPr lang="en-US" sz="1300" b="0" u="none" strike="noStrike">
                <a:solidFill>
                  <a:srgbClr val="E8F7FF"/>
                </a:solidFill>
                <a:effectLst/>
                <a:uFillTx/>
                <a:latin typeface="JetBrains Mono"/>
              </a:rPr>
              <a:t> uses,</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f</a:t>
            </a:r>
            <a:r>
              <a:rPr lang="en-US" sz="1300" b="0" u="none" strike="noStrike">
                <a:solidFill>
                  <a:srgbClr val="39FF9C"/>
                </a:solidFill>
                <a:effectLst/>
                <a:uFillTx/>
                <a:latin typeface="JetBrains Mono"/>
              </a:rPr>
              <a:t>"expected Java.use({class_name!r}); found {uses}"</a:t>
            </a:r>
            <a:r>
              <a:rPr lang="en-US" sz="1300" b="0" u="none" strike="noStrike">
                <a:solidFill>
                  <a:srgbClr val="E8F7FF"/>
                </a:solidFill>
                <a:effectLst/>
                <a:uFillTx/>
                <a:latin typeface="JetBrains Mono"/>
              </a:rPr>
              <a:t>)</a:t>
            </a:r>
            <a:endParaRPr lang="en-US" sz="1300" b="0" u="none" strike="noStrike">
              <a:solidFill>
                <a:srgbClr val="FFFFFF"/>
              </a:solidFill>
              <a:effectLst/>
              <a:uFillTx/>
              <a:latin typeface="Arial"/>
            </a:endParaRPr>
          </a:p>
          <a:p>
            <a:pPr defTabSz="914400">
              <a:lnSpc>
                <a:spcPct val="100000"/>
              </a:lnSpc>
            </a:pP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add(</a:t>
            </a:r>
            <a:r>
              <a:rPr lang="en-US" sz="1300" b="0" u="none" strike="noStrike">
                <a:solidFill>
                  <a:srgbClr val="39FF9C"/>
                </a:solidFill>
                <a:effectLst/>
                <a:uFillTx/>
                <a:latin typeface="JetBrains Mono"/>
              </a:rPr>
              <a:t>"calls the original implementation"</a:t>
            </a:r>
            <a:r>
              <a:rPr lang="en-US" sz="1300" b="0" u="none" strike="noStrike">
                <a:solidFill>
                  <a:srgbClr val="E8F7FF"/>
                </a:solidFill>
                <a:effectLst/>
                <a:uFillTx/>
                <a:latin typeface="JetBrains Mono"/>
              </a:rPr>
              <a:t>,</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bool(calls_orig),</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f</a:t>
            </a:r>
            <a:r>
              <a:rPr lang="en-US" sz="1300" b="0" u="none" strike="noStrike">
                <a:solidFill>
                  <a:srgbClr val="39FF9C"/>
                </a:solidFill>
                <a:effectLst/>
                <a:uFillTx/>
                <a:latin typeface="JetBrains Mono"/>
              </a:rPr>
              <a:t>"no this.{method}(...) call: breaks app flow"</a:t>
            </a:r>
            <a:r>
              <a:rPr lang="en-US" sz="1300" b="0" u="none" strike="noStrike">
                <a:solidFill>
                  <a:srgbClr val="E8F7FF"/>
                </a:solidFill>
                <a:effectLst/>
                <a:uFillTx/>
                <a:latin typeface="JetBrains Mono"/>
              </a:rPr>
              <a:t>)</a:t>
            </a:r>
            <a:endParaRPr lang="en-US" sz="1300" b="0" u="none" strike="noStrike">
              <a:solidFill>
                <a:srgbClr val="FFFFFF"/>
              </a:solidFill>
              <a:effectLst/>
              <a:uFillTx/>
              <a:latin typeface="Arial"/>
            </a:endParaRPr>
          </a:p>
          <a:p>
            <a:pPr defTabSz="914400">
              <a:lnSpc>
                <a:spcPct val="100000"/>
              </a:lnSpc>
            </a:pP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bad = [l </a:t>
            </a:r>
            <a:r>
              <a:rPr lang="en-US" sz="1300" b="0" u="none" strike="noStrike">
                <a:solidFill>
                  <a:srgbClr val="B07CFF"/>
                </a:solidFill>
                <a:effectLst/>
                <a:uFillTx/>
                <a:latin typeface="JetBrains Mono"/>
              </a:rPr>
              <a:t>for</a:t>
            </a:r>
            <a:r>
              <a:rPr lang="en-US" sz="1300" b="0" u="none" strike="noStrike">
                <a:solidFill>
                  <a:srgbClr val="E8F7FF"/>
                </a:solidFill>
                <a:effectLst/>
                <a:uFillTx/>
                <a:latin typeface="JetBrains Mono"/>
              </a:rPr>
              <a:t> p, l </a:t>
            </a:r>
            <a:r>
              <a:rPr lang="en-US" sz="1300" b="0" u="none" strike="noStrike">
                <a:solidFill>
                  <a:srgbClr val="B07CFF"/>
                </a:solidFill>
                <a:effectLst/>
                <a:uFillTx/>
                <a:latin typeface="JetBrains Mono"/>
              </a:rPr>
              <a:t>in</a:t>
            </a:r>
            <a:r>
              <a:rPr lang="en-US" sz="1300" b="0" u="none" strike="noStrike">
                <a:solidFill>
                  <a:srgbClr val="E8F7FF"/>
                </a:solidFill>
                <a:effectLst/>
                <a:uFillTx/>
                <a:latin typeface="JetBrains Mono"/>
              </a:rPr>
              <a:t> FORBIDDEN.items() </a:t>
            </a:r>
            <a:r>
              <a:rPr lang="en-US" sz="1300" b="0" u="none" strike="noStrike">
                <a:solidFill>
                  <a:srgbClr val="B07CFF"/>
                </a:solidFill>
                <a:effectLst/>
                <a:uFillTx/>
                <a:latin typeface="JetBrains Mono"/>
              </a:rPr>
              <a:t>if</a:t>
            </a:r>
            <a:r>
              <a:rPr lang="en-US" sz="1300" b="0" u="none" strike="noStrike">
                <a:solidFill>
                  <a:srgbClr val="E8F7FF"/>
                </a:solidFill>
                <a:effectLst/>
                <a:uFillTx/>
                <a:latin typeface="JetBrains Mono"/>
              </a:rPr>
              <a:t> re.search(p, js)]</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add(</a:t>
            </a:r>
            <a:r>
              <a:rPr lang="en-US" sz="1300" b="0" u="none" strike="noStrike">
                <a:solidFill>
                  <a:srgbClr val="39FF9C"/>
                </a:solidFill>
                <a:effectLst/>
                <a:uFillTx/>
                <a:latin typeface="JetBrains Mono"/>
              </a:rPr>
              <a:t>"avoids dangerous APIs"</a:t>
            </a:r>
            <a:r>
              <a:rPr lang="en-US" sz="1300" b="0" u="none" strike="noStrike">
                <a:solidFill>
                  <a:srgbClr val="E8F7FF"/>
                </a:solidFill>
                <a:effectLst/>
                <a:uFillTx/>
                <a:latin typeface="JetBrains Mono"/>
              </a:rPr>
              <a:t>, </a:t>
            </a:r>
            <a:r>
              <a:rPr lang="en-US" sz="1300" b="0" u="none" strike="noStrike">
                <a:solidFill>
                  <a:srgbClr val="B07CFF"/>
                </a:solidFill>
                <a:effectLst/>
                <a:uFillTx/>
                <a:latin typeface="JetBrains Mono"/>
              </a:rPr>
              <a:t>not</a:t>
            </a:r>
            <a:r>
              <a:rPr lang="en-US" sz="1300" b="0" u="none" strike="noStrike">
                <a:solidFill>
                  <a:srgbClr val="E8F7FF"/>
                </a:solidFill>
                <a:effectLst/>
                <a:uFillTx/>
                <a:latin typeface="JetBrains Mono"/>
              </a:rPr>
              <a:t> bad, ...)</a:t>
            </a:r>
            <a:endParaRPr lang="en-US" sz="1300" b="0" u="none" strike="noStrike">
              <a:solidFill>
                <a:srgbClr val="FFFFFF"/>
              </a:solidFill>
              <a:effectLst/>
              <a:uFillTx/>
              <a:latin typeface="Arial"/>
            </a:endParaRPr>
          </a:p>
        </p:txBody>
      </p:sp>
      <p:sp>
        <p:nvSpPr>
          <p:cNvPr id="367" name="Rounded Rectangle 25"/>
          <p:cNvSpPr/>
          <p:nvPr/>
        </p:nvSpPr>
        <p:spPr>
          <a:xfrm>
            <a:off x="7599960" y="1950120"/>
            <a:ext cx="3899160" cy="2749320"/>
          </a:xfrm>
          <a:prstGeom prst="roundRect">
            <a:avLst>
              <a:gd name="adj" fmla="val 6000"/>
            </a:avLst>
          </a:prstGeom>
          <a:solidFill>
            <a:srgbClr val="05070F"/>
          </a:solidFill>
          <a:ln w="12700">
            <a:solidFill>
              <a:srgbClr val="FF5A5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FF5A5F"/>
                </a:solidFill>
                <a:effectLst/>
                <a:uFillTx/>
                <a:latin typeface="JetBrains Mono"/>
              </a:rPr>
              <a:t>FORBIDDEN, in generated hooks</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eval(), </a:t>
            </a:r>
            <a:r>
              <a:rPr lang="en-US" sz="1300" b="0" u="none" strike="noStrike">
                <a:solidFill>
                  <a:srgbClr val="B07CFF"/>
                </a:solidFill>
                <a:effectLst/>
                <a:uFillTx/>
                <a:latin typeface="JetBrains Mono"/>
              </a:rPr>
              <a:t>new</a:t>
            </a:r>
            <a:r>
              <a:rPr lang="en-US" sz="1300" b="0" u="none" strike="noStrike">
                <a:solidFill>
                  <a:srgbClr val="E8F7FF"/>
                </a:solidFill>
                <a:effectLst/>
                <a:uFillTx/>
                <a:latin typeface="JetBrains Mono"/>
              </a:rPr>
              <a:t> Function()</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Runtime.getRuntime, ProcessBuilder</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System.exit, killProcess</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Socket / URL.openConnection</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Interceptor.replace</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Memory.write / protect</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File writers, require(), </a:t>
            </a:r>
            <a:r>
              <a:rPr lang="en-US" sz="1300" b="0" u="none" strike="noStrike">
                <a:solidFill>
                  <a:srgbClr val="B07CFF"/>
                </a:solidFill>
                <a:effectLst/>
                <a:uFillTx/>
                <a:latin typeface="JetBrains Mono"/>
              </a:rPr>
              <a:t>import</a:t>
            </a:r>
            <a:r>
              <a:rPr lang="en-US" sz="1300" b="0" u="none" strike="noStrike">
                <a:solidFill>
                  <a:srgbClr val="E8F7FF"/>
                </a:solidFill>
                <a:effectLst/>
                <a:uFillTx/>
                <a:latin typeface="JetBrains Mono"/>
              </a:rPr>
              <a:t>()</a:t>
            </a:r>
            <a:endParaRPr lang="en-US" sz="1300" b="0" u="none" strike="noStrike">
              <a:solidFill>
                <a:srgbClr val="FFFFFF"/>
              </a:solidFill>
              <a:effectLst/>
              <a:uFillTx/>
              <a:latin typeface="Arial"/>
            </a:endParaRPr>
          </a:p>
        </p:txBody>
      </p:sp>
      <p:sp>
        <p:nvSpPr>
          <p:cNvPr id="368" name="TextBox 26"/>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9" name="Image 0" descr="Neon wave background"/>
          <p:cNvPicPr/>
          <p:nvPr/>
        </p:nvPicPr>
        <p:blipFill>
          <a:blip r:embed="rId1"/>
          <a:stretch/>
        </p:blipFill>
        <p:spPr>
          <a:xfrm>
            <a:off x="0" y="0"/>
            <a:ext cx="12191400" cy="6857280"/>
          </a:xfrm>
          <a:prstGeom prst="rect">
            <a:avLst/>
          </a:prstGeom>
          <a:noFill/>
          <a:ln w="0">
            <a:noFill/>
          </a:ln>
        </p:spPr>
      </p:pic>
      <p:sp>
        <p:nvSpPr>
          <p:cNvPr id="370" name="Text 0"/>
          <p:cNvSpPr/>
          <p:nvPr/>
        </p:nvSpPr>
        <p:spPr>
          <a:xfrm>
            <a:off x="4346280" y="1341000"/>
            <a:ext cx="34984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hooksmith validate hook.js</a:t>
            </a:r>
            <a:endParaRPr lang="en-US" sz="1200" b="0" u="none" strike="noStrike">
              <a:solidFill>
                <a:srgbClr val="FFFFFF"/>
              </a:solidFill>
              <a:effectLst/>
              <a:uFillTx/>
              <a:latin typeface="Arial"/>
            </a:endParaRPr>
          </a:p>
        </p:txBody>
      </p:sp>
      <p:sp>
        <p:nvSpPr>
          <p:cNvPr id="371" name="PlaceHolder 1"/>
          <p:cNvSpPr>
            <a:spLocks noGrp="1"/>
          </p:cNvSpPr>
          <p:nvPr>
            <p:ph type="title"/>
          </p:nvPr>
        </p:nvSpPr>
        <p:spPr>
          <a:xfrm>
            <a:off x="2281680" y="1770120"/>
            <a:ext cx="762804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Seven gates, then two strikes</a:t>
            </a:r>
            <a:endParaRPr lang="en-US" sz="3600" b="0" u="none" strike="noStrike">
              <a:solidFill>
                <a:schemeClr val="lt1"/>
              </a:solidFill>
              <a:effectLst/>
              <a:uFillTx/>
              <a:latin typeface="JetBrains Mono"/>
            </a:endParaRPr>
          </a:p>
        </p:txBody>
      </p:sp>
      <p:sp>
        <p:nvSpPr>
          <p:cNvPr id="372" name="Shape 2"/>
          <p:cNvSpPr/>
          <p:nvPr/>
        </p:nvSpPr>
        <p:spPr>
          <a:xfrm>
            <a:off x="819000" y="2495160"/>
            <a:ext cx="1419840" cy="600120"/>
          </a:xfrm>
          <a:prstGeom prst="roundRect">
            <a:avLst>
              <a:gd name="adj" fmla="val 15851"/>
            </a:avLst>
          </a:prstGeom>
          <a:solidFill>
            <a:srgbClr val="05070F"/>
          </a:solidFill>
          <a:ln w="12700">
            <a:solidFill>
              <a:srgbClr val="39FF9C"/>
            </a:solidFill>
            <a:round/>
          </a:ln>
          <a:effectLst>
            <a:outerShdw algn="bl" blurRad="114480" dir="0" dist="0" kx="0" ky="0" rotWithShape="0" sx="100000" sy="100000">
              <a:srgbClr val="39FF9C">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73" name="Text 3"/>
          <p:cNvSpPr/>
          <p:nvPr/>
        </p:nvSpPr>
        <p:spPr>
          <a:xfrm>
            <a:off x="921600" y="2585160"/>
            <a:ext cx="1266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01</a:t>
            </a:r>
            <a:endParaRPr lang="en-US" sz="1200" b="0" u="none" strike="noStrike">
              <a:solidFill>
                <a:srgbClr val="FFFFFF"/>
              </a:solidFill>
              <a:effectLst/>
              <a:uFillTx/>
              <a:latin typeface="Arial"/>
            </a:endParaRPr>
          </a:p>
        </p:txBody>
      </p:sp>
      <p:sp>
        <p:nvSpPr>
          <p:cNvPr id="374" name="Text 4"/>
          <p:cNvSpPr/>
          <p:nvPr/>
        </p:nvSpPr>
        <p:spPr>
          <a:xfrm>
            <a:off x="921600" y="2823840"/>
            <a:ext cx="1266120" cy="207720"/>
          </a:xfrm>
          <a:prstGeom prst="rect">
            <a:avLst/>
          </a:prstGeom>
          <a:noFill/>
          <a:ln w="0">
            <a:noFill/>
          </a:ln>
        </p:spPr>
        <p:style>
          <a:lnRef idx="0"/>
          <a:fillRef idx="0"/>
          <a:effectRef idx="0"/>
          <a:fontRef idx="minor"/>
        </p:style>
        <p:txBody>
          <a:bodyPr lIns="0" tIns="0" rIns="0" bIns="0" anchor="t">
            <a:normAutofit/>
          </a:bodyPr>
          <a:p>
            <a:pPr defTabSz="914400">
              <a:lnSpc>
                <a:spcPts val="1440"/>
              </a:lnSpc>
              <a:tabLst>
                <a:tab pos="0" algn="l"/>
              </a:tabLst>
            </a:pPr>
            <a:r>
              <a:rPr lang="en-US" sz="1200" b="0" u="none" strike="noStrike">
                <a:solidFill>
                  <a:srgbClr val="E8F7FF"/>
                </a:solidFill>
                <a:effectLst/>
                <a:uFillTx/>
                <a:latin typeface="Space Grotesk"/>
                <a:ea typeface="Space Grotesk"/>
              </a:rPr>
              <a:t>Parses as JS</a:t>
            </a:r>
            <a:endParaRPr lang="en-US" sz="1200" b="0" u="none" strike="noStrike">
              <a:solidFill>
                <a:srgbClr val="FFFFFF"/>
              </a:solidFill>
              <a:effectLst/>
              <a:uFillTx/>
              <a:latin typeface="Arial"/>
            </a:endParaRPr>
          </a:p>
        </p:txBody>
      </p:sp>
      <p:sp>
        <p:nvSpPr>
          <p:cNvPr id="375" name="Shape 5"/>
          <p:cNvSpPr/>
          <p:nvPr/>
        </p:nvSpPr>
        <p:spPr>
          <a:xfrm>
            <a:off x="2341440" y="2495160"/>
            <a:ext cx="1419840" cy="600120"/>
          </a:xfrm>
          <a:prstGeom prst="roundRect">
            <a:avLst>
              <a:gd name="adj" fmla="val 15851"/>
            </a:avLst>
          </a:prstGeom>
          <a:solidFill>
            <a:srgbClr val="05070F"/>
          </a:solidFill>
          <a:ln w="12700">
            <a:solidFill>
              <a:srgbClr val="39FF9C"/>
            </a:solidFill>
            <a:round/>
          </a:ln>
          <a:effectLst>
            <a:outerShdw algn="bl" blurRad="114480" dir="0" dist="0" kx="0" ky="0" rotWithShape="0" sx="100000" sy="100000">
              <a:srgbClr val="39FF9C">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76" name="Text 6"/>
          <p:cNvSpPr/>
          <p:nvPr/>
        </p:nvSpPr>
        <p:spPr>
          <a:xfrm>
            <a:off x="2443680" y="2585160"/>
            <a:ext cx="1266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02</a:t>
            </a:r>
            <a:endParaRPr lang="en-US" sz="1200" b="0" u="none" strike="noStrike">
              <a:solidFill>
                <a:srgbClr val="FFFFFF"/>
              </a:solidFill>
              <a:effectLst/>
              <a:uFillTx/>
              <a:latin typeface="Arial"/>
            </a:endParaRPr>
          </a:p>
        </p:txBody>
      </p:sp>
      <p:sp>
        <p:nvSpPr>
          <p:cNvPr id="377" name="Text 7"/>
          <p:cNvSpPr/>
          <p:nvPr/>
        </p:nvSpPr>
        <p:spPr>
          <a:xfrm>
            <a:off x="2443680" y="2823840"/>
            <a:ext cx="1266120" cy="207720"/>
          </a:xfrm>
          <a:prstGeom prst="rect">
            <a:avLst/>
          </a:prstGeom>
          <a:noFill/>
          <a:ln w="0">
            <a:noFill/>
          </a:ln>
        </p:spPr>
        <p:style>
          <a:lnRef idx="0"/>
          <a:fillRef idx="0"/>
          <a:effectRef idx="0"/>
          <a:fontRef idx="minor"/>
        </p:style>
        <p:txBody>
          <a:bodyPr lIns="0" tIns="0" rIns="0" bIns="0" anchor="t">
            <a:normAutofit/>
          </a:bodyPr>
          <a:p>
            <a:pPr defTabSz="914400">
              <a:lnSpc>
                <a:spcPts val="1440"/>
              </a:lnSpc>
              <a:tabLst>
                <a:tab pos="0" algn="l"/>
              </a:tabLst>
            </a:pPr>
            <a:r>
              <a:rPr lang="en-US" sz="1200" b="0" u="none" strike="noStrike">
                <a:solidFill>
                  <a:srgbClr val="E8F7FF"/>
                </a:solidFill>
                <a:effectLst/>
                <a:uFillTx/>
                <a:latin typeface="Space Grotesk"/>
                <a:ea typeface="Space Grotesk"/>
              </a:rPr>
              <a:t>Java.perform</a:t>
            </a:r>
            <a:endParaRPr lang="en-US" sz="1200" b="0" u="none" strike="noStrike">
              <a:solidFill>
                <a:srgbClr val="FFFFFF"/>
              </a:solidFill>
              <a:effectLst/>
              <a:uFillTx/>
              <a:latin typeface="Arial"/>
            </a:endParaRPr>
          </a:p>
        </p:txBody>
      </p:sp>
      <p:sp>
        <p:nvSpPr>
          <p:cNvPr id="378" name="Shape 8"/>
          <p:cNvSpPr/>
          <p:nvPr/>
        </p:nvSpPr>
        <p:spPr>
          <a:xfrm>
            <a:off x="3863520" y="2495160"/>
            <a:ext cx="1419840" cy="600120"/>
          </a:xfrm>
          <a:prstGeom prst="roundRect">
            <a:avLst>
              <a:gd name="adj" fmla="val 15851"/>
            </a:avLst>
          </a:prstGeom>
          <a:solidFill>
            <a:srgbClr val="05070F"/>
          </a:solidFill>
          <a:ln w="12700">
            <a:solidFill>
              <a:srgbClr val="FF2BD6"/>
            </a:solidFill>
            <a:round/>
          </a:ln>
          <a:effectLst>
            <a:outerShdw algn="bl" blurRad="13968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79" name="Text 9"/>
          <p:cNvSpPr/>
          <p:nvPr/>
        </p:nvSpPr>
        <p:spPr>
          <a:xfrm>
            <a:off x="3965760" y="2585160"/>
            <a:ext cx="1266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2BD6"/>
                </a:solidFill>
                <a:effectLst/>
                <a:uFillTx/>
                <a:latin typeface="JetBrains Mono"/>
                <a:ea typeface="JetBrains Mono"/>
              </a:rPr>
              <a:t>03</a:t>
            </a:r>
            <a:endParaRPr lang="en-US" sz="1200" b="0" u="none" strike="noStrike">
              <a:solidFill>
                <a:srgbClr val="FFFFFF"/>
              </a:solidFill>
              <a:effectLst/>
              <a:uFillTx/>
              <a:latin typeface="Arial"/>
            </a:endParaRPr>
          </a:p>
        </p:txBody>
      </p:sp>
      <p:sp>
        <p:nvSpPr>
          <p:cNvPr id="380" name="Text 10"/>
          <p:cNvSpPr/>
          <p:nvPr/>
        </p:nvSpPr>
        <p:spPr>
          <a:xfrm>
            <a:off x="3965760" y="2823840"/>
            <a:ext cx="1266120" cy="207720"/>
          </a:xfrm>
          <a:prstGeom prst="rect">
            <a:avLst/>
          </a:prstGeom>
          <a:noFill/>
          <a:ln w="0">
            <a:noFill/>
          </a:ln>
        </p:spPr>
        <p:style>
          <a:lnRef idx="0"/>
          <a:fillRef idx="0"/>
          <a:effectRef idx="0"/>
          <a:fontRef idx="minor"/>
        </p:style>
        <p:txBody>
          <a:bodyPr lIns="0" tIns="0" rIns="0" bIns="0" anchor="t">
            <a:normAutofit/>
          </a:bodyPr>
          <a:p>
            <a:pPr defTabSz="914400">
              <a:lnSpc>
                <a:spcPts val="1440"/>
              </a:lnSpc>
              <a:tabLst>
                <a:tab pos="0" algn="l"/>
              </a:tabLst>
            </a:pPr>
            <a:r>
              <a:rPr lang="en-US" sz="1200" b="0" u="none" strike="noStrike">
                <a:solidFill>
                  <a:srgbClr val="E8F7FF"/>
                </a:solidFill>
                <a:effectLst/>
                <a:uFillTx/>
                <a:latin typeface="Space Grotesk"/>
                <a:ea typeface="Space Grotesk"/>
              </a:rPr>
              <a:t>Right class</a:t>
            </a:r>
            <a:endParaRPr lang="en-US" sz="1200" b="0" u="none" strike="noStrike">
              <a:solidFill>
                <a:srgbClr val="FFFFFF"/>
              </a:solidFill>
              <a:effectLst/>
              <a:uFillTx/>
              <a:latin typeface="Arial"/>
            </a:endParaRPr>
          </a:p>
        </p:txBody>
      </p:sp>
      <p:sp>
        <p:nvSpPr>
          <p:cNvPr id="381" name="Shape 11"/>
          <p:cNvSpPr/>
          <p:nvPr/>
        </p:nvSpPr>
        <p:spPr>
          <a:xfrm>
            <a:off x="5385600" y="2495160"/>
            <a:ext cx="1419840" cy="600120"/>
          </a:xfrm>
          <a:prstGeom prst="roundRect">
            <a:avLst>
              <a:gd name="adj" fmla="val 15851"/>
            </a:avLst>
          </a:prstGeom>
          <a:solidFill>
            <a:srgbClr val="05070F"/>
          </a:solidFill>
          <a:ln w="12700">
            <a:solidFill>
              <a:srgbClr val="39FF9C"/>
            </a:solidFill>
            <a:round/>
          </a:ln>
          <a:effectLst>
            <a:outerShdw algn="bl" blurRad="114480" dir="0" dist="0" kx="0" ky="0" rotWithShape="0" sx="100000" sy="100000">
              <a:srgbClr val="39FF9C">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82" name="Text 12"/>
          <p:cNvSpPr/>
          <p:nvPr/>
        </p:nvSpPr>
        <p:spPr>
          <a:xfrm>
            <a:off x="5488200" y="2585160"/>
            <a:ext cx="1266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04</a:t>
            </a:r>
            <a:endParaRPr lang="en-US" sz="1200" b="0" u="none" strike="noStrike">
              <a:solidFill>
                <a:srgbClr val="FFFFFF"/>
              </a:solidFill>
              <a:effectLst/>
              <a:uFillTx/>
              <a:latin typeface="Arial"/>
            </a:endParaRPr>
          </a:p>
        </p:txBody>
      </p:sp>
      <p:sp>
        <p:nvSpPr>
          <p:cNvPr id="383" name="Text 13"/>
          <p:cNvSpPr/>
          <p:nvPr/>
        </p:nvSpPr>
        <p:spPr>
          <a:xfrm>
            <a:off x="5488200" y="2823840"/>
            <a:ext cx="1266120" cy="207720"/>
          </a:xfrm>
          <a:prstGeom prst="rect">
            <a:avLst/>
          </a:prstGeom>
          <a:noFill/>
          <a:ln w="0">
            <a:noFill/>
          </a:ln>
        </p:spPr>
        <p:style>
          <a:lnRef idx="0"/>
          <a:fillRef idx="0"/>
          <a:effectRef idx="0"/>
          <a:fontRef idx="minor"/>
        </p:style>
        <p:txBody>
          <a:bodyPr lIns="0" tIns="0" rIns="0" bIns="0" anchor="t">
            <a:normAutofit/>
          </a:bodyPr>
          <a:p>
            <a:pPr defTabSz="914400">
              <a:lnSpc>
                <a:spcPts val="1440"/>
              </a:lnSpc>
              <a:tabLst>
                <a:tab pos="0" algn="l"/>
              </a:tabLst>
            </a:pPr>
            <a:r>
              <a:rPr lang="en-US" sz="1200" b="0" u="none" strike="noStrike">
                <a:solidFill>
                  <a:srgbClr val="E8F7FF"/>
                </a:solidFill>
                <a:effectLst/>
                <a:uFillTx/>
                <a:latin typeface="Space Grotesk"/>
                <a:ea typeface="Space Grotesk"/>
              </a:rPr>
              <a:t>Right method</a:t>
            </a:r>
            <a:endParaRPr lang="en-US" sz="1200" b="0" u="none" strike="noStrike">
              <a:solidFill>
                <a:srgbClr val="FFFFFF"/>
              </a:solidFill>
              <a:effectLst/>
              <a:uFillTx/>
              <a:latin typeface="Arial"/>
            </a:endParaRPr>
          </a:p>
        </p:txBody>
      </p:sp>
      <p:sp>
        <p:nvSpPr>
          <p:cNvPr id="384" name="Shape 14"/>
          <p:cNvSpPr/>
          <p:nvPr/>
        </p:nvSpPr>
        <p:spPr>
          <a:xfrm>
            <a:off x="6908040" y="2495160"/>
            <a:ext cx="1419840" cy="600120"/>
          </a:xfrm>
          <a:prstGeom prst="roundRect">
            <a:avLst>
              <a:gd name="adj" fmla="val 15851"/>
            </a:avLst>
          </a:prstGeom>
          <a:solidFill>
            <a:srgbClr val="05070F"/>
          </a:solidFill>
          <a:ln w="12700">
            <a:solidFill>
              <a:srgbClr val="39FF9C"/>
            </a:solidFill>
            <a:round/>
          </a:ln>
          <a:effectLst>
            <a:outerShdw algn="bl" blurRad="114480" dir="0" dist="0" kx="0" ky="0" rotWithShape="0" sx="100000" sy="100000">
              <a:srgbClr val="39FF9C">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85" name="Text 15"/>
          <p:cNvSpPr/>
          <p:nvPr/>
        </p:nvSpPr>
        <p:spPr>
          <a:xfrm>
            <a:off x="7010280" y="2585160"/>
            <a:ext cx="1266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05</a:t>
            </a:r>
            <a:endParaRPr lang="en-US" sz="1200" b="0" u="none" strike="noStrike">
              <a:solidFill>
                <a:srgbClr val="FFFFFF"/>
              </a:solidFill>
              <a:effectLst/>
              <a:uFillTx/>
              <a:latin typeface="Arial"/>
            </a:endParaRPr>
          </a:p>
        </p:txBody>
      </p:sp>
      <p:sp>
        <p:nvSpPr>
          <p:cNvPr id="386" name="Text 16"/>
          <p:cNvSpPr/>
          <p:nvPr/>
        </p:nvSpPr>
        <p:spPr>
          <a:xfrm>
            <a:off x="7010280" y="2823840"/>
            <a:ext cx="1266120" cy="207720"/>
          </a:xfrm>
          <a:prstGeom prst="rect">
            <a:avLst/>
          </a:prstGeom>
          <a:noFill/>
          <a:ln w="0">
            <a:noFill/>
          </a:ln>
        </p:spPr>
        <p:style>
          <a:lnRef idx="0"/>
          <a:fillRef idx="0"/>
          <a:effectRef idx="0"/>
          <a:fontRef idx="minor"/>
        </p:style>
        <p:txBody>
          <a:bodyPr lIns="0" tIns="0" rIns="0" bIns="0" anchor="t">
            <a:normAutofit/>
          </a:bodyPr>
          <a:p>
            <a:pPr defTabSz="914400">
              <a:lnSpc>
                <a:spcPts val="1440"/>
              </a:lnSpc>
              <a:tabLst>
                <a:tab pos="0" algn="l"/>
              </a:tabLst>
            </a:pPr>
            <a:r>
              <a:rPr lang="en-US" sz="1200" b="0" u="none" strike="noStrike">
                <a:solidFill>
                  <a:srgbClr val="E8F7FF"/>
                </a:solidFill>
                <a:effectLst/>
                <a:uFillTx/>
                <a:latin typeface="Space Grotesk"/>
                <a:ea typeface="Space Grotesk"/>
              </a:rPr>
              <a:t>Logs output</a:t>
            </a:r>
            <a:endParaRPr lang="en-US" sz="1200" b="0" u="none" strike="noStrike">
              <a:solidFill>
                <a:srgbClr val="FFFFFF"/>
              </a:solidFill>
              <a:effectLst/>
              <a:uFillTx/>
              <a:latin typeface="Arial"/>
            </a:endParaRPr>
          </a:p>
        </p:txBody>
      </p:sp>
      <p:sp>
        <p:nvSpPr>
          <p:cNvPr id="387" name="Shape 17"/>
          <p:cNvSpPr/>
          <p:nvPr/>
        </p:nvSpPr>
        <p:spPr>
          <a:xfrm>
            <a:off x="8430120" y="2495160"/>
            <a:ext cx="1419840" cy="600120"/>
          </a:xfrm>
          <a:prstGeom prst="roundRect">
            <a:avLst>
              <a:gd name="adj" fmla="val 15851"/>
            </a:avLst>
          </a:prstGeom>
          <a:solidFill>
            <a:srgbClr val="05070F"/>
          </a:solidFill>
          <a:ln w="12700">
            <a:solidFill>
              <a:srgbClr val="FF2BD6"/>
            </a:solidFill>
            <a:round/>
          </a:ln>
          <a:effectLst>
            <a:outerShdw algn="bl" blurRad="13968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88" name="Text 18"/>
          <p:cNvSpPr/>
          <p:nvPr/>
        </p:nvSpPr>
        <p:spPr>
          <a:xfrm>
            <a:off x="8532360" y="2585160"/>
            <a:ext cx="1266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2BD6"/>
                </a:solidFill>
                <a:effectLst/>
                <a:uFillTx/>
                <a:latin typeface="JetBrains Mono"/>
                <a:ea typeface="JetBrains Mono"/>
              </a:rPr>
              <a:t>06</a:t>
            </a:r>
            <a:endParaRPr lang="en-US" sz="1200" b="0" u="none" strike="noStrike">
              <a:solidFill>
                <a:srgbClr val="FFFFFF"/>
              </a:solidFill>
              <a:effectLst/>
              <a:uFillTx/>
              <a:latin typeface="Arial"/>
            </a:endParaRPr>
          </a:p>
        </p:txBody>
      </p:sp>
      <p:sp>
        <p:nvSpPr>
          <p:cNvPr id="389" name="Text 19"/>
          <p:cNvSpPr/>
          <p:nvPr/>
        </p:nvSpPr>
        <p:spPr>
          <a:xfrm>
            <a:off x="8532360" y="2823840"/>
            <a:ext cx="1266120" cy="207720"/>
          </a:xfrm>
          <a:prstGeom prst="rect">
            <a:avLst/>
          </a:prstGeom>
          <a:noFill/>
          <a:ln w="0">
            <a:noFill/>
          </a:ln>
        </p:spPr>
        <p:style>
          <a:lnRef idx="0"/>
          <a:fillRef idx="0"/>
          <a:effectRef idx="0"/>
          <a:fontRef idx="minor"/>
        </p:style>
        <p:txBody>
          <a:bodyPr lIns="0" tIns="0" rIns="0" bIns="0" anchor="t">
            <a:normAutofit/>
          </a:bodyPr>
          <a:p>
            <a:pPr defTabSz="914400">
              <a:lnSpc>
                <a:spcPts val="1440"/>
              </a:lnSpc>
              <a:tabLst>
                <a:tab pos="0" algn="l"/>
              </a:tabLst>
            </a:pPr>
            <a:r>
              <a:rPr lang="en-US" sz="1200" b="0" u="none" strike="noStrike">
                <a:solidFill>
                  <a:srgbClr val="E8F7FF"/>
                </a:solidFill>
                <a:effectLst/>
                <a:uFillTx/>
                <a:latin typeface="Space Grotesk"/>
                <a:ea typeface="Space Grotesk"/>
              </a:rPr>
              <a:t>Calls original</a:t>
            </a:r>
            <a:endParaRPr lang="en-US" sz="1200" b="0" u="none" strike="noStrike">
              <a:solidFill>
                <a:srgbClr val="FFFFFF"/>
              </a:solidFill>
              <a:effectLst/>
              <a:uFillTx/>
              <a:latin typeface="Arial"/>
            </a:endParaRPr>
          </a:p>
        </p:txBody>
      </p:sp>
      <p:sp>
        <p:nvSpPr>
          <p:cNvPr id="390" name="Shape 20"/>
          <p:cNvSpPr/>
          <p:nvPr/>
        </p:nvSpPr>
        <p:spPr>
          <a:xfrm>
            <a:off x="9952200" y="2495160"/>
            <a:ext cx="1419840" cy="600120"/>
          </a:xfrm>
          <a:prstGeom prst="roundRect">
            <a:avLst>
              <a:gd name="adj" fmla="val 15851"/>
            </a:avLst>
          </a:prstGeom>
          <a:solidFill>
            <a:srgbClr val="05070F"/>
          </a:solidFill>
          <a:ln w="12700">
            <a:solidFill>
              <a:srgbClr val="39FF9C"/>
            </a:solidFill>
            <a:round/>
          </a:ln>
          <a:effectLst>
            <a:outerShdw algn="bl" blurRad="114480" dir="0" dist="0" kx="0" ky="0" rotWithShape="0" sx="100000" sy="100000">
              <a:srgbClr val="39FF9C">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91" name="Text 21"/>
          <p:cNvSpPr/>
          <p:nvPr/>
        </p:nvSpPr>
        <p:spPr>
          <a:xfrm>
            <a:off x="10054800" y="2585160"/>
            <a:ext cx="1266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07</a:t>
            </a:r>
            <a:endParaRPr lang="en-US" sz="1200" b="0" u="none" strike="noStrike">
              <a:solidFill>
                <a:srgbClr val="FFFFFF"/>
              </a:solidFill>
              <a:effectLst/>
              <a:uFillTx/>
              <a:latin typeface="Arial"/>
            </a:endParaRPr>
          </a:p>
        </p:txBody>
      </p:sp>
      <p:sp>
        <p:nvSpPr>
          <p:cNvPr id="392" name="Text 22"/>
          <p:cNvSpPr/>
          <p:nvPr/>
        </p:nvSpPr>
        <p:spPr>
          <a:xfrm>
            <a:off x="10054800" y="2823840"/>
            <a:ext cx="1266120" cy="207720"/>
          </a:xfrm>
          <a:prstGeom prst="rect">
            <a:avLst/>
          </a:prstGeom>
          <a:noFill/>
          <a:ln w="0">
            <a:noFill/>
          </a:ln>
        </p:spPr>
        <p:style>
          <a:lnRef idx="0"/>
          <a:fillRef idx="0"/>
          <a:effectRef idx="0"/>
          <a:fontRef idx="minor"/>
        </p:style>
        <p:txBody>
          <a:bodyPr lIns="0" tIns="0" rIns="0" bIns="0" anchor="t">
            <a:normAutofit/>
          </a:bodyPr>
          <a:p>
            <a:pPr defTabSz="914400">
              <a:lnSpc>
                <a:spcPts val="1440"/>
              </a:lnSpc>
              <a:tabLst>
                <a:tab pos="0" algn="l"/>
              </a:tabLst>
            </a:pPr>
            <a:r>
              <a:rPr lang="en-US" sz="1200" b="0" u="none" strike="noStrike">
                <a:solidFill>
                  <a:srgbClr val="E8F7FF"/>
                </a:solidFill>
                <a:effectLst/>
                <a:uFillTx/>
                <a:latin typeface="Space Grotesk"/>
                <a:ea typeface="Space Grotesk"/>
              </a:rPr>
              <a:t>Safe APIs only</a:t>
            </a:r>
            <a:endParaRPr lang="en-US" sz="1200" b="0" u="none" strike="noStrike">
              <a:solidFill>
                <a:srgbClr val="FFFFFF"/>
              </a:solidFill>
              <a:effectLst/>
              <a:uFillTx/>
              <a:latin typeface="Arial"/>
            </a:endParaRPr>
          </a:p>
        </p:txBody>
      </p:sp>
      <p:sp>
        <p:nvSpPr>
          <p:cNvPr id="393" name="Shape 23"/>
          <p:cNvSpPr/>
          <p:nvPr/>
        </p:nvSpPr>
        <p:spPr>
          <a:xfrm>
            <a:off x="1339920" y="3324960"/>
            <a:ext cx="9511560" cy="1501920"/>
          </a:xfrm>
          <a:prstGeom prst="roundRect">
            <a:avLst>
              <a:gd name="adj" fmla="val 9720"/>
            </a:avLst>
          </a:prstGeom>
          <a:solidFill>
            <a:srgbClr val="000000"/>
          </a:solidFill>
          <a:ln w="12700">
            <a:solidFill>
              <a:srgbClr val="FF2BD6"/>
            </a:solidFill>
            <a:round/>
          </a:ln>
          <a:effectLst>
            <a:outerShdw algn="bl" blurRad="228600" dir="0" dist="0" kx="0" ky="0" rotWithShape="0" sx="100000" sy="100000">
              <a:srgbClr val="FF2BD6">
                <a:alpha val="4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394" name="Text 24"/>
          <p:cNvSpPr/>
          <p:nvPr/>
        </p:nvSpPr>
        <p:spPr>
          <a:xfrm>
            <a:off x="1569240" y="3516120"/>
            <a:ext cx="93243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5A5F"/>
                </a:solidFill>
                <a:effectLst/>
                <a:uFillTx/>
                <a:latin typeface="JetBrains Mono"/>
                <a:ea typeface="JetBrains Mono"/>
              </a:rPr>
              <a:t>TokenGen · attempt 1 · REJECTED at gate 03</a:t>
            </a:r>
            <a:endParaRPr lang="en-US" sz="1200" b="0" u="none" strike="noStrike">
              <a:solidFill>
                <a:srgbClr val="FFFFFF"/>
              </a:solidFill>
              <a:effectLst/>
              <a:uFillTx/>
              <a:latin typeface="Arial"/>
            </a:endParaRPr>
          </a:p>
        </p:txBody>
      </p:sp>
      <p:sp>
        <p:nvSpPr>
          <p:cNvPr id="395" name="Text 25"/>
          <p:cNvSpPr/>
          <p:nvPr/>
        </p:nvSpPr>
        <p:spPr>
          <a:xfrm>
            <a:off x="1569240" y="3818520"/>
            <a:ext cx="93243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E8F7FF"/>
                </a:solidFill>
                <a:effectLst/>
                <a:uFillTx/>
                <a:latin typeface="JetBrains Mono"/>
                <a:ea typeface="JetBrains Mono"/>
              </a:rPr>
              <a:t>expected Java.use('com.demo.auth.TokenGen')</a:t>
            </a:r>
            <a:endParaRPr lang="en-US" sz="1200" b="0" u="none" strike="noStrike">
              <a:solidFill>
                <a:srgbClr val="FFFFFF"/>
              </a:solidFill>
              <a:effectLst/>
              <a:uFillTx/>
              <a:latin typeface="Arial"/>
            </a:endParaRPr>
          </a:p>
        </p:txBody>
      </p:sp>
      <p:sp>
        <p:nvSpPr>
          <p:cNvPr id="396" name="Text 26"/>
          <p:cNvSpPr/>
          <p:nvPr/>
        </p:nvSpPr>
        <p:spPr>
          <a:xfrm>
            <a:off x="1569240" y="4120560"/>
            <a:ext cx="93243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E8F7FF"/>
                </a:solidFill>
                <a:effectLst/>
                <a:uFillTx/>
                <a:latin typeface="JetBrains Mono"/>
                <a:ea typeface="JetBrains Mono"/>
              </a:rPr>
              <a:t>found ['com.demo.auth.TokenFactory', 'java.util.Random']</a:t>
            </a:r>
            <a:endParaRPr lang="en-US" sz="1200" b="0" u="none" strike="noStrike">
              <a:solidFill>
                <a:srgbClr val="FFFFFF"/>
              </a:solidFill>
              <a:effectLst/>
              <a:uFillTx/>
              <a:latin typeface="Arial"/>
            </a:endParaRPr>
          </a:p>
        </p:txBody>
      </p:sp>
      <p:sp>
        <p:nvSpPr>
          <p:cNvPr id="397" name="Text 27"/>
          <p:cNvSpPr/>
          <p:nvPr/>
        </p:nvSpPr>
        <p:spPr>
          <a:xfrm>
            <a:off x="1569240" y="4422960"/>
            <a:ext cx="93243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attempt 2 · regenerated with that error · PASS</a:t>
            </a:r>
            <a:endParaRPr lang="en-US" sz="1200" b="0" u="none" strike="noStrike">
              <a:solidFill>
                <a:srgbClr val="FFFFFF"/>
              </a:solidFill>
              <a:effectLst/>
              <a:uFillTx/>
              <a:latin typeface="Arial"/>
            </a:endParaRPr>
          </a:p>
        </p:txBody>
      </p:sp>
      <p:sp>
        <p:nvSpPr>
          <p:cNvPr id="398" name="Text 28"/>
          <p:cNvSpPr/>
          <p:nvPr/>
        </p:nvSpPr>
        <p:spPr>
          <a:xfrm>
            <a:off x="3501720" y="5049720"/>
            <a:ext cx="5187960" cy="288720"/>
          </a:xfrm>
          <a:prstGeom prst="rect">
            <a:avLst/>
          </a:prstGeom>
          <a:noFill/>
          <a:ln w="0">
            <a:noFill/>
          </a:ln>
        </p:spPr>
        <p:style>
          <a:lnRef idx="0"/>
          <a:fillRef idx="0"/>
          <a:effectRef idx="0"/>
          <a:fontRef idx="minor"/>
        </p:style>
        <p:txBody>
          <a:bodyPr lIns="0" tIns="0" rIns="0" bIns="0" anchor="t">
            <a:normAutofit/>
          </a:bodyPr>
          <a:p>
            <a:pPr algn="ctr" defTabSz="914400">
              <a:lnSpc>
                <a:spcPts val="2081"/>
              </a:lnSpc>
              <a:tabLst>
                <a:tab pos="0" algn="l"/>
              </a:tabLst>
            </a:pPr>
            <a:r>
              <a:rPr lang="en-US" sz="1600" b="0" u="none" strike="noStrike">
                <a:solidFill>
                  <a:srgbClr val="E8F7FF"/>
                </a:solidFill>
                <a:effectLst/>
                <a:uFillTx/>
                <a:latin typeface="Space Grotesk"/>
                <a:ea typeface="Space Grotesk"/>
              </a:rPr>
              <a:t>Fail twice and it's </a:t>
            </a:r>
            <a:r>
              <a:rPr lang="en-US" sz="1600" b="0" u="none" strike="noStrike">
                <a:solidFill>
                  <a:srgbClr val="FF2BD6"/>
                </a:solidFill>
                <a:effectLst/>
                <a:uFillTx/>
                <a:latin typeface="Space Grotesk"/>
                <a:ea typeface="Space Grotesk"/>
              </a:rPr>
              <a:t>UNVALIDATED</a:t>
            </a:r>
            <a:r>
              <a:rPr lang="en-US" sz="1600" b="0" u="none" strike="noStrike">
                <a:solidFill>
                  <a:srgbClr val="E8F7FF"/>
                </a:solidFill>
                <a:effectLst/>
                <a:uFillTx/>
                <a:latin typeface="Space Grotesk"/>
                <a:ea typeface="Space Grotesk"/>
              </a:rPr>
              <a:t>. No third try.</a:t>
            </a:r>
            <a:endParaRPr lang="en-US" sz="1600" b="0" u="none" strike="noStrike">
              <a:solidFill>
                <a:srgbClr val="FFFFFF"/>
              </a:solidFill>
              <a:effectLst/>
              <a:uFillTx/>
              <a:latin typeface="Arial"/>
            </a:endParaRPr>
          </a:p>
        </p:txBody>
      </p:sp>
      <p:sp>
        <p:nvSpPr>
          <p:cNvPr id="399" name="Text 29"/>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00" name="Text 30"/>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25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1" name="Image 0" descr="Neon wave background"/>
          <p:cNvPicPr/>
          <p:nvPr/>
        </p:nvPicPr>
        <p:blipFill>
          <a:blip r:embed="rId1"/>
          <a:stretch/>
        </p:blipFill>
        <p:spPr>
          <a:xfrm>
            <a:off x="0" y="0"/>
            <a:ext cx="12191400" cy="6857280"/>
          </a:xfrm>
          <a:prstGeom prst="rect">
            <a:avLst/>
          </a:prstGeom>
          <a:noFill/>
          <a:ln w="0">
            <a:noFill/>
          </a:ln>
        </p:spPr>
      </p:pic>
      <p:sp>
        <p:nvSpPr>
          <p:cNvPr id="402"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03"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26 / 51</a:t>
            </a:r>
            <a:endParaRPr lang="en-US" sz="1200" b="0" u="none" strike="noStrike">
              <a:solidFill>
                <a:srgbClr val="FFFFFF"/>
              </a:solidFill>
              <a:effectLst/>
              <a:uFillTx/>
              <a:latin typeface="Arial"/>
            </a:endParaRPr>
          </a:p>
        </p:txBody>
      </p:sp>
      <p:sp>
        <p:nvSpPr>
          <p:cNvPr id="404"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cat src/hooksmith/signals.py</a:t>
            </a:r>
            <a:endParaRPr lang="en-US" sz="1300" b="0" u="none" strike="noStrike">
              <a:solidFill>
                <a:srgbClr val="FFFFFF"/>
              </a:solidFill>
              <a:effectLst/>
              <a:uFillTx/>
              <a:latin typeface="Arial"/>
            </a:endParaRPr>
          </a:p>
        </p:txBody>
      </p:sp>
      <p:sp>
        <p:nvSpPr>
          <p:cNvPr id="405"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The model writes. Code decides.</a:t>
            </a:r>
            <a:endParaRPr lang="en-US" sz="3200" b="0" u="none" strike="noStrike">
              <a:solidFill>
                <a:srgbClr val="FFFFFF"/>
              </a:solidFill>
              <a:effectLst/>
              <a:uFillTx/>
              <a:latin typeface="Arial"/>
            </a:endParaRPr>
          </a:p>
        </p:txBody>
      </p:sp>
      <p:sp>
        <p:nvSpPr>
          <p:cNvPr id="406" name="TextBox 23"/>
          <p:cNvSpPr/>
          <p:nvPr/>
        </p:nvSpPr>
        <p:spPr>
          <a:xfrm>
            <a:off x="900000" y="1559880"/>
            <a:ext cx="10391400" cy="3592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600" b="0" u="none" strike="noStrike">
                <a:solidFill>
                  <a:srgbClr val="6F82A8"/>
                </a:solidFill>
                <a:effectLst/>
                <a:uFillTx/>
                <a:latin typeface="Space Grotesk"/>
              </a:rPr>
              <a:t>The LLM never sees this file, and never picks the verdict.</a:t>
            </a:r>
            <a:endParaRPr lang="en-US" sz="1600" b="0" u="none" strike="noStrike">
              <a:solidFill>
                <a:srgbClr val="FFFFFF"/>
              </a:solidFill>
              <a:effectLst/>
              <a:uFillTx/>
              <a:latin typeface="Arial"/>
            </a:endParaRPr>
          </a:p>
        </p:txBody>
      </p:sp>
      <p:sp>
        <p:nvSpPr>
          <p:cNvPr id="407" name="Rounded Rectangle 24"/>
          <p:cNvSpPr/>
          <p:nvPr/>
        </p:nvSpPr>
        <p:spPr>
          <a:xfrm>
            <a:off x="699840" y="1950120"/>
            <a:ext cx="6699240" cy="274932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00F0FF"/>
                </a:solidFill>
                <a:effectLst/>
                <a:uFillTx/>
                <a:latin typeface="JetBrains Mono"/>
              </a:rPr>
              <a:t>signals.py: hardcoded_key (trimmed)</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400" b="0" u="none" strike="noStrike">
                <a:solidFill>
                  <a:srgbClr val="B07CFF"/>
                </a:solidFill>
                <a:effectLst/>
                <a:uFillTx/>
                <a:latin typeface="JetBrains Mono"/>
              </a:rPr>
              <a:t>if</a:t>
            </a: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not</a:t>
            </a:r>
            <a:r>
              <a:rPr lang="en-US" sz="1400" b="0" u="none" strike="noStrike">
                <a:solidFill>
                  <a:srgbClr val="E8F7FF"/>
                </a:solidFill>
                <a:effectLst/>
                <a:uFillTx/>
                <a:latin typeface="JetBrains Mono"/>
              </a:rPr>
              <a:t> keys:</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return</a:t>
            </a:r>
            <a:r>
              <a:rPr lang="en-US" sz="1400" b="0" u="none" strike="noStrike">
                <a:solidFill>
                  <a:srgbClr val="E8F7FF"/>
                </a:solidFill>
                <a:effectLst/>
                <a:uFillTx/>
                <a:latin typeface="JetBrains Mono"/>
              </a:rPr>
              <a:t> Outcome(UNVALIDATED, </a:t>
            </a:r>
            <a:r>
              <a:rPr lang="en-US" sz="1400" b="0" u="none" strike="noStrike">
                <a:solidFill>
                  <a:srgbClr val="39FF9C"/>
                </a:solidFill>
                <a:effectLst/>
                <a:uFillTx/>
                <a:latin typeface="JetBrains Mono"/>
              </a:rPr>
              <a:t>"fired, but no key seen"</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B07CFF"/>
                </a:solidFill>
                <a:effectLst/>
                <a:uFillTx/>
                <a:latin typeface="JetBrains Mono"/>
              </a:rPr>
              <a:t>if</a:t>
            </a:r>
            <a:r>
              <a:rPr lang="en-US" sz="1400" b="0" u="none" strike="noStrike">
                <a:solidFill>
                  <a:srgbClr val="E8F7FF"/>
                </a:solidFill>
                <a:effectLst/>
                <a:uFillTx/>
                <a:latin typeface="JetBrains Mono"/>
              </a:rPr>
              <a:t> len(distinct) &gt; 1:</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return</a:t>
            </a:r>
            <a:r>
              <a:rPr lang="en-US" sz="1400" b="0" u="none" strike="noStrike">
                <a:solidFill>
                  <a:srgbClr val="E8F7FF"/>
                </a:solidFill>
                <a:effectLst/>
                <a:uFillTx/>
                <a:latin typeface="JetBrains Mono"/>
              </a:rPr>
              <a:t> Outcome(REFUTED,</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"key differs across calls: derived"</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B07CFF"/>
                </a:solidFill>
                <a:effectLst/>
                <a:uFillTx/>
                <a:latin typeface="JetBrains Mono"/>
              </a:rPr>
              <a:t>for</a:t>
            </a:r>
            <a:r>
              <a:rPr lang="en-US" sz="1400" b="0" u="none" strike="noStrike">
                <a:solidFill>
                  <a:srgbClr val="E8F7FF"/>
                </a:solidFill>
                <a:effectLst/>
                <a:uFillTx/>
                <a:latin typeface="JetBrains Mono"/>
              </a:rPr>
              <a:t> origin, raw </a:t>
            </a:r>
            <a:r>
              <a:rPr lang="en-US" sz="1400" b="0" u="none" strike="noStrike">
                <a:solidFill>
                  <a:srgbClr val="B07CFF"/>
                </a:solidFill>
                <a:effectLst/>
                <a:uFillTx/>
                <a:latin typeface="JetBrains Mono"/>
              </a:rPr>
              <a:t>in</a:t>
            </a:r>
            <a:r>
              <a:rPr lang="en-US" sz="1400" b="0" u="none" strike="noStrike">
                <a:solidFill>
                  <a:srgbClr val="E8F7FF"/>
                </a:solidFill>
                <a:effectLst/>
                <a:uFillTx/>
                <a:latin typeface="JetBrains Mono"/>
              </a:rPr>
              <a:t> key_constants(source):</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if</a:t>
            </a:r>
            <a:r>
              <a:rPr lang="en-US" sz="1400" b="0" u="none" strike="noStrike">
                <a:solidFill>
                  <a:srgbClr val="E8F7FF"/>
                </a:solidFill>
                <a:effectLst/>
                <a:uFillTx/>
                <a:latin typeface="JetBrains Mono"/>
              </a:rPr>
              <a:t> raw == keys[0]:</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return</a:t>
            </a:r>
            <a:r>
              <a:rPr lang="en-US" sz="1400" b="0" u="none" strike="noStrike">
                <a:solidFill>
                  <a:srgbClr val="E8F7FF"/>
                </a:solidFill>
                <a:effectLst/>
                <a:uFillTx/>
                <a:latin typeface="JetBrains Mono"/>
              </a:rPr>
              <a:t> Outcome(PROVEN,</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"equals a static constant in the class"</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B07CFF"/>
                </a:solidFill>
                <a:effectLst/>
                <a:uFillTx/>
                <a:latin typeface="JetBrains Mono"/>
              </a:rPr>
              <a:t>return</a:t>
            </a:r>
            <a:r>
              <a:rPr lang="en-US" sz="1400" b="0" u="none" strike="noStrike">
                <a:solidFill>
                  <a:srgbClr val="E8F7FF"/>
                </a:solidFill>
                <a:effectLst/>
                <a:uFillTx/>
                <a:latin typeface="JetBrains Mono"/>
              </a:rPr>
              <a:t> Outcome(UNVALIDATED, </a:t>
            </a:r>
            <a:r>
              <a:rPr lang="en-US" sz="1400" b="0" u="none" strike="noStrike">
                <a:solidFill>
                  <a:srgbClr val="39FF9C"/>
                </a:solidFill>
                <a:effectLst/>
                <a:uFillTx/>
                <a:latin typeface="JetBrains Mono"/>
              </a:rPr>
              <a:t>"matches no constant"</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p:txBody>
      </p:sp>
      <p:sp>
        <p:nvSpPr>
          <p:cNvPr id="408" name="Rounded Rectangle 25"/>
          <p:cNvSpPr/>
          <p:nvPr/>
        </p:nvSpPr>
        <p:spPr>
          <a:xfrm>
            <a:off x="7599960" y="1950120"/>
            <a:ext cx="3899160" cy="2749320"/>
          </a:xfrm>
          <a:prstGeom prst="roundRect">
            <a:avLst>
              <a:gd name="adj" fmla="val 6000"/>
            </a:avLst>
          </a:prstGeom>
          <a:solidFill>
            <a:srgbClr val="05070F"/>
          </a:solidFill>
          <a:ln w="12700">
            <a:solidFill>
              <a:srgbClr val="B07C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B07CFF"/>
                </a:solidFill>
                <a:effectLst/>
                <a:uFillTx/>
                <a:latin typeface="JetBrains Mono"/>
              </a:rPr>
              <a:t>the only contract</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200" b="0" u="none" strike="noStrike">
                <a:solidFill>
                  <a:srgbClr val="E8F7FF"/>
                </a:solidFill>
                <a:effectLst/>
                <a:uFillTx/>
                <a:latin typeface="JetBrains Mono"/>
              </a:rPr>
              <a:t>HS|{</a:t>
            </a:r>
            <a:r>
              <a:rPr lang="en-US" sz="1200" b="0" u="none" strike="noStrike">
                <a:solidFill>
                  <a:srgbClr val="39FF9C"/>
                </a:solidFill>
                <a:effectLst/>
                <a:uFillTx/>
                <a:latin typeface="JetBrains Mono"/>
              </a:rPr>
              <a:t>"event"</a:t>
            </a:r>
            <a:r>
              <a:rPr lang="en-US" sz="1200" b="0" u="none" strike="noStrike">
                <a:solidFill>
                  <a:srgbClr val="E8F7FF"/>
                </a:solidFill>
                <a:effectLst/>
                <a:uFillTx/>
                <a:latin typeface="JetBrains Mono"/>
              </a:rPr>
              <a:t>: </a:t>
            </a:r>
            <a:r>
              <a:rPr lang="en-US" sz="1200" b="0" u="none" strike="noStrike">
                <a:solidFill>
                  <a:srgbClr val="39FF9C"/>
                </a:solidFill>
                <a:effectLst/>
                <a:uFillTx/>
                <a:latin typeface="JetBrains Mono"/>
              </a:rPr>
              <a:t>"ready"</a:t>
            </a:r>
            <a:r>
              <a:rPr lang="en-US" sz="1200" b="0" u="none" strike="noStrike">
                <a:solidFill>
                  <a:srgbClr val="E8F7FF"/>
                </a:solidFill>
                <a:effectLst/>
                <a:uFillTx/>
                <a:latin typeface="JetBrains Mono"/>
              </a:rPr>
              <a:t>}</a:t>
            </a:r>
            <a:endParaRPr lang="en-US" sz="1200" b="0" u="none" strike="noStrike">
              <a:solidFill>
                <a:srgbClr val="FFFFFF"/>
              </a:solidFill>
              <a:effectLst/>
              <a:uFillTx/>
              <a:latin typeface="Arial"/>
            </a:endParaRPr>
          </a:p>
          <a:p>
            <a:pPr defTabSz="914400">
              <a:lnSpc>
                <a:spcPct val="100000"/>
              </a:lnSpc>
            </a:pPr>
            <a:r>
              <a:rPr lang="en-US" sz="1200" b="0" u="none" strike="noStrike">
                <a:solidFill>
                  <a:srgbClr val="E8F7FF"/>
                </a:solidFill>
                <a:effectLst/>
                <a:uFillTx/>
                <a:latin typeface="JetBrains Mono"/>
              </a:rPr>
              <a:t>HS|{</a:t>
            </a:r>
            <a:r>
              <a:rPr lang="en-US" sz="1200" b="0" u="none" strike="noStrike">
                <a:solidFill>
                  <a:srgbClr val="39FF9C"/>
                </a:solidFill>
                <a:effectLst/>
                <a:uFillTx/>
                <a:latin typeface="JetBrains Mono"/>
              </a:rPr>
              <a:t>"event"</a:t>
            </a:r>
            <a:r>
              <a:rPr lang="en-US" sz="1200" b="0" u="none" strike="noStrike">
                <a:solidFill>
                  <a:srgbClr val="E8F7FF"/>
                </a:solidFill>
                <a:effectLst/>
                <a:uFillTx/>
                <a:latin typeface="JetBrains Mono"/>
              </a:rPr>
              <a:t>: </a:t>
            </a:r>
            <a:r>
              <a:rPr lang="en-US" sz="1200" b="0" u="none" strike="noStrike">
                <a:solidFill>
                  <a:srgbClr val="39FF9C"/>
                </a:solidFill>
                <a:effectLst/>
                <a:uFillTx/>
                <a:latin typeface="JetBrains Mono"/>
              </a:rPr>
              <a:t>"call"</a:t>
            </a:r>
            <a:r>
              <a:rPr lang="en-US" sz="1200" b="0" u="none" strike="noStrike">
                <a:solidFill>
                  <a:srgbClr val="E8F7FF"/>
                </a:solidFill>
                <a:effectLst/>
                <a:uFillTx/>
                <a:latin typeface="JetBrains Mono"/>
              </a:rPr>
              <a:t>}</a:t>
            </a:r>
            <a:endParaRPr lang="en-US" sz="1200" b="0" u="none" strike="noStrike">
              <a:solidFill>
                <a:srgbClr val="FFFFFF"/>
              </a:solidFill>
              <a:effectLst/>
              <a:uFillTx/>
              <a:latin typeface="Arial"/>
            </a:endParaRPr>
          </a:p>
          <a:p>
            <a:pPr defTabSz="914400">
              <a:lnSpc>
                <a:spcPct val="100000"/>
              </a:lnSpc>
            </a:pPr>
            <a:r>
              <a:rPr lang="en-US" sz="1200" b="0" u="none" strike="noStrike">
                <a:solidFill>
                  <a:srgbClr val="E8F7FF"/>
                </a:solidFill>
                <a:effectLst/>
                <a:uFillTx/>
                <a:latin typeface="JetBrains Mono"/>
              </a:rPr>
              <a:t>HS|{</a:t>
            </a:r>
            <a:r>
              <a:rPr lang="en-US" sz="1200" b="0" u="none" strike="noStrike">
                <a:solidFill>
                  <a:srgbClr val="39FF9C"/>
                </a:solidFill>
                <a:effectLst/>
                <a:uFillTx/>
                <a:latin typeface="JetBrains Mono"/>
              </a:rPr>
              <a:t>"event"</a:t>
            </a:r>
            <a:r>
              <a:rPr lang="en-US" sz="1200" b="0" u="none" strike="noStrike">
                <a:solidFill>
                  <a:srgbClr val="E8F7FF"/>
                </a:solidFill>
                <a:effectLst/>
                <a:uFillTx/>
                <a:latin typeface="JetBrains Mono"/>
              </a:rPr>
              <a:t>: </a:t>
            </a:r>
            <a:r>
              <a:rPr lang="en-US" sz="1200" b="0" u="none" strike="noStrike">
                <a:solidFill>
                  <a:srgbClr val="39FF9C"/>
                </a:solidFill>
                <a:effectLst/>
                <a:uFillTx/>
                <a:latin typeface="JetBrains Mono"/>
              </a:rPr>
              <a:t>"key"</a:t>
            </a:r>
            <a:r>
              <a:rPr lang="en-US" sz="1200" b="0" u="none" strike="noStrike">
                <a:solidFill>
                  <a:srgbClr val="E8F7FF"/>
                </a:solidFill>
                <a:effectLst/>
                <a:uFillTx/>
                <a:latin typeface="JetBrains Mono"/>
              </a:rPr>
              <a:t>, </a:t>
            </a:r>
            <a:r>
              <a:rPr lang="en-US" sz="1200" b="0" u="none" strike="noStrike">
                <a:solidFill>
                  <a:srgbClr val="39FF9C"/>
                </a:solidFill>
                <a:effectLst/>
                <a:uFillTx/>
                <a:latin typeface="JetBrains Mono"/>
              </a:rPr>
              <a:t>"hex"</a:t>
            </a:r>
            <a:r>
              <a:rPr lang="en-US" sz="1200" b="0" u="none" strike="noStrike">
                <a:solidFill>
                  <a:srgbClr val="E8F7FF"/>
                </a:solidFill>
                <a:effectLst/>
                <a:uFillTx/>
                <a:latin typeface="JetBrains Mono"/>
              </a:rPr>
              <a:t>: ...}</a:t>
            </a:r>
            <a:endParaRPr lang="en-US" sz="1200" b="0" u="none" strike="noStrike">
              <a:solidFill>
                <a:srgbClr val="FFFFFF"/>
              </a:solidFill>
              <a:effectLst/>
              <a:uFillTx/>
              <a:latin typeface="Arial"/>
            </a:endParaRPr>
          </a:p>
          <a:p>
            <a:pPr defTabSz="914400">
              <a:lnSpc>
                <a:spcPct val="100000"/>
              </a:lnSpc>
            </a:pPr>
            <a:r>
              <a:rPr lang="en-US" sz="1200" b="0" u="none" strike="noStrike">
                <a:solidFill>
                  <a:srgbClr val="E8F7FF"/>
                </a:solidFill>
                <a:effectLst/>
                <a:uFillTx/>
                <a:latin typeface="JetBrains Mono"/>
              </a:rPr>
              <a:t>HS|{</a:t>
            </a:r>
            <a:r>
              <a:rPr lang="en-US" sz="1200" b="0" u="none" strike="noStrike">
                <a:solidFill>
                  <a:srgbClr val="39FF9C"/>
                </a:solidFill>
                <a:effectLst/>
                <a:uFillTx/>
                <a:latin typeface="JetBrains Mono"/>
              </a:rPr>
              <a:t>"event"</a:t>
            </a:r>
            <a:r>
              <a:rPr lang="en-US" sz="1200" b="0" u="none" strike="noStrike">
                <a:solidFill>
                  <a:srgbClr val="E8F7FF"/>
                </a:solidFill>
                <a:effectLst/>
                <a:uFillTx/>
                <a:latin typeface="JetBrains Mono"/>
              </a:rPr>
              <a:t>: </a:t>
            </a:r>
            <a:r>
              <a:rPr lang="en-US" sz="1200" b="0" u="none" strike="noStrike">
                <a:solidFill>
                  <a:srgbClr val="39FF9C"/>
                </a:solidFill>
                <a:effectLst/>
                <a:uFillTx/>
                <a:latin typeface="JetBrains Mono"/>
              </a:rPr>
              <a:t>"url"</a:t>
            </a:r>
            <a:r>
              <a:rPr lang="en-US" sz="1200" b="0" u="none" strike="noStrike">
                <a:solidFill>
                  <a:srgbClr val="E8F7FF"/>
                </a:solidFill>
                <a:effectLst/>
                <a:uFillTx/>
                <a:latin typeface="JetBrains Mono"/>
              </a:rPr>
              <a:t>, ...}</a:t>
            </a:r>
            <a:endParaRPr lang="en-US" sz="1200" b="0" u="none" strike="noStrike">
              <a:solidFill>
                <a:srgbClr val="FFFFFF"/>
              </a:solidFill>
              <a:effectLst/>
              <a:uFillTx/>
              <a:latin typeface="Arial"/>
            </a:endParaRPr>
          </a:p>
          <a:p>
            <a:pPr defTabSz="914400">
              <a:lnSpc>
                <a:spcPct val="100000"/>
              </a:lnSpc>
            </a:pPr>
            <a:r>
              <a:rPr lang="en-US" sz="1200" b="0" u="none" strike="noStrike">
                <a:solidFill>
                  <a:srgbClr val="E8F7FF"/>
                </a:solidFill>
                <a:effectLst/>
                <a:uFillTx/>
                <a:latin typeface="JetBrains Mono"/>
              </a:rPr>
              <a:t>HS|{</a:t>
            </a:r>
            <a:r>
              <a:rPr lang="en-US" sz="1200" b="0" u="none" strike="noStrike">
                <a:solidFill>
                  <a:srgbClr val="39FF9C"/>
                </a:solidFill>
                <a:effectLst/>
                <a:uFillTx/>
                <a:latin typeface="JetBrains Mono"/>
              </a:rPr>
              <a:t>"event"</a:t>
            </a:r>
            <a:r>
              <a:rPr lang="en-US" sz="1200" b="0" u="none" strike="noStrike">
                <a:solidFill>
                  <a:srgbClr val="E8F7FF"/>
                </a:solidFill>
                <a:effectLst/>
                <a:uFillTx/>
                <a:latin typeface="JetBrains Mono"/>
              </a:rPr>
              <a:t>: </a:t>
            </a:r>
            <a:r>
              <a:rPr lang="en-US" sz="1200" b="0" u="none" strike="noStrike">
                <a:solidFill>
                  <a:srgbClr val="39FF9C"/>
                </a:solidFill>
                <a:effectLst/>
                <a:uFillTx/>
                <a:latin typeface="JetBrains Mono"/>
              </a:rPr>
              <a:t>"tls_chain"</a:t>
            </a:r>
            <a:r>
              <a:rPr lang="en-US" sz="1200" b="0" u="none" strike="noStrike">
                <a:solidFill>
                  <a:srgbClr val="E8F7FF"/>
                </a:solidFill>
                <a:effectLst/>
                <a:uFillTx/>
                <a:latin typeface="JetBrains Mono"/>
              </a:rPr>
              <a:t>, ...}</a:t>
            </a:r>
            <a:endParaRPr lang="en-US" sz="1200" b="0" u="none" strike="noStrike">
              <a:solidFill>
                <a:srgbClr val="FFFFFF"/>
              </a:solidFill>
              <a:effectLst/>
              <a:uFillTx/>
              <a:latin typeface="Arial"/>
            </a:endParaRPr>
          </a:p>
          <a:p>
            <a:pPr defTabSz="914400">
              <a:lnSpc>
                <a:spcPct val="100000"/>
              </a:lnSpc>
            </a:pPr>
            <a:endParaRPr lang="en-US" sz="1200" b="0" u="none" strike="noStrike">
              <a:solidFill>
                <a:srgbClr val="FFFFFF"/>
              </a:solidFill>
              <a:effectLst/>
              <a:uFillTx/>
              <a:latin typeface="Arial"/>
            </a:endParaRPr>
          </a:p>
          <a:p>
            <a:pPr defTabSz="914400">
              <a:lnSpc>
                <a:spcPct val="100000"/>
              </a:lnSpc>
            </a:pPr>
            <a:r>
              <a:rPr lang="en-US" sz="1200" b="0" u="none" strike="noStrike">
                <a:solidFill>
                  <a:srgbClr val="E8F7FF"/>
                </a:solidFill>
                <a:effectLst/>
                <a:uFillTx/>
                <a:latin typeface="JetBrains Mono"/>
              </a:rPr>
              <a:t>One line protocol. No free-text parsing.</a:t>
            </a:r>
            <a:endParaRPr lang="en-US" sz="1200" b="0" u="none" strike="noStrike">
              <a:solidFill>
                <a:srgbClr val="FFFFFF"/>
              </a:solidFill>
              <a:effectLst/>
              <a:uFillTx/>
              <a:latin typeface="Arial"/>
            </a:endParaRPr>
          </a:p>
        </p:txBody>
      </p:sp>
      <p:sp>
        <p:nvSpPr>
          <p:cNvPr id="409" name="TextBox 26"/>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500" b="0" u="none" strike="noStrike">
                <a:solidFill>
                  <a:srgbClr val="6F82A8"/>
                </a:solidFill>
                <a:effectLst/>
                <a:uFillTx/>
                <a:latin typeface="Space Grotesk"/>
              </a:rPr>
              <a:t>Same input, same verdict, every time. That is what lets a verdict be a regression test later.</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0" name="Image 0" descr="Neon wave background"/>
          <p:cNvPicPr/>
          <p:nvPr/>
        </p:nvPicPr>
        <p:blipFill>
          <a:blip r:embed="rId1"/>
          <a:stretch/>
        </p:blipFill>
        <p:spPr>
          <a:xfrm>
            <a:off x="0" y="0"/>
            <a:ext cx="12191400" cy="6857280"/>
          </a:xfrm>
          <a:prstGeom prst="rect">
            <a:avLst/>
          </a:prstGeom>
          <a:noFill/>
          <a:ln w="0">
            <a:noFill/>
          </a:ln>
        </p:spPr>
      </p:pic>
      <p:sp>
        <p:nvSpPr>
          <p:cNvPr id="411" name="Text 0"/>
          <p:cNvSpPr/>
          <p:nvPr/>
        </p:nvSpPr>
        <p:spPr>
          <a:xfrm>
            <a:off x="3909240" y="1457280"/>
            <a:ext cx="437328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B07CFF"/>
                </a:solidFill>
                <a:effectLst/>
                <a:uFillTx/>
                <a:latin typeface="JetBrains Mono"/>
                <a:ea typeface="JetBrains Mono"/>
              </a:rPr>
              <a:t>$ cat findings/SCAN-001/runtime.log</a:t>
            </a:r>
            <a:endParaRPr lang="en-US" sz="1200" b="0" u="none" strike="noStrike">
              <a:solidFill>
                <a:srgbClr val="FFFFFF"/>
              </a:solidFill>
              <a:effectLst/>
              <a:uFillTx/>
              <a:latin typeface="Arial"/>
            </a:endParaRPr>
          </a:p>
        </p:txBody>
      </p:sp>
      <p:sp>
        <p:nvSpPr>
          <p:cNvPr id="412" name="PlaceHolder 1"/>
          <p:cNvSpPr>
            <a:spLocks noGrp="1"/>
          </p:cNvSpPr>
          <p:nvPr>
            <p:ph type="title"/>
          </p:nvPr>
        </p:nvSpPr>
        <p:spPr>
          <a:xfrm>
            <a:off x="2674440" y="1899360"/>
            <a:ext cx="684216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What the hook prints back</a:t>
            </a:r>
            <a:endParaRPr lang="en-US" sz="3600" b="0" u="none" strike="noStrike">
              <a:solidFill>
                <a:schemeClr val="lt1"/>
              </a:solidFill>
              <a:effectLst/>
              <a:uFillTx/>
              <a:latin typeface="JetBrains Mono"/>
            </a:endParaRPr>
          </a:p>
        </p:txBody>
      </p:sp>
      <p:sp>
        <p:nvSpPr>
          <p:cNvPr id="413" name="Shape 2"/>
          <p:cNvSpPr/>
          <p:nvPr/>
        </p:nvSpPr>
        <p:spPr>
          <a:xfrm>
            <a:off x="1022400" y="2637000"/>
            <a:ext cx="6336720" cy="1654200"/>
          </a:xfrm>
          <a:prstGeom prst="roundRect">
            <a:avLst>
              <a:gd name="adj" fmla="val 8825"/>
            </a:avLst>
          </a:prstGeom>
          <a:solidFill>
            <a:srgbClr val="000000"/>
          </a:solidFill>
          <a:ln w="12700">
            <a:solidFill>
              <a:srgbClr val="B07CFF"/>
            </a:solidFill>
            <a:round/>
          </a:ln>
          <a:effectLst>
            <a:outerShdw algn="bl" blurRad="254160" dir="0" dist="0" kx="0" ky="0" rotWithShape="0" sx="100000" sy="100000">
              <a:srgbClr val="B07CFF">
                <a:alpha val="4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414" name="Text 3"/>
          <p:cNvSpPr/>
          <p:nvPr/>
        </p:nvSpPr>
        <p:spPr>
          <a:xfrm>
            <a:off x="1251720" y="2866320"/>
            <a:ext cx="6054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00F0FF"/>
                </a:solidFill>
                <a:effectLst/>
                <a:uFillTx/>
                <a:latin typeface="JetBrains Mono"/>
                <a:ea typeface="JetBrains Mono"/>
              </a:rPr>
              <a:t>HS|{"event":"ready"}</a:t>
            </a:r>
            <a:endParaRPr lang="en-US" sz="1200" b="0" u="none" strike="noStrike">
              <a:solidFill>
                <a:srgbClr val="FFFFFF"/>
              </a:solidFill>
              <a:effectLst/>
              <a:uFillTx/>
              <a:latin typeface="Arial"/>
            </a:endParaRPr>
          </a:p>
        </p:txBody>
      </p:sp>
      <p:sp>
        <p:nvSpPr>
          <p:cNvPr id="415" name="Text 4"/>
          <p:cNvSpPr/>
          <p:nvPr/>
        </p:nvSpPr>
        <p:spPr>
          <a:xfrm>
            <a:off x="1251720" y="3193920"/>
            <a:ext cx="6054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E600"/>
                </a:solidFill>
                <a:effectLst/>
                <a:uFillTx/>
                <a:latin typeface="JetBrains Mono"/>
                <a:ea typeface="JetBrains Mono"/>
              </a:rPr>
              <a:t>HS|{"event":"call"}</a:t>
            </a:r>
            <a:endParaRPr lang="en-US" sz="1200" b="0" u="none" strike="noStrike">
              <a:solidFill>
                <a:srgbClr val="FFFFFF"/>
              </a:solidFill>
              <a:effectLst/>
              <a:uFillTx/>
              <a:latin typeface="Arial"/>
            </a:endParaRPr>
          </a:p>
        </p:txBody>
      </p:sp>
      <p:sp>
        <p:nvSpPr>
          <p:cNvPr id="416" name="Text 5"/>
          <p:cNvSpPr/>
          <p:nvPr/>
        </p:nvSpPr>
        <p:spPr>
          <a:xfrm>
            <a:off x="1251720" y="3521880"/>
            <a:ext cx="6054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HS|{"event":"key","hex":"8d127684cbc37c17616d806cf50473cc",</a:t>
            </a:r>
            <a:endParaRPr lang="en-US" sz="1200" b="0" u="none" strike="noStrike">
              <a:solidFill>
                <a:srgbClr val="FFFFFF"/>
              </a:solidFill>
              <a:effectLst/>
              <a:uFillTx/>
              <a:latin typeface="Arial"/>
            </a:endParaRPr>
          </a:p>
        </p:txBody>
      </p:sp>
      <p:sp>
        <p:nvSpPr>
          <p:cNvPr id="417" name="Text 6"/>
          <p:cNvSpPr/>
          <p:nvPr/>
        </p:nvSpPr>
        <p:spPr>
          <a:xfrm>
            <a:off x="1251720" y="3849480"/>
            <a:ext cx="60541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"algorithm":"AES/ECB/PKCS7Padding"}</a:t>
            </a:r>
            <a:endParaRPr lang="en-US" sz="1200" b="0" u="none" strike="noStrike">
              <a:solidFill>
                <a:srgbClr val="FFFFFF"/>
              </a:solidFill>
              <a:effectLst/>
              <a:uFillTx/>
              <a:latin typeface="Arial"/>
            </a:endParaRPr>
          </a:p>
        </p:txBody>
      </p:sp>
      <p:sp>
        <p:nvSpPr>
          <p:cNvPr id="418" name="Text 7"/>
          <p:cNvSpPr/>
          <p:nvPr/>
        </p:nvSpPr>
        <p:spPr>
          <a:xfrm>
            <a:off x="7620120" y="2639160"/>
            <a:ext cx="3661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00F0FF"/>
                </a:solidFill>
                <a:effectLst/>
                <a:uFillTx/>
                <a:latin typeface="JetBrains Mono"/>
                <a:ea typeface="JetBrains Mono"/>
              </a:rPr>
              <a:t>ready</a:t>
            </a:r>
            <a:endParaRPr lang="en-US" sz="1200" b="0" u="none" strike="noStrike">
              <a:solidFill>
                <a:srgbClr val="FFFFFF"/>
              </a:solidFill>
              <a:effectLst/>
              <a:uFillTx/>
              <a:latin typeface="Arial"/>
            </a:endParaRPr>
          </a:p>
        </p:txBody>
      </p:sp>
      <p:sp>
        <p:nvSpPr>
          <p:cNvPr id="419" name="Text 8"/>
          <p:cNvSpPr/>
          <p:nvPr/>
        </p:nvSpPr>
        <p:spPr>
          <a:xfrm>
            <a:off x="7620120" y="2852280"/>
            <a:ext cx="366192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0" u="none" strike="noStrike">
                <a:solidFill>
                  <a:srgbClr val="E8F7FF"/>
                </a:solidFill>
                <a:effectLst/>
                <a:uFillTx/>
                <a:latin typeface="Space Grotesk"/>
                <a:ea typeface="Space Grotesk"/>
              </a:rPr>
              <a:t>Hook's installed.</a:t>
            </a:r>
            <a:endParaRPr lang="en-US" sz="1600" b="0" u="none" strike="noStrike">
              <a:solidFill>
                <a:srgbClr val="FFFFFF"/>
              </a:solidFill>
              <a:effectLst/>
              <a:uFillTx/>
              <a:latin typeface="Arial"/>
            </a:endParaRPr>
          </a:p>
        </p:txBody>
      </p:sp>
      <p:sp>
        <p:nvSpPr>
          <p:cNvPr id="420" name="Text 9"/>
          <p:cNvSpPr/>
          <p:nvPr/>
        </p:nvSpPr>
        <p:spPr>
          <a:xfrm>
            <a:off x="7620120" y="3236040"/>
            <a:ext cx="3661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E600"/>
                </a:solidFill>
                <a:effectLst/>
                <a:uFillTx/>
                <a:latin typeface="JetBrains Mono"/>
                <a:ea typeface="JetBrains Mono"/>
              </a:rPr>
              <a:t>call</a:t>
            </a:r>
            <a:endParaRPr lang="en-US" sz="1200" b="0" u="none" strike="noStrike">
              <a:solidFill>
                <a:srgbClr val="FFFFFF"/>
              </a:solidFill>
              <a:effectLst/>
              <a:uFillTx/>
              <a:latin typeface="Arial"/>
            </a:endParaRPr>
          </a:p>
        </p:txBody>
      </p:sp>
      <p:sp>
        <p:nvSpPr>
          <p:cNvPr id="421" name="Text 10"/>
          <p:cNvSpPr/>
          <p:nvPr/>
        </p:nvSpPr>
        <p:spPr>
          <a:xfrm>
            <a:off x="7620120" y="3449160"/>
            <a:ext cx="366192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0" u="none" strike="noStrike">
                <a:solidFill>
                  <a:srgbClr val="E8F7FF"/>
                </a:solidFill>
                <a:effectLst/>
                <a:uFillTx/>
                <a:latin typeface="Space Grotesk"/>
                <a:ea typeface="Space Grotesk"/>
              </a:rPr>
              <a:t>Target method actually ran.</a:t>
            </a:r>
            <a:endParaRPr lang="en-US" sz="1600" b="0" u="none" strike="noStrike">
              <a:solidFill>
                <a:srgbClr val="FFFFFF"/>
              </a:solidFill>
              <a:effectLst/>
              <a:uFillTx/>
              <a:latin typeface="Arial"/>
            </a:endParaRPr>
          </a:p>
        </p:txBody>
      </p:sp>
      <p:sp>
        <p:nvSpPr>
          <p:cNvPr id="422" name="Text 11"/>
          <p:cNvSpPr/>
          <p:nvPr/>
        </p:nvSpPr>
        <p:spPr>
          <a:xfrm>
            <a:off x="7620120" y="3832920"/>
            <a:ext cx="3661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key</a:t>
            </a:r>
            <a:endParaRPr lang="en-US" sz="1200" b="0" u="none" strike="noStrike">
              <a:solidFill>
                <a:srgbClr val="FFFFFF"/>
              </a:solidFill>
              <a:effectLst/>
              <a:uFillTx/>
              <a:latin typeface="Arial"/>
            </a:endParaRPr>
          </a:p>
        </p:txBody>
      </p:sp>
      <p:sp>
        <p:nvSpPr>
          <p:cNvPr id="423" name="Text 12"/>
          <p:cNvSpPr/>
          <p:nvPr/>
        </p:nvSpPr>
        <p:spPr>
          <a:xfrm>
            <a:off x="7620120" y="4046040"/>
            <a:ext cx="3661920" cy="26856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0" u="none" strike="noStrike">
                <a:solidFill>
                  <a:srgbClr val="E8F7FF"/>
                </a:solidFill>
                <a:effectLst/>
                <a:uFillTx/>
                <a:latin typeface="Space Grotesk"/>
                <a:ea typeface="Space Grotesk"/>
              </a:rPr>
              <a:t>The real 16 bytes the app used.</a:t>
            </a:r>
            <a:endParaRPr lang="en-US" sz="1600" b="0" u="none" strike="noStrike">
              <a:solidFill>
                <a:srgbClr val="FFFFFF"/>
              </a:solidFill>
              <a:effectLst/>
              <a:uFillTx/>
              <a:latin typeface="Arial"/>
            </a:endParaRPr>
          </a:p>
        </p:txBody>
      </p:sp>
      <p:sp>
        <p:nvSpPr>
          <p:cNvPr id="424" name="Text 13"/>
          <p:cNvSpPr/>
          <p:nvPr/>
        </p:nvSpPr>
        <p:spPr>
          <a:xfrm>
            <a:off x="2286360" y="4527000"/>
            <a:ext cx="7618320" cy="695160"/>
          </a:xfrm>
          <a:prstGeom prst="rect">
            <a:avLst/>
          </a:prstGeom>
          <a:noFill/>
          <a:ln w="0">
            <a:noFill/>
          </a:ln>
        </p:spPr>
        <p:style>
          <a:lnRef idx="0"/>
          <a:fillRef idx="0"/>
          <a:effectRef idx="0"/>
          <a:fontRef idx="minor"/>
        </p:style>
        <p:txBody>
          <a:bodyPr lIns="0" tIns="0" rIns="0" bIns="0" anchor="t">
            <a:normAutofit/>
          </a:bodyPr>
          <a:p>
            <a:pPr algn="ctr" defTabSz="914400">
              <a:lnSpc>
                <a:spcPts val="2639"/>
              </a:lnSpc>
              <a:tabLst>
                <a:tab pos="0" algn="l"/>
              </a:tabLst>
            </a:pPr>
            <a:r>
              <a:rPr lang="en-US" sz="2200" b="0" u="none" strike="noStrike">
                <a:solidFill>
                  <a:srgbClr val="E8F7FF"/>
                </a:solidFill>
                <a:effectLst/>
                <a:uFillTx/>
                <a:latin typeface="Space Grotesk"/>
                <a:ea typeface="Space Grotesk"/>
              </a:rPr>
              <a:t>Code checks those bytes against the app’s constants.</a:t>
            </a:r>
            <a:endParaRPr lang="en-US" sz="2200" b="0" u="none" strike="noStrike">
              <a:solidFill>
                <a:srgbClr val="FFFFFF"/>
              </a:solidFill>
              <a:effectLst/>
              <a:uFillTx/>
              <a:latin typeface="Arial"/>
            </a:endParaRPr>
          </a:p>
          <a:p>
            <a:pPr algn="ctr" defTabSz="914400">
              <a:lnSpc>
                <a:spcPts val="2639"/>
              </a:lnSpc>
              <a:tabLst>
                <a:tab pos="0" algn="l"/>
              </a:tabLst>
            </a:pPr>
            <a:r>
              <a:rPr lang="en-US" sz="2200" b="0" u="none" strike="noStrike">
                <a:solidFill>
                  <a:srgbClr val="39FF9C"/>
                </a:solidFill>
                <a:effectLst/>
                <a:uFillTx/>
                <a:latin typeface="Space Grotesk"/>
                <a:ea typeface="Space Grotesk"/>
              </a:rPr>
              <a:t>Match: PROVEN.</a:t>
            </a:r>
            <a:endParaRPr lang="en-US" sz="2200" b="0" u="none" strike="noStrike">
              <a:solidFill>
                <a:srgbClr val="FFFFFF"/>
              </a:solidFill>
              <a:effectLst/>
              <a:uFillTx/>
              <a:latin typeface="Arial"/>
            </a:endParaRPr>
          </a:p>
        </p:txBody>
      </p:sp>
      <p:sp>
        <p:nvSpPr>
          <p:cNvPr id="425" name="Text 14"/>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26" name="Text 15"/>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27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7" name="Image 0" descr="Neon wave background"/>
          <p:cNvPicPr/>
          <p:nvPr/>
        </p:nvPicPr>
        <p:blipFill>
          <a:blip r:embed="rId1"/>
          <a:stretch/>
        </p:blipFill>
        <p:spPr>
          <a:xfrm>
            <a:off x="0" y="0"/>
            <a:ext cx="12191400" cy="6857280"/>
          </a:xfrm>
          <a:prstGeom prst="rect">
            <a:avLst/>
          </a:prstGeom>
          <a:noFill/>
          <a:ln w="0">
            <a:noFill/>
          </a:ln>
        </p:spPr>
      </p:pic>
      <p:sp>
        <p:nvSpPr>
          <p:cNvPr id="428"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29"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28 / 51</a:t>
            </a:r>
            <a:endParaRPr lang="en-US" sz="1200" b="0" u="none" strike="noStrike">
              <a:solidFill>
                <a:srgbClr val="FFFFFF"/>
              </a:solidFill>
              <a:effectLst/>
              <a:uFillTx/>
              <a:latin typeface="Arial"/>
            </a:endParaRPr>
          </a:p>
        </p:txBody>
      </p:sp>
      <p:sp>
        <p:nvSpPr>
          <p:cNvPr id="430"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git log --grep uncrackable</a:t>
            </a:r>
            <a:endParaRPr lang="en-US" sz="1300" b="0" u="none" strike="noStrike">
              <a:solidFill>
                <a:srgbClr val="FFFFFF"/>
              </a:solidFill>
              <a:effectLst/>
              <a:uFillTx/>
              <a:latin typeface="Arial"/>
            </a:endParaRPr>
          </a:p>
        </p:txBody>
      </p:sp>
      <p:sp>
        <p:nvSpPr>
          <p:cNvPr id="431"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Three bugs a real app found in my tool</a:t>
            </a:r>
            <a:endParaRPr lang="en-US" sz="3200" b="0" u="none" strike="noStrike">
              <a:solidFill>
                <a:srgbClr val="FFFFFF"/>
              </a:solidFill>
              <a:effectLst/>
              <a:uFillTx/>
              <a:latin typeface="Arial"/>
            </a:endParaRPr>
          </a:p>
        </p:txBody>
      </p:sp>
      <p:sp>
        <p:nvSpPr>
          <p:cNvPr id="432" name="TextBox 23"/>
          <p:cNvSpPr/>
          <p:nvPr/>
        </p:nvSpPr>
        <p:spPr>
          <a:xfrm>
            <a:off x="900000" y="1559880"/>
            <a:ext cx="10391400" cy="359280"/>
          </a:xfrm>
          <a:prstGeom prst="rect">
            <a:avLst/>
          </a:prstGeom>
          <a:noFill/>
          <a:ln w="0">
            <a:noFill/>
          </a:ln>
        </p:spPr>
        <p:style>
          <a:lnRef idx="0"/>
          <a:fillRef idx="0"/>
          <a:effectRef idx="0"/>
          <a:fontRef idx="minor"/>
        </p:style>
        <p:txBody>
          <a:bodyPr lIns="0" tIns="0" rIns="0" bIns="0" anchor="t">
            <a:spAutoFit/>
          </a:bodyPr>
          <a:p>
            <a:endParaRPr lang="en-US" sz="1800" b="0" u="none" strike="noStrike">
              <a:solidFill>
                <a:srgbClr val="FFFFFF"/>
              </a:solidFill>
              <a:effectLst/>
              <a:uFillTx/>
              <a:latin typeface="Arial"/>
            </a:endParaRPr>
          </a:p>
        </p:txBody>
      </p:sp>
      <p:sp>
        <p:nvSpPr>
          <p:cNvPr id="433" name="Rounded Rectangle 24"/>
          <p:cNvSpPr/>
          <p:nvPr/>
        </p:nvSpPr>
        <p:spPr>
          <a:xfrm>
            <a:off x="699840" y="2000160"/>
            <a:ext cx="3499200" cy="269928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200160" tIns="200160" rIns="200160" bIns="200160" anchor="t">
            <a:noAutofit/>
          </a:bodyPr>
          <a:p>
            <a:pPr defTabSz="914400">
              <a:lnSpc>
                <a:spcPct val="100000"/>
              </a:lnSpc>
            </a:pPr>
            <a:r>
              <a:rPr lang="en-US" sz="1200" b="1" u="none" strike="noStrike">
                <a:solidFill>
                  <a:srgbClr val="B07CFF"/>
                </a:solidFill>
                <a:effectLst/>
                <a:uFillTx/>
                <a:latin typeface="JetBrains Mono"/>
              </a:rPr>
              <a:t>javasrc.py</a:t>
            </a:r>
            <a:endParaRPr lang="en-US" sz="12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800" b="1" u="none" strike="noStrike">
                <a:solidFill>
                  <a:srgbClr val="F2FFFF"/>
                </a:solidFill>
                <a:effectLst/>
                <a:uFillTx/>
                <a:latin typeface="Space Grotesk"/>
              </a:rPr>
              <a:t>A method named like its class was parsed as a constructor</a:t>
            </a:r>
            <a:endParaRPr lang="en-US" sz="1800" b="0" u="none" strike="noStrike">
              <a:solidFill>
                <a:srgbClr val="FFFFFF"/>
              </a:solidFill>
              <a:effectLst/>
              <a:uFillTx/>
              <a:latin typeface="Arial"/>
            </a:endParaRPr>
          </a:p>
          <a:p>
            <a:pPr defTabSz="914400">
              <a:lnSpc>
                <a:spcPct val="100000"/>
              </a:lnSpc>
            </a:pPr>
            <a:endParaRPr lang="en-US" sz="800" b="0" u="none" strike="noStrike">
              <a:solidFill>
                <a:srgbClr val="FFFFFF"/>
              </a:solidFill>
              <a:effectLst/>
              <a:uFillTx/>
              <a:latin typeface="Arial"/>
            </a:endParaRPr>
          </a:p>
          <a:p>
            <a:pPr defTabSz="914400">
              <a:lnSpc>
                <a:spcPct val="100000"/>
              </a:lnSpc>
            </a:pPr>
            <a:r>
              <a:rPr lang="en-US" sz="1400" b="0" u="none" strike="noStrike">
                <a:solidFill>
                  <a:srgbClr val="6F82A8"/>
                </a:solidFill>
                <a:effectLst/>
                <a:uFillTx/>
                <a:latin typeface="Space Grotesk"/>
              </a:rPr>
              <a:t>sg.vantagepoint.a.a declares a static a(). Every hook pointed at the wrong target.</a:t>
            </a:r>
            <a:endParaRPr lang="en-US" sz="1400" b="0" u="none" strike="noStrike">
              <a:solidFill>
                <a:srgbClr val="FFFFFF"/>
              </a:solidFill>
              <a:effectLst/>
              <a:uFillTx/>
              <a:latin typeface="Arial"/>
            </a:endParaRPr>
          </a:p>
        </p:txBody>
      </p:sp>
      <p:sp>
        <p:nvSpPr>
          <p:cNvPr id="434" name="Rounded Rectangle 25"/>
          <p:cNvSpPr/>
          <p:nvPr/>
        </p:nvSpPr>
        <p:spPr>
          <a:xfrm>
            <a:off x="4500000" y="2000160"/>
            <a:ext cx="3499200" cy="269928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200160" tIns="200160" rIns="200160" bIns="200160" anchor="t">
            <a:noAutofit/>
          </a:bodyPr>
          <a:p>
            <a:pPr defTabSz="914400">
              <a:lnSpc>
                <a:spcPct val="100000"/>
              </a:lnSpc>
            </a:pPr>
            <a:r>
              <a:rPr lang="en-US" sz="1200" b="1" u="none" strike="noStrike">
                <a:solidFill>
                  <a:srgbClr val="B07CFF"/>
                </a:solidFill>
                <a:effectLst/>
                <a:uFillTx/>
                <a:latin typeface="JetBrains Mono"/>
              </a:rPr>
              <a:t>decompile.py</a:t>
            </a:r>
            <a:endParaRPr lang="en-US" sz="12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800" b="1" u="none" strike="noStrike">
                <a:solidFill>
                  <a:srgbClr val="F2FFFF"/>
                </a:solidFill>
                <a:effectLst/>
                <a:uFillTx/>
                <a:latin typeface="Space Grotesk"/>
              </a:rPr>
              <a:t>The obfuscation gate refused an unambiguous method</a:t>
            </a:r>
            <a:endParaRPr lang="en-US" sz="1800" b="0" u="none" strike="noStrike">
              <a:solidFill>
                <a:srgbClr val="FFFFFF"/>
              </a:solidFill>
              <a:effectLst/>
              <a:uFillTx/>
              <a:latin typeface="Arial"/>
            </a:endParaRPr>
          </a:p>
          <a:p>
            <a:pPr defTabSz="914400">
              <a:lnSpc>
                <a:spcPct val="100000"/>
              </a:lnSpc>
            </a:pPr>
            <a:endParaRPr lang="en-US" sz="800" b="0" u="none" strike="noStrike">
              <a:solidFill>
                <a:srgbClr val="FFFFFF"/>
              </a:solidFill>
              <a:effectLst/>
              <a:uFillTx/>
              <a:latin typeface="Arial"/>
            </a:endParaRPr>
          </a:p>
          <a:p>
            <a:pPr defTabSz="914400">
              <a:lnSpc>
                <a:spcPct val="100000"/>
              </a:lnSpc>
            </a:pPr>
            <a:r>
              <a:rPr lang="en-US" sz="1400" b="0" u="none" strike="noStrike">
                <a:solidFill>
                  <a:srgbClr val="6F82A8"/>
                </a:solidFill>
                <a:effectLst/>
                <a:uFillTx/>
                <a:latin typeface="Space Grotesk"/>
              </a:rPr>
              <a:t>Single letter names scored as obfuscated. Now it only applies when the method had to be guessed.</a:t>
            </a:r>
            <a:endParaRPr lang="en-US" sz="1400" b="0" u="none" strike="noStrike">
              <a:solidFill>
                <a:srgbClr val="FFFFFF"/>
              </a:solidFill>
              <a:effectLst/>
              <a:uFillTx/>
              <a:latin typeface="Arial"/>
            </a:endParaRPr>
          </a:p>
        </p:txBody>
      </p:sp>
      <p:sp>
        <p:nvSpPr>
          <p:cNvPr id="435" name="Rounded Rectangle 26"/>
          <p:cNvSpPr/>
          <p:nvPr/>
        </p:nvSpPr>
        <p:spPr>
          <a:xfrm>
            <a:off x="8300160" y="2000160"/>
            <a:ext cx="3499200" cy="269928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200160" tIns="200160" rIns="200160" bIns="200160" anchor="t">
            <a:noAutofit/>
          </a:bodyPr>
          <a:p>
            <a:pPr defTabSz="914400">
              <a:lnSpc>
                <a:spcPct val="100000"/>
              </a:lnSpc>
            </a:pPr>
            <a:r>
              <a:rPr lang="en-US" sz="1200" b="1" u="none" strike="noStrike">
                <a:solidFill>
                  <a:srgbClr val="B07CFF"/>
                </a:solidFill>
                <a:effectLst/>
                <a:uFillTx/>
                <a:latin typeface="JetBrains Mono"/>
              </a:rPr>
              <a:t>signals.py</a:t>
            </a:r>
            <a:endParaRPr lang="en-US" sz="12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800" b="1" u="none" strike="noStrike">
                <a:solidFill>
                  <a:srgbClr val="F2FFFF"/>
                </a:solidFill>
                <a:effectLst/>
                <a:uFillTx/>
                <a:latin typeface="Space Grotesk"/>
              </a:rPr>
              <a:t>The real key lived in the caller, not the hooked class</a:t>
            </a:r>
            <a:endParaRPr lang="en-US" sz="1800" b="0" u="none" strike="noStrike">
              <a:solidFill>
                <a:srgbClr val="FFFFFF"/>
              </a:solidFill>
              <a:effectLst/>
              <a:uFillTx/>
              <a:latin typeface="Arial"/>
            </a:endParaRPr>
          </a:p>
          <a:p>
            <a:pPr defTabSz="914400">
              <a:lnSpc>
                <a:spcPct val="100000"/>
              </a:lnSpc>
            </a:pPr>
            <a:endParaRPr lang="en-US" sz="800" b="0" u="none" strike="noStrike">
              <a:solidFill>
                <a:srgbClr val="FFFFFF"/>
              </a:solidFill>
              <a:effectLst/>
              <a:uFillTx/>
              <a:latin typeface="Arial"/>
            </a:endParaRPr>
          </a:p>
          <a:p>
            <a:pPr defTabSz="914400">
              <a:lnSpc>
                <a:spcPct val="100000"/>
              </a:lnSpc>
            </a:pPr>
            <a:r>
              <a:rPr lang="en-US" sz="1400" b="0" u="none" strike="noStrike">
                <a:solidFill>
                  <a:srgbClr val="6F82A8"/>
                </a:solidFill>
                <a:effectLst/>
                <a:uFillTx/>
                <a:latin typeface="Space Grotesk"/>
              </a:rPr>
              <a:t>The match only searched one class. Now it falls back to the whole decompiled tree.</a:t>
            </a:r>
            <a:endParaRPr lang="en-US" sz="1400" b="0" u="none" strike="noStrike">
              <a:solidFill>
                <a:srgbClr val="FFFFFF"/>
              </a:solidFill>
              <a:effectLst/>
              <a:uFillTx/>
              <a:latin typeface="Arial"/>
            </a:endParaRPr>
          </a:p>
        </p:txBody>
      </p:sp>
      <p:sp>
        <p:nvSpPr>
          <p:cNvPr id="436" name="TextBox 27"/>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7" name="Image 0" descr="Neon wave background"/>
          <p:cNvPicPr/>
          <p:nvPr/>
        </p:nvPicPr>
        <p:blipFill>
          <a:blip r:embed="rId1"/>
          <a:stretch/>
        </p:blipFill>
        <p:spPr>
          <a:xfrm>
            <a:off x="0" y="0"/>
            <a:ext cx="12191400" cy="6857280"/>
          </a:xfrm>
          <a:prstGeom prst="rect">
            <a:avLst/>
          </a:prstGeom>
          <a:noFill/>
          <a:ln w="0">
            <a:noFill/>
          </a:ln>
        </p:spPr>
      </p:pic>
      <p:sp>
        <p:nvSpPr>
          <p:cNvPr id="438" name="Text 0"/>
          <p:cNvSpPr/>
          <p:nvPr/>
        </p:nvSpPr>
        <p:spPr>
          <a:xfrm>
            <a:off x="3924000" y="812880"/>
            <a:ext cx="4343040" cy="210240"/>
          </a:xfrm>
          <a:prstGeom prst="rect">
            <a:avLst/>
          </a:prstGeom>
          <a:noFill/>
          <a:ln w="0">
            <a:noFill/>
          </a:ln>
        </p:spPr>
        <p:style>
          <a:lnRef idx="0"/>
          <a:fillRef idx="0"/>
          <a:effectRef idx="0"/>
          <a:fontRef idx="minor"/>
        </p:style>
        <p:txBody>
          <a:bodyPr lIns="0" tIns="0" rIns="0" bIns="0" anchor="t">
            <a:normAutofit/>
          </a:bodyPr>
          <a:p>
            <a:pPr algn="ctr" defTabSz="914400">
              <a:lnSpc>
                <a:spcPts val="1474"/>
              </a:lnSpc>
              <a:tabLst>
                <a:tab pos="0" algn="l"/>
              </a:tabLst>
            </a:pPr>
            <a:r>
              <a:rPr lang="en-US" sz="1050" b="0" u="none" spc="99" strike="noStrike">
                <a:solidFill>
                  <a:srgbClr val="39FF9C"/>
                </a:solidFill>
                <a:effectLst/>
                <a:uFillTx/>
                <a:latin typeface="JetBrains Mono"/>
                <a:ea typeface="JetBrains Mono"/>
              </a:rPr>
              <a:t>$ frida -U -f com.target.app -l hook.js</a:t>
            </a:r>
            <a:endParaRPr lang="en-US" sz="1050" b="0" u="none" strike="noStrike">
              <a:solidFill>
                <a:srgbClr val="FFFFFF"/>
              </a:solidFill>
              <a:effectLst/>
              <a:uFillTx/>
              <a:latin typeface="Arial"/>
            </a:endParaRPr>
          </a:p>
        </p:txBody>
      </p:sp>
      <p:sp>
        <p:nvSpPr>
          <p:cNvPr id="439" name="PlaceHolder 1"/>
          <p:cNvSpPr>
            <a:spLocks noGrp="1"/>
          </p:cNvSpPr>
          <p:nvPr>
            <p:ph type="title"/>
          </p:nvPr>
        </p:nvSpPr>
        <p:spPr>
          <a:xfrm>
            <a:off x="3006720" y="1176120"/>
            <a:ext cx="6177960" cy="422640"/>
          </a:xfrm>
          <a:prstGeom prst="rect">
            <a:avLst/>
          </a:prstGeom>
          <a:noFill/>
          <a:ln w="0">
            <a:noFill/>
          </a:ln>
        </p:spPr>
        <p:txBody>
          <a:bodyPr lIns="0" tIns="0" rIns="0" bIns="0" anchor="t">
            <a:normAutofit/>
          </a:bodyPr>
          <a:p>
            <a:pPr indent="0" algn="ctr" defTabSz="914400">
              <a:lnSpc>
                <a:spcPts val="3166"/>
              </a:lnSpc>
              <a:buNone/>
              <a:tabLst>
                <a:tab pos="0" algn="l"/>
              </a:tabLst>
            </a:pPr>
            <a:r>
              <a:rPr lang="en-US" sz="2880" b="1" u="none" spc="-51" strike="noStrike">
                <a:solidFill>
                  <a:srgbClr val="F2FFFF"/>
                </a:solidFill>
                <a:effectLst/>
                <a:uFillTx/>
                <a:latin typeface="Space Grotesk"/>
                <a:ea typeface="Space Grotesk"/>
              </a:rPr>
              <a:t>Spawn, hook, exercise, collect</a:t>
            </a:r>
            <a:endParaRPr lang="en-US" sz="2880" b="0" u="none" strike="noStrike">
              <a:solidFill>
                <a:schemeClr val="lt1"/>
              </a:solidFill>
              <a:effectLst/>
              <a:uFillTx/>
              <a:latin typeface="JetBrains Mono"/>
            </a:endParaRPr>
          </a:p>
        </p:txBody>
      </p:sp>
      <p:sp>
        <p:nvSpPr>
          <p:cNvPr id="440" name="Text 2"/>
          <p:cNvSpPr/>
          <p:nvPr/>
        </p:nvSpPr>
        <p:spPr>
          <a:xfrm>
            <a:off x="819000" y="2874960"/>
            <a:ext cx="1623240" cy="417240"/>
          </a:xfrm>
          <a:prstGeom prst="roundRect">
            <a:avLst>
              <a:gd name="adj" fmla="val 22785"/>
            </a:avLst>
          </a:prstGeom>
          <a:solidFill>
            <a:srgbClr val="05070F"/>
          </a:solidFill>
          <a:ln w="12700">
            <a:solidFill>
              <a:srgbClr val="00F0FF"/>
            </a:solidFill>
            <a:round/>
          </a:ln>
          <a:effectLst>
            <a:outerShdw algn="bl" blurRad="114480" dir="0" dist="0" kx="0" ky="0" rotWithShape="0" sx="100000" sy="100000">
              <a:srgbClr val="00F0FF">
                <a:alpha val="30000"/>
              </a:srgbClr>
            </a:outerShdw>
          </a:effectLst>
        </p:spPr>
        <p:style>
          <a:lnRef idx="0"/>
          <a:fillRef idx="0"/>
          <a:effectRef idx="0"/>
          <a:fontRef idx="minor"/>
        </p:style>
        <p:txBody>
          <a:bodyPr lIns="36360" tIns="74520" rIns="36360" bIns="48960" anchor="t">
            <a:normAutofit/>
          </a:bodyPr>
          <a:p>
            <a:pPr algn="ctr" defTabSz="914400">
              <a:lnSpc>
                <a:spcPts val="1681"/>
              </a:lnSpc>
              <a:tabLst>
                <a:tab pos="0" algn="l"/>
              </a:tabLst>
            </a:pPr>
            <a:r>
              <a:rPr lang="en-US" sz="1200" b="0" u="none" strike="noStrike">
                <a:solidFill>
                  <a:srgbClr val="39FF9C"/>
                </a:solidFill>
                <a:effectLst/>
                <a:uFillTx/>
                <a:latin typeface="JetBrains Mono"/>
                <a:ea typeface="JetBrains Mono"/>
              </a:rPr>
              <a:t>01</a:t>
            </a:r>
            <a:r>
              <a:rPr lang="en-US" sz="1200" b="0" u="none" strike="noStrike">
                <a:solidFill>
                  <a:srgbClr val="E8F7FF"/>
                </a:solidFill>
                <a:effectLst/>
                <a:uFillTx/>
                <a:latin typeface="JetBrains Mono"/>
                <a:ea typeface="JetBrains Mono"/>
              </a:rPr>
              <a:t> Spawn</a:t>
            </a:r>
            <a:endParaRPr lang="en-US" sz="1200" b="0" u="none" strike="noStrike">
              <a:solidFill>
                <a:srgbClr val="FFFFFF"/>
              </a:solidFill>
              <a:effectLst/>
              <a:uFillTx/>
              <a:latin typeface="Arial"/>
            </a:endParaRPr>
          </a:p>
        </p:txBody>
      </p:sp>
      <p:sp>
        <p:nvSpPr>
          <p:cNvPr id="441" name="Text 3"/>
          <p:cNvSpPr/>
          <p:nvPr/>
        </p:nvSpPr>
        <p:spPr>
          <a:xfrm>
            <a:off x="2487240" y="2950560"/>
            <a:ext cx="137880" cy="291240"/>
          </a:xfrm>
          <a:prstGeom prst="rect">
            <a:avLst/>
          </a:prstGeom>
          <a:noFill/>
          <a:ln w="0">
            <a:noFill/>
          </a:ln>
        </p:spPr>
        <p:style>
          <a:lnRef idx="0"/>
          <a:fillRef idx="0"/>
          <a:effectRef idx="0"/>
          <a:fontRef idx="minor"/>
        </p:style>
        <p:txBody>
          <a:bodyPr lIns="0" tIns="0" rIns="0" bIns="0" anchor="t">
            <a:normAutofit/>
          </a:bodyPr>
          <a:p>
            <a:pPr algn="ctr" defTabSz="914400">
              <a:lnSpc>
                <a:spcPts val="2100"/>
              </a:lnSpc>
              <a:tabLst>
                <a:tab pos="0" algn="l"/>
              </a:tabLst>
            </a:pPr>
            <a:r>
              <a:rPr lang="en-US" sz="1500" b="0" u="none" strike="noStrike">
                <a:solidFill>
                  <a:srgbClr val="6F82A8"/>
                </a:solidFill>
                <a:effectLst/>
                <a:uFillTx/>
                <a:latin typeface="Space Grotesk"/>
                <a:ea typeface="Space Grotesk"/>
              </a:rPr>
              <a:t>›</a:t>
            </a:r>
            <a:endParaRPr lang="en-US" sz="1500" b="0" u="none" strike="noStrike">
              <a:solidFill>
                <a:srgbClr val="FFFFFF"/>
              </a:solidFill>
              <a:effectLst/>
              <a:uFillTx/>
              <a:latin typeface="Arial"/>
            </a:endParaRPr>
          </a:p>
        </p:txBody>
      </p:sp>
      <p:sp>
        <p:nvSpPr>
          <p:cNvPr id="442" name="Text 4"/>
          <p:cNvSpPr/>
          <p:nvPr/>
        </p:nvSpPr>
        <p:spPr>
          <a:xfrm>
            <a:off x="2670480" y="2874960"/>
            <a:ext cx="1623240" cy="417240"/>
          </a:xfrm>
          <a:prstGeom prst="roundRect">
            <a:avLst>
              <a:gd name="adj" fmla="val 22785"/>
            </a:avLst>
          </a:prstGeom>
          <a:solidFill>
            <a:srgbClr val="05070F"/>
          </a:solidFill>
          <a:ln w="12700">
            <a:solidFill>
              <a:srgbClr val="00F0FF"/>
            </a:solidFill>
            <a:round/>
          </a:ln>
          <a:effectLst>
            <a:outerShdw algn="bl" blurRad="114480" dir="0" dist="0" kx="0" ky="0" rotWithShape="0" sx="100000" sy="100000">
              <a:srgbClr val="00F0FF">
                <a:alpha val="30000"/>
              </a:srgbClr>
            </a:outerShdw>
          </a:effectLst>
        </p:spPr>
        <p:style>
          <a:lnRef idx="0"/>
          <a:fillRef idx="0"/>
          <a:effectRef idx="0"/>
          <a:fontRef idx="minor"/>
        </p:style>
        <p:txBody>
          <a:bodyPr lIns="36360" tIns="74520" rIns="36360" bIns="48960" anchor="t">
            <a:normAutofit/>
          </a:bodyPr>
          <a:p>
            <a:pPr algn="ctr" defTabSz="914400">
              <a:lnSpc>
                <a:spcPts val="1681"/>
              </a:lnSpc>
              <a:tabLst>
                <a:tab pos="0" algn="l"/>
              </a:tabLst>
            </a:pPr>
            <a:r>
              <a:rPr lang="en-US" sz="1200" b="0" u="none" strike="noStrike">
                <a:solidFill>
                  <a:srgbClr val="39FF9C"/>
                </a:solidFill>
                <a:effectLst/>
                <a:uFillTx/>
                <a:latin typeface="JetBrains Mono"/>
                <a:ea typeface="JetBrains Mono"/>
              </a:rPr>
              <a:t>02</a:t>
            </a:r>
            <a:r>
              <a:rPr lang="en-US" sz="1200" b="0" u="none" strike="noStrike">
                <a:solidFill>
                  <a:srgbClr val="E8F7FF"/>
                </a:solidFill>
                <a:effectLst/>
                <a:uFillTx/>
                <a:latin typeface="JetBrains Mono"/>
                <a:ea typeface="JetBrains Mono"/>
              </a:rPr>
              <a:t> Attach</a:t>
            </a:r>
            <a:endParaRPr lang="en-US" sz="1200" b="0" u="none" strike="noStrike">
              <a:solidFill>
                <a:srgbClr val="FFFFFF"/>
              </a:solidFill>
              <a:effectLst/>
              <a:uFillTx/>
              <a:latin typeface="Arial"/>
            </a:endParaRPr>
          </a:p>
        </p:txBody>
      </p:sp>
      <p:sp>
        <p:nvSpPr>
          <p:cNvPr id="443" name="Text 5"/>
          <p:cNvSpPr/>
          <p:nvPr/>
        </p:nvSpPr>
        <p:spPr>
          <a:xfrm>
            <a:off x="4339080" y="2950560"/>
            <a:ext cx="137880" cy="291240"/>
          </a:xfrm>
          <a:prstGeom prst="rect">
            <a:avLst/>
          </a:prstGeom>
          <a:noFill/>
          <a:ln w="0">
            <a:noFill/>
          </a:ln>
        </p:spPr>
        <p:style>
          <a:lnRef idx="0"/>
          <a:fillRef idx="0"/>
          <a:effectRef idx="0"/>
          <a:fontRef idx="minor"/>
        </p:style>
        <p:txBody>
          <a:bodyPr lIns="0" tIns="0" rIns="0" bIns="0" anchor="t">
            <a:normAutofit/>
          </a:bodyPr>
          <a:p>
            <a:pPr algn="ctr" defTabSz="914400">
              <a:lnSpc>
                <a:spcPts val="2100"/>
              </a:lnSpc>
              <a:tabLst>
                <a:tab pos="0" algn="l"/>
              </a:tabLst>
            </a:pPr>
            <a:r>
              <a:rPr lang="en-US" sz="1500" b="0" u="none" strike="noStrike">
                <a:solidFill>
                  <a:srgbClr val="6F82A8"/>
                </a:solidFill>
                <a:effectLst/>
                <a:uFillTx/>
                <a:latin typeface="Space Grotesk"/>
                <a:ea typeface="Space Grotesk"/>
              </a:rPr>
              <a:t>›</a:t>
            </a:r>
            <a:endParaRPr lang="en-US" sz="1500" b="0" u="none" strike="noStrike">
              <a:solidFill>
                <a:srgbClr val="FFFFFF"/>
              </a:solidFill>
              <a:effectLst/>
              <a:uFillTx/>
              <a:latin typeface="Arial"/>
            </a:endParaRPr>
          </a:p>
        </p:txBody>
      </p:sp>
      <p:sp>
        <p:nvSpPr>
          <p:cNvPr id="444" name="Text 6"/>
          <p:cNvSpPr/>
          <p:nvPr/>
        </p:nvSpPr>
        <p:spPr>
          <a:xfrm>
            <a:off x="4522320" y="2874960"/>
            <a:ext cx="1623240" cy="417240"/>
          </a:xfrm>
          <a:prstGeom prst="roundRect">
            <a:avLst>
              <a:gd name="adj" fmla="val 22785"/>
            </a:avLst>
          </a:prstGeom>
          <a:solidFill>
            <a:srgbClr val="05070F"/>
          </a:solidFill>
          <a:ln w="12700">
            <a:solidFill>
              <a:srgbClr val="00F0FF"/>
            </a:solidFill>
            <a:round/>
          </a:ln>
          <a:effectLst>
            <a:outerShdw algn="bl" blurRad="114480" dir="0" dist="0" kx="0" ky="0" rotWithShape="0" sx="100000" sy="100000">
              <a:srgbClr val="00F0FF">
                <a:alpha val="30000"/>
              </a:srgbClr>
            </a:outerShdw>
          </a:effectLst>
        </p:spPr>
        <p:style>
          <a:lnRef idx="0"/>
          <a:fillRef idx="0"/>
          <a:effectRef idx="0"/>
          <a:fontRef idx="minor"/>
        </p:style>
        <p:txBody>
          <a:bodyPr lIns="36360" tIns="74520" rIns="36360" bIns="48960" anchor="t">
            <a:normAutofit/>
          </a:bodyPr>
          <a:p>
            <a:pPr algn="ctr" defTabSz="914400">
              <a:lnSpc>
                <a:spcPts val="1681"/>
              </a:lnSpc>
              <a:tabLst>
                <a:tab pos="0" algn="l"/>
              </a:tabLst>
            </a:pPr>
            <a:r>
              <a:rPr lang="en-US" sz="1200" b="0" u="none" strike="noStrike">
                <a:solidFill>
                  <a:srgbClr val="39FF9C"/>
                </a:solidFill>
                <a:effectLst/>
                <a:uFillTx/>
                <a:latin typeface="JetBrains Mono"/>
                <a:ea typeface="JetBrains Mono"/>
              </a:rPr>
              <a:t>03</a:t>
            </a:r>
            <a:r>
              <a:rPr lang="en-US" sz="1200" b="0" u="none" strike="noStrike">
                <a:solidFill>
                  <a:srgbClr val="E8F7FF"/>
                </a:solidFill>
                <a:effectLst/>
                <a:uFillTx/>
                <a:latin typeface="JetBrains Mono"/>
                <a:ea typeface="JetBrains Mono"/>
              </a:rPr>
              <a:t> Resume</a:t>
            </a:r>
            <a:endParaRPr lang="en-US" sz="1200" b="0" u="none" strike="noStrike">
              <a:solidFill>
                <a:srgbClr val="FFFFFF"/>
              </a:solidFill>
              <a:effectLst/>
              <a:uFillTx/>
              <a:latin typeface="Arial"/>
            </a:endParaRPr>
          </a:p>
        </p:txBody>
      </p:sp>
      <p:sp>
        <p:nvSpPr>
          <p:cNvPr id="445" name="Text 7"/>
          <p:cNvSpPr/>
          <p:nvPr/>
        </p:nvSpPr>
        <p:spPr>
          <a:xfrm>
            <a:off x="6190560" y="2950560"/>
            <a:ext cx="137880" cy="291240"/>
          </a:xfrm>
          <a:prstGeom prst="rect">
            <a:avLst/>
          </a:prstGeom>
          <a:noFill/>
          <a:ln w="0">
            <a:noFill/>
          </a:ln>
        </p:spPr>
        <p:style>
          <a:lnRef idx="0"/>
          <a:fillRef idx="0"/>
          <a:effectRef idx="0"/>
          <a:fontRef idx="minor"/>
        </p:style>
        <p:txBody>
          <a:bodyPr lIns="0" tIns="0" rIns="0" bIns="0" anchor="t">
            <a:normAutofit/>
          </a:bodyPr>
          <a:p>
            <a:pPr algn="ctr" defTabSz="914400">
              <a:lnSpc>
                <a:spcPts val="2100"/>
              </a:lnSpc>
              <a:tabLst>
                <a:tab pos="0" algn="l"/>
              </a:tabLst>
            </a:pPr>
            <a:r>
              <a:rPr lang="en-US" sz="1500" b="0" u="none" strike="noStrike">
                <a:solidFill>
                  <a:srgbClr val="6F82A8"/>
                </a:solidFill>
                <a:effectLst/>
                <a:uFillTx/>
                <a:latin typeface="Space Grotesk"/>
                <a:ea typeface="Space Grotesk"/>
              </a:rPr>
              <a:t>›</a:t>
            </a:r>
            <a:endParaRPr lang="en-US" sz="1500" b="0" u="none" strike="noStrike">
              <a:solidFill>
                <a:srgbClr val="FFFFFF"/>
              </a:solidFill>
              <a:effectLst/>
              <a:uFillTx/>
              <a:latin typeface="Arial"/>
            </a:endParaRPr>
          </a:p>
        </p:txBody>
      </p:sp>
      <p:sp>
        <p:nvSpPr>
          <p:cNvPr id="446" name="Text 8"/>
          <p:cNvSpPr/>
          <p:nvPr/>
        </p:nvSpPr>
        <p:spPr>
          <a:xfrm>
            <a:off x="6373440" y="2874960"/>
            <a:ext cx="1623240" cy="417240"/>
          </a:xfrm>
          <a:prstGeom prst="roundRect">
            <a:avLst>
              <a:gd name="adj" fmla="val 22785"/>
            </a:avLst>
          </a:prstGeom>
          <a:solidFill>
            <a:srgbClr val="05070F"/>
          </a:solidFill>
          <a:ln w="12700">
            <a:solidFill>
              <a:srgbClr val="00F0FF"/>
            </a:solidFill>
            <a:round/>
          </a:ln>
          <a:effectLst>
            <a:outerShdw algn="bl" blurRad="114480" dir="0" dist="0" kx="0" ky="0" rotWithShape="0" sx="100000" sy="100000">
              <a:srgbClr val="00F0FF">
                <a:alpha val="30000"/>
              </a:srgbClr>
            </a:outerShdw>
          </a:effectLst>
        </p:spPr>
        <p:style>
          <a:lnRef idx="0"/>
          <a:fillRef idx="0"/>
          <a:effectRef idx="0"/>
          <a:fontRef idx="minor"/>
        </p:style>
        <p:txBody>
          <a:bodyPr lIns="36360" tIns="74520" rIns="36360" bIns="48960" anchor="t">
            <a:normAutofit/>
          </a:bodyPr>
          <a:p>
            <a:pPr algn="ctr" defTabSz="914400">
              <a:lnSpc>
                <a:spcPts val="1681"/>
              </a:lnSpc>
              <a:tabLst>
                <a:tab pos="0" algn="l"/>
              </a:tabLst>
            </a:pPr>
            <a:r>
              <a:rPr lang="en-US" sz="1200" b="0" u="none" strike="noStrike">
                <a:solidFill>
                  <a:srgbClr val="39FF9C"/>
                </a:solidFill>
                <a:effectLst/>
                <a:uFillTx/>
                <a:latin typeface="JetBrains Mono"/>
                <a:ea typeface="JetBrains Mono"/>
              </a:rPr>
              <a:t>04</a:t>
            </a:r>
            <a:r>
              <a:rPr lang="en-US" sz="1200" b="0" u="none" strike="noStrike">
                <a:solidFill>
                  <a:srgbClr val="E8F7FF"/>
                </a:solidFill>
                <a:effectLst/>
                <a:uFillTx/>
                <a:latin typeface="JetBrains Mono"/>
                <a:ea typeface="JetBrains Mono"/>
              </a:rPr>
              <a:t> Exercise</a:t>
            </a:r>
            <a:endParaRPr lang="en-US" sz="1200" b="0" u="none" strike="noStrike">
              <a:solidFill>
                <a:srgbClr val="FFFFFF"/>
              </a:solidFill>
              <a:effectLst/>
              <a:uFillTx/>
              <a:latin typeface="Arial"/>
            </a:endParaRPr>
          </a:p>
        </p:txBody>
      </p:sp>
      <p:sp>
        <p:nvSpPr>
          <p:cNvPr id="447" name="Text 9"/>
          <p:cNvSpPr/>
          <p:nvPr/>
        </p:nvSpPr>
        <p:spPr>
          <a:xfrm>
            <a:off x="8041680" y="2950560"/>
            <a:ext cx="137880" cy="291240"/>
          </a:xfrm>
          <a:prstGeom prst="rect">
            <a:avLst/>
          </a:prstGeom>
          <a:noFill/>
          <a:ln w="0">
            <a:noFill/>
          </a:ln>
        </p:spPr>
        <p:style>
          <a:lnRef idx="0"/>
          <a:fillRef idx="0"/>
          <a:effectRef idx="0"/>
          <a:fontRef idx="minor"/>
        </p:style>
        <p:txBody>
          <a:bodyPr lIns="0" tIns="0" rIns="0" bIns="0" anchor="t">
            <a:normAutofit/>
          </a:bodyPr>
          <a:p>
            <a:pPr algn="ctr" defTabSz="914400">
              <a:lnSpc>
                <a:spcPts val="2100"/>
              </a:lnSpc>
              <a:tabLst>
                <a:tab pos="0" algn="l"/>
              </a:tabLst>
            </a:pPr>
            <a:r>
              <a:rPr lang="en-US" sz="1500" b="0" u="none" strike="noStrike">
                <a:solidFill>
                  <a:srgbClr val="6F82A8"/>
                </a:solidFill>
                <a:effectLst/>
                <a:uFillTx/>
                <a:latin typeface="Space Grotesk"/>
                <a:ea typeface="Space Grotesk"/>
              </a:rPr>
              <a:t>›</a:t>
            </a:r>
            <a:endParaRPr lang="en-US" sz="1500" b="0" u="none" strike="noStrike">
              <a:solidFill>
                <a:srgbClr val="FFFFFF"/>
              </a:solidFill>
              <a:effectLst/>
              <a:uFillTx/>
              <a:latin typeface="Arial"/>
            </a:endParaRPr>
          </a:p>
        </p:txBody>
      </p:sp>
      <p:sp>
        <p:nvSpPr>
          <p:cNvPr id="448" name="Text 10"/>
          <p:cNvSpPr/>
          <p:nvPr/>
        </p:nvSpPr>
        <p:spPr>
          <a:xfrm>
            <a:off x="8224920" y="2874960"/>
            <a:ext cx="1623240" cy="417240"/>
          </a:xfrm>
          <a:prstGeom prst="roundRect">
            <a:avLst>
              <a:gd name="adj" fmla="val 22785"/>
            </a:avLst>
          </a:prstGeom>
          <a:solidFill>
            <a:srgbClr val="05070F"/>
          </a:solidFill>
          <a:ln w="12700">
            <a:solidFill>
              <a:srgbClr val="00F0FF"/>
            </a:solidFill>
            <a:round/>
          </a:ln>
          <a:effectLst>
            <a:outerShdw algn="bl" blurRad="114480" dir="0" dist="0" kx="0" ky="0" rotWithShape="0" sx="100000" sy="100000">
              <a:srgbClr val="00F0FF">
                <a:alpha val="30000"/>
              </a:srgbClr>
            </a:outerShdw>
          </a:effectLst>
        </p:spPr>
        <p:style>
          <a:lnRef idx="0"/>
          <a:fillRef idx="0"/>
          <a:effectRef idx="0"/>
          <a:fontRef idx="minor"/>
        </p:style>
        <p:txBody>
          <a:bodyPr lIns="36360" tIns="74520" rIns="36360" bIns="48960" anchor="t">
            <a:normAutofit/>
          </a:bodyPr>
          <a:p>
            <a:pPr algn="ctr" defTabSz="914400">
              <a:lnSpc>
                <a:spcPts val="1681"/>
              </a:lnSpc>
              <a:tabLst>
                <a:tab pos="0" algn="l"/>
              </a:tabLst>
            </a:pPr>
            <a:r>
              <a:rPr lang="en-US" sz="1200" b="0" u="none" strike="noStrike">
                <a:solidFill>
                  <a:srgbClr val="39FF9C"/>
                </a:solidFill>
                <a:effectLst/>
                <a:uFillTx/>
                <a:latin typeface="JetBrains Mono"/>
                <a:ea typeface="JetBrains Mono"/>
              </a:rPr>
              <a:t>05</a:t>
            </a:r>
            <a:r>
              <a:rPr lang="en-US" sz="1200" b="0" u="none" strike="noStrike">
                <a:solidFill>
                  <a:srgbClr val="E8F7FF"/>
                </a:solidFill>
                <a:effectLst/>
                <a:uFillTx/>
                <a:latin typeface="JetBrains Mono"/>
                <a:ea typeface="JetBrains Mono"/>
              </a:rPr>
              <a:t> Collect</a:t>
            </a:r>
            <a:endParaRPr lang="en-US" sz="1200" b="0" u="none" strike="noStrike">
              <a:solidFill>
                <a:srgbClr val="FFFFFF"/>
              </a:solidFill>
              <a:effectLst/>
              <a:uFillTx/>
              <a:latin typeface="Arial"/>
            </a:endParaRPr>
          </a:p>
        </p:txBody>
      </p:sp>
      <p:sp>
        <p:nvSpPr>
          <p:cNvPr id="449" name="Text 11"/>
          <p:cNvSpPr/>
          <p:nvPr/>
        </p:nvSpPr>
        <p:spPr>
          <a:xfrm>
            <a:off x="812880" y="3362760"/>
            <a:ext cx="9312840" cy="239400"/>
          </a:xfrm>
          <a:prstGeom prst="rect">
            <a:avLst/>
          </a:prstGeom>
          <a:noFill/>
          <a:ln w="0">
            <a:noFill/>
          </a:ln>
        </p:spPr>
        <p:style>
          <a:lnRef idx="0"/>
          <a:fillRef idx="0"/>
          <a:effectRef idx="0"/>
          <a:fontRef idx="minor"/>
        </p:style>
        <p:txBody>
          <a:bodyPr lIns="0" tIns="0" rIns="0" bIns="0" anchor="t">
            <a:normAutofit/>
          </a:bodyPr>
          <a:p>
            <a:pPr defTabSz="914400">
              <a:lnSpc>
                <a:spcPts val="1689"/>
              </a:lnSpc>
              <a:tabLst>
                <a:tab pos="0" algn="l"/>
              </a:tabLst>
            </a:pPr>
            <a:r>
              <a:rPr lang="en-US" sz="1300" b="0" u="none" strike="noStrike">
                <a:solidFill>
                  <a:srgbClr val="C9D1F5"/>
                </a:solidFill>
                <a:effectLst/>
                <a:uFillTx/>
                <a:latin typeface="Space Grotesk"/>
                <a:ea typeface="Space Grotesk"/>
              </a:rPr>
              <a:t>Spawn, </a:t>
            </a:r>
            <a:r>
              <a:rPr lang="en-US" sz="1300" b="0" u="none" strike="noStrike">
                <a:solidFill>
                  <a:srgbClr val="FF2BD6"/>
                </a:solidFill>
                <a:effectLst/>
                <a:uFillTx/>
                <a:latin typeface="Space Grotesk"/>
                <a:ea typeface="Space Grotesk"/>
              </a:rPr>
              <a:t>don't attach</a:t>
            </a:r>
            <a:r>
              <a:rPr lang="en-US" sz="1300" b="0" u="none" strike="noStrike">
                <a:solidFill>
                  <a:srgbClr val="C9D1F5"/>
                </a:solidFill>
                <a:effectLst/>
                <a:uFillTx/>
                <a:latin typeface="Space Grotesk"/>
                <a:ea typeface="Space Grotesk"/>
              </a:rPr>
              <a:t>: the code that matters runs in onCreate.</a:t>
            </a:r>
            <a:endParaRPr lang="en-US" sz="1300" b="0" u="none" strike="noStrike">
              <a:solidFill>
                <a:srgbClr val="FFFFFF"/>
              </a:solidFill>
              <a:effectLst/>
              <a:uFillTx/>
              <a:latin typeface="Arial"/>
            </a:endParaRPr>
          </a:p>
        </p:txBody>
      </p:sp>
      <p:sp>
        <p:nvSpPr>
          <p:cNvPr id="450" name="Image 1" descr="Real phone screen from a --record screen capture, the target app's splash screen during a live run"/>
          <p:cNvSpPr/>
          <p:nvPr/>
        </p:nvSpPr>
        <p:spPr>
          <a:xfrm>
            <a:off x="10001160" y="1692720"/>
            <a:ext cx="1358280" cy="3060000"/>
          </a:xfrm>
          <a:prstGeom prst="roundRect">
            <a:avLst>
              <a:gd name="adj" fmla="val 11682"/>
            </a:avLst>
          </a:prstGeom>
          <a:blipFill rotWithShape="0">
            <a:blip r:embed="rId2"/>
            <a:srcRect/>
            <a:stretch/>
          </a:blipFill>
          <a:ln w="0">
            <a:noFill/>
          </a:ln>
          <a:effectLst>
            <a:outerShdw algn="bl" blurRad="19044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1" name="Shape 12"/>
          <p:cNvSpPr/>
          <p:nvPr/>
        </p:nvSpPr>
        <p:spPr>
          <a:xfrm>
            <a:off x="9991800" y="1683000"/>
            <a:ext cx="1377360" cy="3079080"/>
          </a:xfrm>
          <a:prstGeom prst="roundRect">
            <a:avLst>
              <a:gd name="adj" fmla="val 12212"/>
            </a:avLst>
          </a:prstGeom>
          <a:noFill/>
          <a:ln w="19050">
            <a:solidFill>
              <a:srgbClr val="FF2BD6"/>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452" name="Text 13"/>
          <p:cNvSpPr/>
          <p:nvPr/>
        </p:nvSpPr>
        <p:spPr>
          <a:xfrm>
            <a:off x="4759560" y="4871880"/>
            <a:ext cx="2672280" cy="210240"/>
          </a:xfrm>
          <a:prstGeom prst="rect">
            <a:avLst/>
          </a:prstGeom>
          <a:noFill/>
          <a:ln w="0">
            <a:noFill/>
          </a:ln>
        </p:spPr>
        <p:style>
          <a:lnRef idx="0"/>
          <a:fillRef idx="0"/>
          <a:effectRef idx="0"/>
          <a:fontRef idx="minor"/>
        </p:style>
        <p:txBody>
          <a:bodyPr lIns="0" tIns="0" rIns="0" bIns="0" anchor="t">
            <a:normAutofit/>
          </a:bodyPr>
          <a:p>
            <a:pPr algn="ctr" defTabSz="914400">
              <a:lnSpc>
                <a:spcPts val="1474"/>
              </a:lnSpc>
              <a:tabLst>
                <a:tab pos="0" algn="l"/>
              </a:tabLst>
            </a:pPr>
            <a:r>
              <a:rPr lang="en-US" sz="1050" b="0" u="none" spc="99" strike="noStrike">
                <a:solidFill>
                  <a:srgbClr val="FFE600"/>
                </a:solidFill>
                <a:effectLst/>
                <a:uFillTx/>
                <a:latin typeface="JetBrains Mono"/>
                <a:ea typeface="JetBrains Mono"/>
              </a:rPr>
              <a:t>THREE THINGS THAT BIT ME</a:t>
            </a:r>
            <a:endParaRPr lang="en-US" sz="1050" b="0" u="none" strike="noStrike">
              <a:solidFill>
                <a:srgbClr val="FFFFFF"/>
              </a:solidFill>
              <a:effectLst/>
              <a:uFillTx/>
              <a:latin typeface="Arial"/>
            </a:endParaRPr>
          </a:p>
        </p:txBody>
      </p:sp>
      <p:sp>
        <p:nvSpPr>
          <p:cNvPr id="453" name="Shape 14"/>
          <p:cNvSpPr/>
          <p:nvPr/>
        </p:nvSpPr>
        <p:spPr>
          <a:xfrm>
            <a:off x="819000" y="5241600"/>
            <a:ext cx="3423960" cy="593280"/>
          </a:xfrm>
          <a:prstGeom prst="roundRect">
            <a:avLst>
              <a:gd name="adj" fmla="val 18172"/>
            </a:avLst>
          </a:prstGeom>
          <a:solidFill>
            <a:srgbClr val="05070F"/>
          </a:solidFill>
          <a:ln w="12700">
            <a:solidFill>
              <a:srgbClr val="FFE600"/>
            </a:solidFill>
            <a:round/>
          </a:ln>
          <a:effectLst>
            <a:outerShdw algn="bl" blurRad="127080" dir="0" dist="0" kx="0" ky="0" rotWithShape="0" sx="100000" sy="100000">
              <a:srgbClr val="FFE600">
                <a:alpha val="28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454" name="Text 15"/>
          <p:cNvSpPr/>
          <p:nvPr/>
        </p:nvSpPr>
        <p:spPr>
          <a:xfrm>
            <a:off x="959760" y="5343840"/>
            <a:ext cx="3237480" cy="236880"/>
          </a:xfrm>
          <a:prstGeom prst="rect">
            <a:avLst/>
          </a:prstGeom>
          <a:noFill/>
          <a:ln w="0">
            <a:noFill/>
          </a:ln>
        </p:spPr>
        <p:style>
          <a:lnRef idx="0"/>
          <a:fillRef idx="0"/>
          <a:effectRef idx="0"/>
          <a:fontRef idx="minor"/>
        </p:style>
        <p:txBody>
          <a:bodyPr lIns="0" tIns="0" rIns="0" bIns="0" anchor="t">
            <a:normAutofit/>
          </a:bodyPr>
          <a:p>
            <a:pPr defTabSz="914400">
              <a:lnSpc>
                <a:spcPts val="1672"/>
              </a:lnSpc>
              <a:tabLst>
                <a:tab pos="0" algn="l"/>
              </a:tabLst>
            </a:pPr>
            <a:r>
              <a:rPr lang="en-US" sz="1200" b="1" u="none" strike="noStrike">
                <a:solidFill>
                  <a:srgbClr val="E8F7FF"/>
                </a:solidFill>
                <a:effectLst/>
                <a:uFillTx/>
                <a:latin typeface="Space Grotesk"/>
                <a:ea typeface="Space Grotesk"/>
              </a:rPr>
              <a:t>Set a log handler</a:t>
            </a:r>
            <a:endParaRPr lang="en-US" sz="1200" b="0" u="none" strike="noStrike">
              <a:solidFill>
                <a:srgbClr val="FFFFFF"/>
              </a:solidFill>
              <a:effectLst/>
              <a:uFillTx/>
              <a:latin typeface="Arial"/>
            </a:endParaRPr>
          </a:p>
        </p:txBody>
      </p:sp>
      <p:sp>
        <p:nvSpPr>
          <p:cNvPr id="455" name="Text 16"/>
          <p:cNvSpPr/>
          <p:nvPr/>
        </p:nvSpPr>
        <p:spPr>
          <a:xfrm>
            <a:off x="959760" y="5581800"/>
            <a:ext cx="3237480" cy="176400"/>
          </a:xfrm>
          <a:prstGeom prst="rect">
            <a:avLst/>
          </a:prstGeom>
          <a:noFill/>
          <a:ln w="0">
            <a:noFill/>
          </a:ln>
        </p:spPr>
        <p:style>
          <a:lnRef idx="0"/>
          <a:fillRef idx="0"/>
          <a:effectRef idx="0"/>
          <a:fontRef idx="minor"/>
        </p:style>
        <p:txBody>
          <a:bodyPr lIns="0" tIns="0" rIns="0" bIns="0" anchor="t">
            <a:normAutofit/>
          </a:bodyPr>
          <a:p>
            <a:pPr defTabSz="914400">
              <a:lnSpc>
                <a:spcPts val="1222"/>
              </a:lnSpc>
              <a:tabLst>
                <a:tab pos="0" algn="l"/>
              </a:tabLst>
            </a:pPr>
            <a:r>
              <a:rPr lang="en-US" sz="939" b="0" u="none" strike="noStrike">
                <a:solidFill>
                  <a:srgbClr val="8FA3C7"/>
                </a:solidFill>
                <a:effectLst/>
                <a:uFillTx/>
                <a:latin typeface="Space Grotesk"/>
                <a:ea typeface="Space Grotesk"/>
              </a:rPr>
              <a:t>console.log isn't a message since Frida 15.</a:t>
            </a:r>
            <a:endParaRPr lang="en-US" sz="939" b="0" u="none" strike="noStrike">
              <a:solidFill>
                <a:srgbClr val="FFFFFF"/>
              </a:solidFill>
              <a:effectLst/>
              <a:uFillTx/>
              <a:latin typeface="Arial"/>
            </a:endParaRPr>
          </a:p>
        </p:txBody>
      </p:sp>
      <p:sp>
        <p:nvSpPr>
          <p:cNvPr id="456" name="Shape 17"/>
          <p:cNvSpPr/>
          <p:nvPr/>
        </p:nvSpPr>
        <p:spPr>
          <a:xfrm>
            <a:off x="4383720" y="5241600"/>
            <a:ext cx="3423960" cy="593280"/>
          </a:xfrm>
          <a:prstGeom prst="roundRect">
            <a:avLst>
              <a:gd name="adj" fmla="val 18172"/>
            </a:avLst>
          </a:prstGeom>
          <a:solidFill>
            <a:srgbClr val="05070F"/>
          </a:solidFill>
          <a:ln w="12700">
            <a:solidFill>
              <a:srgbClr val="FF9F1C"/>
            </a:solidFill>
            <a:round/>
          </a:ln>
          <a:effectLst>
            <a:outerShdw algn="bl" blurRad="127080" dir="0" dist="0" kx="0" ky="0" rotWithShape="0" sx="100000" sy="100000">
              <a:srgbClr val="FF9F1C">
                <a:alpha val="28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457" name="Text 18"/>
          <p:cNvSpPr/>
          <p:nvPr/>
        </p:nvSpPr>
        <p:spPr>
          <a:xfrm>
            <a:off x="4524120" y="5343840"/>
            <a:ext cx="3237480" cy="236880"/>
          </a:xfrm>
          <a:prstGeom prst="rect">
            <a:avLst/>
          </a:prstGeom>
          <a:noFill/>
          <a:ln w="0">
            <a:noFill/>
          </a:ln>
        </p:spPr>
        <p:style>
          <a:lnRef idx="0"/>
          <a:fillRef idx="0"/>
          <a:effectRef idx="0"/>
          <a:fontRef idx="minor"/>
        </p:style>
        <p:txBody>
          <a:bodyPr lIns="0" tIns="0" rIns="0" bIns="0" anchor="t">
            <a:normAutofit/>
          </a:bodyPr>
          <a:p>
            <a:pPr defTabSz="914400">
              <a:lnSpc>
                <a:spcPts val="1672"/>
              </a:lnSpc>
              <a:tabLst>
                <a:tab pos="0" algn="l"/>
              </a:tabLst>
            </a:pPr>
            <a:r>
              <a:rPr lang="en-US" sz="1200" b="1" u="none" strike="noStrike">
                <a:solidFill>
                  <a:srgbClr val="E8F7FF"/>
                </a:solidFill>
                <a:effectLst/>
                <a:uFillTx/>
                <a:latin typeface="Space Grotesk"/>
                <a:ea typeface="Space Grotesk"/>
              </a:rPr>
              <a:t>Bundle the Java bridge</a:t>
            </a:r>
            <a:endParaRPr lang="en-US" sz="1200" b="0" u="none" strike="noStrike">
              <a:solidFill>
                <a:srgbClr val="FFFFFF"/>
              </a:solidFill>
              <a:effectLst/>
              <a:uFillTx/>
              <a:latin typeface="Arial"/>
            </a:endParaRPr>
          </a:p>
        </p:txBody>
      </p:sp>
      <p:sp>
        <p:nvSpPr>
          <p:cNvPr id="458" name="Text 19"/>
          <p:cNvSpPr/>
          <p:nvPr/>
        </p:nvSpPr>
        <p:spPr>
          <a:xfrm>
            <a:off x="4524120" y="5581800"/>
            <a:ext cx="3237480" cy="176400"/>
          </a:xfrm>
          <a:prstGeom prst="rect">
            <a:avLst/>
          </a:prstGeom>
          <a:noFill/>
          <a:ln w="0">
            <a:noFill/>
          </a:ln>
        </p:spPr>
        <p:style>
          <a:lnRef idx="0"/>
          <a:fillRef idx="0"/>
          <a:effectRef idx="0"/>
          <a:fontRef idx="minor"/>
        </p:style>
        <p:txBody>
          <a:bodyPr lIns="0" tIns="0" rIns="0" bIns="0" anchor="t">
            <a:normAutofit/>
          </a:bodyPr>
          <a:p>
            <a:pPr defTabSz="914400">
              <a:lnSpc>
                <a:spcPts val="1222"/>
              </a:lnSpc>
              <a:tabLst>
                <a:tab pos="0" algn="l"/>
              </a:tabLst>
            </a:pPr>
            <a:r>
              <a:rPr lang="en-US" sz="939" b="0" u="none" strike="noStrike">
                <a:solidFill>
                  <a:srgbClr val="8FA3C7"/>
                </a:solidFill>
                <a:effectLst/>
                <a:uFillTx/>
                <a:latin typeface="Space Grotesk"/>
                <a:ea typeface="Space Grotesk"/>
              </a:rPr>
              <a:t>Frida 17 dropped it; run through frida-compile.</a:t>
            </a:r>
            <a:endParaRPr lang="en-US" sz="939" b="0" u="none" strike="noStrike">
              <a:solidFill>
                <a:srgbClr val="FFFFFF"/>
              </a:solidFill>
              <a:effectLst/>
              <a:uFillTx/>
              <a:latin typeface="Arial"/>
            </a:endParaRPr>
          </a:p>
        </p:txBody>
      </p:sp>
      <p:sp>
        <p:nvSpPr>
          <p:cNvPr id="459" name="Shape 20"/>
          <p:cNvSpPr/>
          <p:nvPr/>
        </p:nvSpPr>
        <p:spPr>
          <a:xfrm>
            <a:off x="7948080" y="5241600"/>
            <a:ext cx="3423960" cy="593280"/>
          </a:xfrm>
          <a:prstGeom prst="roundRect">
            <a:avLst>
              <a:gd name="adj" fmla="val 18172"/>
            </a:avLst>
          </a:prstGeom>
          <a:solidFill>
            <a:srgbClr val="05070F"/>
          </a:solidFill>
          <a:ln w="12700">
            <a:solidFill>
              <a:srgbClr val="FF2BD6"/>
            </a:solidFill>
            <a:round/>
          </a:ln>
          <a:effectLst>
            <a:outerShdw algn="bl" blurRad="127080" dir="0" dist="0" kx="0" ky="0" rotWithShape="0" sx="100000" sy="100000">
              <a:srgbClr val="FF2BD6">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460" name="Text 21"/>
          <p:cNvSpPr/>
          <p:nvPr/>
        </p:nvSpPr>
        <p:spPr>
          <a:xfrm>
            <a:off x="8088480" y="5343840"/>
            <a:ext cx="3237480" cy="236880"/>
          </a:xfrm>
          <a:prstGeom prst="rect">
            <a:avLst/>
          </a:prstGeom>
          <a:noFill/>
          <a:ln w="0">
            <a:noFill/>
          </a:ln>
        </p:spPr>
        <p:style>
          <a:lnRef idx="0"/>
          <a:fillRef idx="0"/>
          <a:effectRef idx="0"/>
          <a:fontRef idx="minor"/>
        </p:style>
        <p:txBody>
          <a:bodyPr lIns="0" tIns="0" rIns="0" bIns="0" anchor="t">
            <a:normAutofit/>
          </a:bodyPr>
          <a:p>
            <a:pPr defTabSz="914400">
              <a:lnSpc>
                <a:spcPts val="1672"/>
              </a:lnSpc>
              <a:tabLst>
                <a:tab pos="0" algn="l"/>
              </a:tabLst>
            </a:pPr>
            <a:r>
              <a:rPr lang="en-US" sz="1200" b="1" u="none" strike="noStrike">
                <a:solidFill>
                  <a:srgbClr val="E8F7FF"/>
                </a:solidFill>
                <a:effectLst/>
                <a:uFillTx/>
                <a:latin typeface="Space Grotesk"/>
                <a:ea typeface="Space Grotesk"/>
              </a:rPr>
              <a:t>Deoptimize first</a:t>
            </a:r>
            <a:endParaRPr lang="en-US" sz="1200" b="0" u="none" strike="noStrike">
              <a:solidFill>
                <a:srgbClr val="FFFFFF"/>
              </a:solidFill>
              <a:effectLst/>
              <a:uFillTx/>
              <a:latin typeface="Arial"/>
            </a:endParaRPr>
          </a:p>
        </p:txBody>
      </p:sp>
      <p:sp>
        <p:nvSpPr>
          <p:cNvPr id="461" name="Text 22"/>
          <p:cNvSpPr/>
          <p:nvPr/>
        </p:nvSpPr>
        <p:spPr>
          <a:xfrm>
            <a:off x="8088480" y="5581800"/>
            <a:ext cx="3237480" cy="176400"/>
          </a:xfrm>
          <a:prstGeom prst="rect">
            <a:avLst/>
          </a:prstGeom>
          <a:noFill/>
          <a:ln w="0">
            <a:noFill/>
          </a:ln>
        </p:spPr>
        <p:style>
          <a:lnRef idx="0"/>
          <a:fillRef idx="0"/>
          <a:effectRef idx="0"/>
          <a:fontRef idx="minor"/>
        </p:style>
        <p:txBody>
          <a:bodyPr lIns="0" tIns="0" rIns="0" bIns="0" anchor="t">
            <a:normAutofit/>
          </a:bodyPr>
          <a:p>
            <a:pPr defTabSz="914400">
              <a:lnSpc>
                <a:spcPts val="1222"/>
              </a:lnSpc>
              <a:tabLst>
                <a:tab pos="0" algn="l"/>
              </a:tabLst>
            </a:pPr>
            <a:r>
              <a:rPr lang="en-US" sz="939" b="0" u="none" strike="noStrike">
                <a:solidFill>
                  <a:srgbClr val="8FA3C7"/>
                </a:solidFill>
                <a:effectLst/>
                <a:uFillTx/>
                <a:latin typeface="Space Grotesk"/>
                <a:ea typeface="Space Grotesk"/>
              </a:rPr>
              <a:t>ART kept compiling around our hooks.</a:t>
            </a:r>
            <a:endParaRPr lang="en-US" sz="939" b="0" u="none" strike="noStrike">
              <a:solidFill>
                <a:srgbClr val="FFFFFF"/>
              </a:solidFill>
              <a:effectLst/>
              <a:uFillTx/>
              <a:latin typeface="Arial"/>
            </a:endParaRPr>
          </a:p>
        </p:txBody>
      </p:sp>
      <p:sp>
        <p:nvSpPr>
          <p:cNvPr id="462" name="Text 23"/>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63" name="Text 24"/>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29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4" name="Image 0" descr="Neon wave background"/>
          <p:cNvPicPr/>
          <p:nvPr/>
        </p:nvPicPr>
        <p:blipFill>
          <a:blip r:embed="rId1"/>
          <a:stretch/>
        </p:blipFill>
        <p:spPr>
          <a:xfrm>
            <a:off x="0" y="0"/>
            <a:ext cx="12191400" cy="6857280"/>
          </a:xfrm>
          <a:prstGeom prst="rect">
            <a:avLst/>
          </a:prstGeom>
          <a:noFill/>
          <a:ln w="0">
            <a:noFill/>
          </a:ln>
        </p:spPr>
      </p:pic>
      <p:sp>
        <p:nvSpPr>
          <p:cNvPr id="465"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66"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30 / 51</a:t>
            </a:r>
            <a:endParaRPr lang="en-US" sz="1200" b="0" u="none" strike="noStrike">
              <a:solidFill>
                <a:srgbClr val="FFFFFF"/>
              </a:solidFill>
              <a:effectLst/>
              <a:uFillTx/>
              <a:latin typeface="Arial"/>
            </a:endParaRPr>
          </a:p>
        </p:txBody>
      </p:sp>
      <p:sp>
        <p:nvSpPr>
          <p:cNvPr id="467" name="TextBox 21"/>
          <p:cNvSpPr/>
          <p:nvPr/>
        </p:nvSpPr>
        <p:spPr>
          <a:xfrm>
            <a:off x="699840" y="699840"/>
            <a:ext cx="10791360" cy="6991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4400" b="1" u="none" strike="noStrike">
                <a:solidFill>
                  <a:srgbClr val="00F0FF"/>
                </a:solidFill>
                <a:effectLst/>
                <a:uFillTx/>
                <a:latin typeface="JetBrains Mono"/>
              </a:rPr>
              <a:t>02</a:t>
            </a:r>
            <a:endParaRPr lang="en-US" sz="4400" b="0" u="none" strike="noStrike">
              <a:solidFill>
                <a:srgbClr val="FFFFFF"/>
              </a:solidFill>
              <a:effectLst/>
              <a:uFillTx/>
              <a:latin typeface="Arial"/>
            </a:endParaRPr>
          </a:p>
        </p:txBody>
      </p:sp>
      <p:sp>
        <p:nvSpPr>
          <p:cNvPr id="468" name="TextBox 22"/>
          <p:cNvSpPr/>
          <p:nvPr/>
        </p:nvSpPr>
        <p:spPr>
          <a:xfrm>
            <a:off x="699840" y="145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200" b="0" u="none" strike="noStrike">
                <a:solidFill>
                  <a:srgbClr val="B07CFF"/>
                </a:solidFill>
                <a:effectLst/>
                <a:uFillTx/>
                <a:latin typeface="JetBrains Mono"/>
              </a:rPr>
              <a:t>LIVE · VULNLAB · NEEDS INTERNET</a:t>
            </a:r>
            <a:endParaRPr lang="en-US" sz="1200" b="0" u="none" strike="noStrike">
              <a:solidFill>
                <a:srgbClr val="FFFFFF"/>
              </a:solidFill>
              <a:effectLst/>
              <a:uFillTx/>
              <a:latin typeface="Arial"/>
            </a:endParaRPr>
          </a:p>
        </p:txBody>
      </p:sp>
      <p:sp>
        <p:nvSpPr>
          <p:cNvPr id="469" name="TextBox 23"/>
          <p:cNvSpPr/>
          <p:nvPr/>
        </p:nvSpPr>
        <p:spPr>
          <a:xfrm>
            <a:off x="699840" y="1779840"/>
            <a:ext cx="10791360" cy="59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400" b="1" u="none" strike="noStrike">
                <a:solidFill>
                  <a:srgbClr val="F2FFFF"/>
                </a:solidFill>
                <a:effectLst/>
                <a:uFillTx/>
                <a:latin typeface="Space Grotesk"/>
              </a:rPr>
              <a:t>TLS: trust-all against strict</a:t>
            </a:r>
            <a:endParaRPr lang="en-US" sz="3400" b="0" u="none" strike="noStrike">
              <a:solidFill>
                <a:srgbClr val="FFFFFF"/>
              </a:solidFill>
              <a:effectLst/>
              <a:uFillTx/>
              <a:latin typeface="Arial"/>
            </a:endParaRPr>
          </a:p>
        </p:txBody>
      </p:sp>
      <p:sp>
        <p:nvSpPr>
          <p:cNvPr id="470" name="Rounded Rectangle 24"/>
          <p:cNvSpPr/>
          <p:nvPr/>
        </p:nvSpPr>
        <p:spPr>
          <a:xfrm>
            <a:off x="819000" y="2750040"/>
            <a:ext cx="10553040" cy="124920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400" b="0" u="none" strike="noStrike">
                <a:solidFill>
                  <a:srgbClr val="E8F7FF"/>
                </a:solidFill>
                <a:effectLst/>
                <a:uFillTx/>
                <a:latin typeface="JetBrains Mono"/>
              </a:rPr>
              <a:t>$ hooksmith run --report vulnlab/findings.json \</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--apk vulnlab.apk --executor avd \</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--provider template --record --expect vulnlab/expected.json</a:t>
            </a:r>
            <a:endParaRPr lang="en-US" sz="1400" b="0" u="none" strike="noStrike">
              <a:solidFill>
                <a:srgbClr val="FFFFFF"/>
              </a:solidFill>
              <a:effectLst/>
              <a:uFillTx/>
              <a:latin typeface="Arial"/>
            </a:endParaRPr>
          </a:p>
        </p:txBody>
      </p:sp>
      <p:sp>
        <p:nvSpPr>
          <p:cNvPr id="471" name="TextBox 25"/>
          <p:cNvSpPr/>
          <p:nvPr/>
        </p:nvSpPr>
        <p:spPr>
          <a:xfrm>
            <a:off x="900000" y="4500000"/>
            <a:ext cx="10391400" cy="899280"/>
          </a:xfrm>
          <a:prstGeom prst="rect">
            <a:avLst/>
          </a:prstGeom>
          <a:noFill/>
          <a:ln w="0">
            <a:noFill/>
          </a:ln>
        </p:spPr>
        <p:style>
          <a:lnRef idx="0"/>
          <a:fillRef idx="0"/>
          <a:effectRef idx="0"/>
          <a:fontRef idx="minor"/>
        </p:style>
        <p:txBody>
          <a:bodyPr lIns="0" tIns="0" rIns="0" bIns="0" anchor="t">
            <a:sp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2" name="Image 0" descr="Neon wave background"/>
          <p:cNvPicPr/>
          <p:nvPr/>
        </p:nvPicPr>
        <p:blipFill>
          <a:blip r:embed="rId1"/>
          <a:stretch/>
        </p:blipFill>
        <p:spPr>
          <a:xfrm>
            <a:off x="0" y="0"/>
            <a:ext cx="12191400" cy="6857280"/>
          </a:xfrm>
          <a:prstGeom prst="rect">
            <a:avLst/>
          </a:prstGeom>
          <a:noFill/>
          <a:ln w="0">
            <a:noFill/>
          </a:ln>
        </p:spPr>
      </p:pic>
      <p:sp>
        <p:nvSpPr>
          <p:cNvPr id="473"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74"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31 / 51</a:t>
            </a:r>
            <a:endParaRPr lang="en-US" sz="1200" b="0" u="none" strike="noStrike">
              <a:solidFill>
                <a:srgbClr val="FFFFFF"/>
              </a:solidFill>
              <a:effectLst/>
              <a:uFillTx/>
              <a:latin typeface="Arial"/>
            </a:endParaRPr>
          </a:p>
        </p:txBody>
      </p:sp>
      <p:pic>
        <p:nvPicPr>
          <p:cNvPr id="475" name="">
            <a:hlinkClick r:id="" action="ppaction://media"/>
          </p:cNvPr>
          <p:cNvPicPr/>
          <p:nvPr>
            <a:videoFile r:link="rId2"/>
            <p:extLst>
              <p:ext uri="{DAA4B4D4-6D71-4841-9C94-3DE7FCFB9230}">
                <p14:media r:embed="rId3"/>
              </p:ext>
            </p:extLst>
          </p:nvPr>
        </p:nvPicPr>
        <p:blipFill>
          <a:blip r:embed="rId4"/>
          <a:stretch>
            <a:fillRect/>
          </a:stretch>
        </p:blipFill>
        <p:spPr>
          <a:xfrm>
            <a:off x="1095840" y="479880"/>
            <a:ext cx="9999720" cy="5624640"/>
          </a:xfrm>
          <a:prstGeom prst="rect">
            <a:avLst/>
          </a:prstGeom>
          <a:ln w="0">
            <a:noFill/>
          </a:ln>
        </p:spPr>
      </p:pic>
    </p:spTree>
  </p:cSld>
  <mc:AlternateContent>
    <mc:Choice Requires="p14">
      <p:transition spd="slow" p14:dur="2000"/>
    </mc:Choice>
    <mc:Fallback>
      <p:transition spd="slow"/>
    </mc:Fallback>
  </mc:AlternateContent>
  <p:timing>
    <p:tnLst>
      <p:par>
        <p:cTn id="5" dur="indefinite" restart="never" nodeType="tmRoot">
          <p:childTnLst>
            <p:video>
              <p:cMediaNode>
                <p:cTn>
                  <p:stCondLst>
                    <p:cond delay="indefinite"/>
                  </p:stCondLst>
                </p:cTn>
                <p:tgtEl>
                  <p:spTgt spid="475"/>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6" name="Image 0" descr="Neon wave background"/>
          <p:cNvPicPr/>
          <p:nvPr/>
        </p:nvPicPr>
        <p:blipFill>
          <a:blip r:embed="rId1"/>
          <a:stretch/>
        </p:blipFill>
        <p:spPr>
          <a:xfrm>
            <a:off x="0" y="0"/>
            <a:ext cx="12191400" cy="6857280"/>
          </a:xfrm>
          <a:prstGeom prst="rect">
            <a:avLst/>
          </a:prstGeom>
          <a:noFill/>
          <a:ln w="0">
            <a:noFill/>
          </a:ln>
        </p:spPr>
      </p:pic>
      <p:sp>
        <p:nvSpPr>
          <p:cNvPr id="477"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78"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32 / 51</a:t>
            </a:r>
            <a:endParaRPr lang="en-US" sz="1200" b="0" u="none" strike="noStrike">
              <a:solidFill>
                <a:srgbClr val="FFFFFF"/>
              </a:solidFill>
              <a:effectLst/>
              <a:uFillTx/>
              <a:latin typeface="Arial"/>
            </a:endParaRPr>
          </a:p>
        </p:txBody>
      </p:sp>
      <p:sp>
        <p:nvSpPr>
          <p:cNvPr id="479"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hooksmith run --apk vulnlab.apk --record</a:t>
            </a:r>
            <a:endParaRPr lang="en-US" sz="1300" b="0" u="none" strike="noStrike">
              <a:solidFill>
                <a:srgbClr val="FFFFFF"/>
              </a:solidFill>
              <a:effectLst/>
              <a:uFillTx/>
              <a:latin typeface="Arial"/>
            </a:endParaRPr>
          </a:p>
        </p:txBody>
      </p:sp>
      <p:sp>
        <p:nvSpPr>
          <p:cNvPr id="480"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Same hook, same app, two TrustManagers</a:t>
            </a:r>
            <a:endParaRPr lang="en-US" sz="3200" b="0" u="none" strike="noStrike">
              <a:solidFill>
                <a:srgbClr val="FFFFFF"/>
              </a:solidFill>
              <a:effectLst/>
              <a:uFillTx/>
              <a:latin typeface="Arial"/>
            </a:endParaRPr>
          </a:p>
        </p:txBody>
      </p:sp>
      <p:pic>
        <p:nvPicPr>
          <p:cNvPr id="481" name="">
            <a:hlinkClick r:id="" action="ppaction://media"/>
          </p:cNvPr>
          <p:cNvPicPr/>
          <p:nvPr>
            <a:videoFile r:link="rId2"/>
            <p:extLst>
              <p:ext uri="{DAA4B4D4-6D71-4841-9C94-3DE7FCFB9230}">
                <p14:media r:embed="rId3"/>
              </p:ext>
            </p:extLst>
          </p:nvPr>
        </p:nvPicPr>
        <p:blipFill>
          <a:blip r:embed="rId4"/>
          <a:stretch>
            <a:fillRect/>
          </a:stretch>
        </p:blipFill>
        <p:spPr>
          <a:xfrm>
            <a:off x="3499920" y="1500120"/>
            <a:ext cx="1574280" cy="3499200"/>
          </a:xfrm>
          <a:prstGeom prst="rect">
            <a:avLst/>
          </a:prstGeom>
          <a:ln w="0">
            <a:noFill/>
          </a:ln>
        </p:spPr>
      </p:pic>
      <p:pic>
        <p:nvPicPr>
          <p:cNvPr id="482" name="">
            <a:hlinkClick r:id="" action="ppaction://media"/>
          </p:cNvPr>
          <p:cNvPicPr/>
          <p:nvPr>
            <a:videoFile r:link="rId5"/>
            <p:extLst>
              <p:ext uri="{DAA4B4D4-6D71-4841-9C94-3DE7FCFB9230}">
                <p14:media r:embed="rId6"/>
              </p:ext>
            </p:extLst>
          </p:nvPr>
        </p:nvPicPr>
        <p:blipFill>
          <a:blip r:embed="rId7"/>
          <a:stretch>
            <a:fillRect/>
          </a:stretch>
        </p:blipFill>
        <p:spPr>
          <a:xfrm>
            <a:off x="7116840" y="1500120"/>
            <a:ext cx="1574280" cy="3499200"/>
          </a:xfrm>
          <a:prstGeom prst="rect">
            <a:avLst/>
          </a:prstGeom>
          <a:ln w="0">
            <a:noFill/>
          </a:ln>
        </p:spPr>
      </p:pic>
      <p:sp>
        <p:nvSpPr>
          <p:cNvPr id="483" name="Rounded Rectangle 25"/>
          <p:cNvSpPr/>
          <p:nvPr/>
        </p:nvSpPr>
        <p:spPr>
          <a:xfrm>
            <a:off x="3200040" y="5100120"/>
            <a:ext cx="2174400" cy="339120"/>
          </a:xfrm>
          <a:prstGeom prst="roundRect">
            <a:avLst>
              <a:gd name="adj" fmla="val 30000"/>
            </a:avLst>
          </a:prstGeom>
          <a:noFill/>
          <a:ln w="19050">
            <a:solidFill>
              <a:srgbClr val="39FF9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39FF9C"/>
                </a:solidFill>
                <a:effectLst/>
                <a:uFillTx/>
                <a:latin typeface="JetBrains Mono"/>
              </a:rPr>
              <a:t>PROVEN</a:t>
            </a:r>
            <a:endParaRPr lang="en-US" sz="1300" b="0" u="none" strike="noStrike">
              <a:solidFill>
                <a:srgbClr val="FFFFFF"/>
              </a:solidFill>
              <a:effectLst/>
              <a:uFillTx/>
              <a:latin typeface="Arial"/>
            </a:endParaRPr>
          </a:p>
        </p:txBody>
      </p:sp>
      <p:sp>
        <p:nvSpPr>
          <p:cNvPr id="484" name="Rounded Rectangle 26"/>
          <p:cNvSpPr/>
          <p:nvPr/>
        </p:nvSpPr>
        <p:spPr>
          <a:xfrm>
            <a:off x="6816960" y="5100120"/>
            <a:ext cx="2174400" cy="339120"/>
          </a:xfrm>
          <a:prstGeom prst="roundRect">
            <a:avLst>
              <a:gd name="adj" fmla="val 30000"/>
            </a:avLst>
          </a:prstGeom>
          <a:noFill/>
          <a:ln w="19050">
            <a:solidFill>
              <a:srgbClr val="FF5A5F"/>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FF5A5F"/>
                </a:solidFill>
                <a:effectLst/>
                <a:uFillTx/>
                <a:latin typeface="JetBrains Mono"/>
              </a:rPr>
              <a:t>REFUTED</a:t>
            </a:r>
            <a:endParaRPr lang="en-US" sz="1300" b="0" u="none" strike="noStrike">
              <a:solidFill>
                <a:srgbClr val="FFFFFF"/>
              </a:solidFill>
              <a:effectLst/>
              <a:uFillTx/>
              <a:latin typeface="Arial"/>
            </a:endParaRPr>
          </a:p>
        </p:txBody>
      </p:sp>
      <p:sp>
        <p:nvSpPr>
          <p:cNvPr id="485" name="TextBox 27"/>
          <p:cNvSpPr/>
          <p:nvPr/>
        </p:nvSpPr>
        <p:spPr>
          <a:xfrm>
            <a:off x="3200040" y="5500080"/>
            <a:ext cx="2174400" cy="2991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6F82A8"/>
                </a:solidFill>
                <a:effectLst/>
                <a:uFillTx/>
                <a:latin typeface="JetBrains Mono"/>
              </a:rPr>
              <a:t>TrustAllManager</a:t>
            </a:r>
            <a:endParaRPr lang="en-US" sz="1300" b="0" u="none" strike="noStrike">
              <a:solidFill>
                <a:srgbClr val="FFFFFF"/>
              </a:solidFill>
              <a:effectLst/>
              <a:uFillTx/>
              <a:latin typeface="Arial"/>
            </a:endParaRPr>
          </a:p>
        </p:txBody>
      </p:sp>
      <p:sp>
        <p:nvSpPr>
          <p:cNvPr id="486" name="TextBox 28"/>
          <p:cNvSpPr/>
          <p:nvPr/>
        </p:nvSpPr>
        <p:spPr>
          <a:xfrm>
            <a:off x="6816960" y="5500080"/>
            <a:ext cx="2174400" cy="2991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6F82A8"/>
                </a:solidFill>
                <a:effectLst/>
                <a:uFillTx/>
                <a:latin typeface="JetBrains Mono"/>
              </a:rPr>
              <a:t>StrictTrustManager</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6" dur="indefinite" restart="never" nodeType="tmRoot">
          <p:childTnLst>
            <p:video>
              <p:cMediaNode>
                <p:cTn>
                  <p:stCondLst>
                    <p:cond delay="indefinite"/>
                  </p:stCondLst>
                </p:cTn>
                <p:tgtEl>
                  <p:spTgt spid="481"/>
                </p:tgtEl>
              </p:cMediaNode>
            </p:video>
            <p:video>
              <p:cMediaNode>
                <p:cTn>
                  <p:stCondLst>
                    <p:cond delay="indefinite"/>
                  </p:stCondLst>
                </p:cTn>
                <p:tgtEl>
                  <p:spTgt spid="482"/>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7" name="Image 0" descr="Neon wave background"/>
          <p:cNvPicPr/>
          <p:nvPr/>
        </p:nvPicPr>
        <p:blipFill>
          <a:blip r:embed="rId1"/>
          <a:stretch/>
        </p:blipFill>
        <p:spPr>
          <a:xfrm>
            <a:off x="0" y="0"/>
            <a:ext cx="12191400" cy="6857280"/>
          </a:xfrm>
          <a:prstGeom prst="rect">
            <a:avLst/>
          </a:prstGeom>
          <a:noFill/>
          <a:ln w="0">
            <a:noFill/>
          </a:ln>
        </p:spPr>
      </p:pic>
      <p:sp>
        <p:nvSpPr>
          <p:cNvPr id="488"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89"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33 / 51</a:t>
            </a:r>
            <a:endParaRPr lang="en-US" sz="1200" b="0" u="none" strike="noStrike">
              <a:solidFill>
                <a:srgbClr val="FFFFFF"/>
              </a:solidFill>
              <a:effectLst/>
              <a:uFillTx/>
              <a:latin typeface="Arial"/>
            </a:endParaRPr>
          </a:p>
        </p:txBody>
      </p:sp>
      <p:sp>
        <p:nvSpPr>
          <p:cNvPr id="490"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cat TrustAllManager.java; cat findings/VL-8/runtime.log</a:t>
            </a:r>
            <a:endParaRPr lang="en-US" sz="1300" b="0" u="none" strike="noStrike">
              <a:solidFill>
                <a:srgbClr val="FFFFFF"/>
              </a:solidFill>
              <a:effectLst/>
              <a:uFillTx/>
              <a:latin typeface="Arial"/>
            </a:endParaRPr>
          </a:p>
        </p:txBody>
      </p:sp>
      <p:sp>
        <p:nvSpPr>
          <p:cNvPr id="491"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What a hook can see about a certificate</a:t>
            </a:r>
            <a:endParaRPr lang="en-US" sz="3200" b="0" u="none" strike="noStrike">
              <a:solidFill>
                <a:srgbClr val="FFFFFF"/>
              </a:solidFill>
              <a:effectLst/>
              <a:uFillTx/>
              <a:latin typeface="Arial"/>
            </a:endParaRPr>
          </a:p>
        </p:txBody>
      </p:sp>
      <p:sp>
        <p:nvSpPr>
          <p:cNvPr id="492" name="Rounded Rectangle 23"/>
          <p:cNvSpPr/>
          <p:nvPr/>
        </p:nvSpPr>
        <p:spPr>
          <a:xfrm>
            <a:off x="699840" y="1699920"/>
            <a:ext cx="5299200" cy="2899440"/>
          </a:xfrm>
          <a:prstGeom prst="roundRect">
            <a:avLst>
              <a:gd name="adj" fmla="val 6000"/>
            </a:avLst>
          </a:prstGeom>
          <a:solidFill>
            <a:srgbClr val="05070F"/>
          </a:solidFill>
          <a:ln w="12700">
            <a:solidFill>
              <a:srgbClr val="FF5A5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FF5A5F"/>
                </a:solidFill>
                <a:effectLst/>
                <a:uFillTx/>
                <a:latin typeface="JetBrains Mono"/>
              </a:rPr>
              <a:t>TrustAllManager.java</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400" b="0" u="none" strike="noStrike">
                <a:solidFill>
                  <a:srgbClr val="B07CFF"/>
                </a:solidFill>
                <a:effectLst/>
                <a:uFillTx/>
                <a:latin typeface="JetBrains Mono"/>
              </a:rPr>
              <a:t>public</a:t>
            </a: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class</a:t>
            </a:r>
            <a:r>
              <a:rPr lang="en-US" sz="1400" b="0" u="none" strike="noStrike">
                <a:solidFill>
                  <a:srgbClr val="E8F7FF"/>
                </a:solidFill>
                <a:effectLst/>
                <a:uFillTx/>
                <a:latin typeface="JetBrains Mono"/>
              </a:rPr>
              <a:t> TrustAllManager</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implements X509TrustManager {</a:t>
            </a:r>
            <a:endParaRPr lang="en-US" sz="1400" b="0" u="none" strike="noStrike">
              <a:solidFill>
                <a:srgbClr val="FFFFFF"/>
              </a:solidFill>
              <a:effectLst/>
              <a:uFillTx/>
              <a:latin typeface="Arial"/>
            </a:endParaRPr>
          </a:p>
          <a:p>
            <a:pPr defTabSz="914400">
              <a:lnSpc>
                <a:spcPct val="100000"/>
              </a:lnSpc>
            </a:pP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public</a:t>
            </a: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void</a:t>
            </a:r>
            <a:r>
              <a:rPr lang="en-US" sz="1400" b="0" u="none" strike="noStrike">
                <a:solidFill>
                  <a:srgbClr val="E8F7FF"/>
                </a:solidFill>
                <a:effectLst/>
                <a:uFillTx/>
                <a:latin typeface="JetBrains Mono"/>
              </a:rPr>
              <a:t> checkServerTrusted(</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X509Certificate[] chain,</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String authType) {</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   </a:t>
            </a:r>
            <a:r>
              <a:rPr lang="en-US" sz="1400" b="0" u="none" strike="noStrike">
                <a:solidFill>
                  <a:srgbClr val="6F82A8"/>
                </a:solidFill>
                <a:effectLst/>
                <a:uFillTx/>
                <a:latin typeface="JetBrains Mono"/>
              </a:rPr>
              <a:t>// accepts everything</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p:txBody>
      </p:sp>
      <p:sp>
        <p:nvSpPr>
          <p:cNvPr id="493" name="Rounded Rectangle 24"/>
          <p:cNvSpPr/>
          <p:nvPr/>
        </p:nvSpPr>
        <p:spPr>
          <a:xfrm>
            <a:off x="6199920" y="1699920"/>
            <a:ext cx="5299200" cy="289944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00F0FF"/>
                </a:solidFill>
                <a:effectLst/>
                <a:uFillTx/>
                <a:latin typeface="JetBrains Mono"/>
              </a:rPr>
              <a:t>runtime.log (VL-8)</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HS|{</a:t>
            </a:r>
            <a:r>
              <a:rPr lang="en-US" sz="1400" b="0" u="none" strike="noStrike">
                <a:solidFill>
                  <a:srgbClr val="39FF9C"/>
                </a:solidFill>
                <a:effectLst/>
                <a:uFillTx/>
                <a:latin typeface="JetBrains Mono"/>
              </a:rPr>
              <a:t>"event"</a:t>
            </a:r>
            <a:r>
              <a:rPr lang="en-US" sz="1400" b="0" u="none" strike="noStrike">
                <a:solidFill>
                  <a:srgbClr val="E8F7FF"/>
                </a:solidFill>
                <a:effectLst/>
                <a:uFillTx/>
                <a:latin typeface="JetBrains Mono"/>
              </a:rPr>
              <a:t>:</a:t>
            </a:r>
            <a:r>
              <a:rPr lang="en-US" sz="1400" b="0" u="none" strike="noStrike">
                <a:solidFill>
                  <a:srgbClr val="39FF9C"/>
                </a:solidFill>
                <a:effectLst/>
                <a:uFillTx/>
                <a:latin typeface="JetBrains Mono"/>
              </a:rPr>
              <a:t>"call"</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HS|{</a:t>
            </a:r>
            <a:r>
              <a:rPr lang="en-US" sz="1400" b="0" u="none" strike="noStrike">
                <a:solidFill>
                  <a:srgbClr val="39FF9C"/>
                </a:solidFill>
                <a:effectLst/>
                <a:uFillTx/>
                <a:latin typeface="JetBrains Mono"/>
              </a:rPr>
              <a:t>"event"</a:t>
            </a:r>
            <a:r>
              <a:rPr lang="en-US" sz="1400" b="0" u="none" strike="noStrike">
                <a:solidFill>
                  <a:srgbClr val="E8F7FF"/>
                </a:solidFill>
                <a:effectLst/>
                <a:uFillTx/>
                <a:latin typeface="JetBrains Mono"/>
              </a:rPr>
              <a:t>:</a:t>
            </a:r>
            <a:r>
              <a:rPr lang="en-US" sz="1400" b="0" u="none" strike="noStrike">
                <a:solidFill>
                  <a:srgbClr val="39FF9C"/>
                </a:solidFill>
                <a:effectLst/>
                <a:uFillTx/>
                <a:latin typeface="JetBrains Mono"/>
              </a:rPr>
              <a:t>"tls_chain"</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"accepted"</a:t>
            </a:r>
            <a:r>
              <a:rPr lang="en-US" sz="1400" b="0" u="none" strike="noStrike">
                <a:solidFill>
                  <a:srgbClr val="E8F7FF"/>
                </a:solidFill>
                <a:effectLst/>
                <a:uFillTx/>
                <a:latin typeface="JetBrains Mono"/>
              </a:rPr>
              <a:t>: true,</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"self_signed"</a:t>
            </a:r>
            <a:r>
              <a:rPr lang="en-US" sz="1400" b="0" u="none" strike="noStrike">
                <a:solidFill>
                  <a:srgbClr val="E8F7FF"/>
                </a:solidFill>
                <a:effectLst/>
                <a:uFillTx/>
                <a:latin typeface="JetBrains Mono"/>
              </a:rPr>
              <a:t>: true,</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"subject"</a:t>
            </a:r>
            <a:r>
              <a:rPr lang="en-US" sz="1400" b="0" u="none" strike="noStrike">
                <a:solidFill>
                  <a:srgbClr val="E8F7FF"/>
                </a:solidFill>
                <a:effectLst/>
                <a:uFillTx/>
                <a:latin typeface="JetBrains Mono"/>
              </a:rPr>
              <a:t>: </a:t>
            </a:r>
            <a:r>
              <a:rPr lang="en-US" sz="1400" b="0" u="none" strike="noStrike">
                <a:solidFill>
                  <a:srgbClr val="39FF9C"/>
                </a:solidFill>
                <a:effectLst/>
                <a:uFillTx/>
                <a:latin typeface="JetBrains Mono"/>
              </a:rPr>
              <a:t>"CN=*.badssl.com"</a:t>
            </a:r>
            <a:r>
              <a:rPr lang="en-US" sz="1400" b="0" u="none" strike="noStrike">
                <a:solidFill>
                  <a:srgbClr val="E8F7FF"/>
                </a:solidFill>
                <a:effectLst/>
                <a:uFillTx/>
                <a:latin typeface="JetBrains Mono"/>
              </a:rPr>
              <a:t>}</a:t>
            </a:r>
            <a:endParaRPr lang="en-US" sz="1400" b="0" u="none" strike="noStrike">
              <a:solidFill>
                <a:srgbClr val="FFFFFF"/>
              </a:solidFill>
              <a:effectLst/>
              <a:uFillTx/>
              <a:latin typeface="Arial"/>
            </a:endParaRPr>
          </a:p>
        </p:txBody>
      </p:sp>
      <p:sp>
        <p:nvSpPr>
          <p:cNvPr id="494" name="TextBox 25"/>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500" b="0" u="none" strike="noStrike">
                <a:solidFill>
                  <a:srgbClr val="E8F7FF"/>
                </a:solidFill>
                <a:effectLst/>
                <a:uFillTx/>
                <a:latin typeface="Space Grotesk"/>
              </a:rPr>
              <a:t>The hook calls the original and logs whether it accepted a bad chain. Accepted a self-signed one: PROVEN.</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5" name="Image 0" descr="Neon wave background"/>
          <p:cNvPicPr/>
          <p:nvPr/>
        </p:nvPicPr>
        <p:blipFill>
          <a:blip r:embed="rId1"/>
          <a:stretch/>
        </p:blipFill>
        <p:spPr>
          <a:xfrm>
            <a:off x="0" y="0"/>
            <a:ext cx="12191400" cy="6857280"/>
          </a:xfrm>
          <a:prstGeom prst="rect">
            <a:avLst/>
          </a:prstGeom>
          <a:noFill/>
          <a:ln w="0">
            <a:noFill/>
          </a:ln>
        </p:spPr>
      </p:pic>
      <p:sp>
        <p:nvSpPr>
          <p:cNvPr id="496"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497"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34 / 51</a:t>
            </a:r>
            <a:endParaRPr lang="en-US" sz="1200" b="0" u="none" strike="noStrike">
              <a:solidFill>
                <a:srgbClr val="FFFFFF"/>
              </a:solidFill>
              <a:effectLst/>
              <a:uFillTx/>
              <a:latin typeface="Arial"/>
            </a:endParaRPr>
          </a:p>
        </p:txBody>
      </p:sp>
      <p:sp>
        <p:nvSpPr>
          <p:cNvPr id="498"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hooksmith run --report vulnlab/findings.json --apk vulnlab.apk --expect vulnlab/expected.json</a:t>
            </a:r>
            <a:endParaRPr lang="en-US" sz="1300" b="0" u="none" strike="noStrike">
              <a:solidFill>
                <a:srgbClr val="FFFFFF"/>
              </a:solidFill>
              <a:effectLst/>
              <a:uFillTx/>
              <a:latin typeface="Arial"/>
            </a:endParaRPr>
          </a:p>
        </p:txBody>
      </p:sp>
      <p:sp>
        <p:nvSpPr>
          <p:cNvPr id="499"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TLS, as the terminal shows it</a:t>
            </a:r>
            <a:endParaRPr lang="en-US" sz="3200" b="0" u="none" strike="noStrike">
              <a:solidFill>
                <a:srgbClr val="FFFFFF"/>
              </a:solidFill>
              <a:effectLst/>
              <a:uFillTx/>
              <a:latin typeface="Arial"/>
            </a:endParaRPr>
          </a:p>
        </p:txBody>
      </p:sp>
      <p:sp>
        <p:nvSpPr>
          <p:cNvPr id="500" name="Rounded Rectangle 23"/>
          <p:cNvSpPr/>
          <p:nvPr/>
        </p:nvSpPr>
        <p:spPr>
          <a:xfrm>
            <a:off x="699840" y="1550160"/>
            <a:ext cx="10799280" cy="324936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500" b="0" u="none" strike="noStrike">
                <a:solidFill>
                  <a:srgbClr val="6F82A8"/>
                </a:solidFill>
                <a:effectLst/>
                <a:uFillTx/>
                <a:latin typeface="JetBrains Mono"/>
              </a:rPr>
              <a:t>(6/11) TrustManager accepts any certificate  VL-8</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E8F7FF"/>
                </a:solidFill>
                <a:effectLst/>
                <a:uFillTx/>
                <a:latin typeface="JetBrains Mono"/>
              </a:rPr>
              <a:t>   </a:t>
            </a:r>
            <a:r>
              <a:rPr lang="en-US" sz="1500" b="0" u="none" strike="noStrike">
                <a:solidFill>
                  <a:srgbClr val="39FF9C"/>
                </a:solidFill>
                <a:effectLst/>
                <a:uFillTx/>
                <a:latin typeface="JetBrains Mono"/>
              </a:rPr>
              <a:t>PROVEN</a:t>
            </a:r>
            <a:r>
              <a:rPr lang="en-US" sz="1500" b="0" u="none" strike="noStrike">
                <a:solidFill>
                  <a:srgbClr val="E8F7FF"/>
                </a:solidFill>
                <a:effectLst/>
                <a:uFillTx/>
                <a:latin typeface="JetBrains Mono"/>
              </a:rPr>
              <a:t>  accepted a self-signed certificate chain for CN=*.badssl.com</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6F82A8"/>
                </a:solidFill>
                <a:effectLst/>
                <a:uFillTx/>
                <a:latin typeface="JetBrains Mono"/>
              </a:rPr>
              <a:t>(7/11) TrustManager (platform delegate)  VL-9</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E8F7FF"/>
                </a:solidFill>
                <a:effectLst/>
                <a:uFillTx/>
                <a:latin typeface="JetBrains Mono"/>
              </a:rPr>
              <a:t>   </a:t>
            </a:r>
            <a:r>
              <a:rPr lang="en-US" sz="1500" b="0" u="none" strike="noStrike">
                <a:solidFill>
                  <a:srgbClr val="FF5A5F"/>
                </a:solidFill>
                <a:effectLst/>
                <a:uFillTx/>
                <a:latin typeface="JetBrains Mono"/>
              </a:rPr>
              <a:t>REFUTED</a:t>
            </a:r>
            <a:r>
              <a:rPr lang="en-US" sz="1500" b="0" u="none" strike="noStrike">
                <a:solidFill>
                  <a:srgbClr val="E8F7FF"/>
                </a:solidFill>
                <a:effectLst/>
                <a:uFillTx/>
                <a:latin typeface="JetBrains Mono"/>
              </a:rPr>
              <a:t>  rejected a certificate chain: validation is in place</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6F82A8"/>
                </a:solidFill>
                <a:effectLst/>
                <a:uFillTx/>
                <a:latin typeface="JetBrains Mono"/>
              </a:rPr>
              <a:t>(8/11) HostnameVerifier allows any hostname  VL-10</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E8F7FF"/>
                </a:solidFill>
                <a:effectLst/>
                <a:uFillTx/>
                <a:latin typeface="JetBrains Mono"/>
              </a:rPr>
              <a:t>   </a:t>
            </a:r>
            <a:r>
              <a:rPr lang="en-US" sz="1500" b="0" u="none" strike="noStrike">
                <a:solidFill>
                  <a:srgbClr val="39FF9C"/>
                </a:solidFill>
                <a:effectLst/>
                <a:uFillTx/>
                <a:latin typeface="JetBrains Mono"/>
              </a:rPr>
              <a:t>PROVEN</a:t>
            </a:r>
            <a:r>
              <a:rPr lang="en-US" sz="1500" b="0" u="none" strike="noStrike">
                <a:solidFill>
                  <a:srgbClr val="E8F7FF"/>
                </a:solidFill>
                <a:effectLst/>
                <a:uFillTx/>
                <a:latin typeface="JetBrains Mono"/>
              </a:rPr>
              <a:t>  returned true for wrong.host.badssl.com, which the certificate does not cover</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6F82A8"/>
                </a:solidFill>
                <a:effectLst/>
                <a:uFillTx/>
                <a:latin typeface="JetBrains Mono"/>
              </a:rPr>
              <a:t>(9/11) HostnameVerifier (platform default)  VL-11</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E8F7FF"/>
                </a:solidFill>
                <a:effectLst/>
                <a:uFillTx/>
                <a:latin typeface="JetBrains Mono"/>
              </a:rPr>
              <a:t>   </a:t>
            </a:r>
            <a:r>
              <a:rPr lang="en-US" sz="1500" b="0" u="none" strike="noStrike">
                <a:solidFill>
                  <a:srgbClr val="FF5A5F"/>
                </a:solidFill>
                <a:effectLst/>
                <a:uFillTx/>
                <a:latin typeface="JetBrains Mono"/>
              </a:rPr>
              <a:t>REFUTED</a:t>
            </a:r>
            <a:r>
              <a:rPr lang="en-US" sz="1500" b="0" u="none" strike="noStrike">
                <a:solidFill>
                  <a:srgbClr val="E8F7FF"/>
                </a:solidFill>
                <a:effectLst/>
                <a:uFillTx/>
                <a:latin typeface="JetBrains Mono"/>
              </a:rPr>
              <a:t>  rejected a hostname the certificate does not cover</a:t>
            </a:r>
            <a:endParaRPr lang="en-US" sz="1500" b="0" u="none" strike="noStrike">
              <a:solidFill>
                <a:srgbClr val="FFFFFF"/>
              </a:solidFill>
              <a:effectLst/>
              <a:uFillTx/>
              <a:latin typeface="Arial"/>
            </a:endParaRPr>
          </a:p>
          <a:p>
            <a:pPr defTabSz="914400">
              <a:lnSpc>
                <a:spcPct val="100000"/>
              </a:lnSpc>
            </a:pP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E8F7FF"/>
                </a:solidFill>
                <a:effectLst/>
                <a:uFillTx/>
                <a:latin typeface="JetBrains Mono"/>
              </a:rPr>
              <a:t>  11 findings, 11 verdicts   </a:t>
            </a:r>
            <a:r>
              <a:rPr lang="en-US" sz="1500" b="0" u="none" strike="noStrike">
                <a:solidFill>
                  <a:srgbClr val="39FF9C"/>
                </a:solidFill>
                <a:effectLst/>
                <a:uFillTx/>
                <a:latin typeface="JetBrains Mono"/>
              </a:rPr>
              <a:t>PROVEN</a:t>
            </a:r>
            <a:r>
              <a:rPr lang="en-US" sz="1500" b="0" u="none" strike="noStrike">
                <a:solidFill>
                  <a:srgbClr val="E8F7FF"/>
                </a:solidFill>
                <a:effectLst/>
                <a:uFillTx/>
                <a:latin typeface="JetBrains Mono"/>
              </a:rPr>
              <a:t> 5  </a:t>
            </a:r>
            <a:r>
              <a:rPr lang="en-US" sz="1500" b="0" u="none" strike="noStrike">
                <a:solidFill>
                  <a:srgbClr val="FF5A5F"/>
                </a:solidFill>
                <a:effectLst/>
                <a:uFillTx/>
                <a:latin typeface="JetBrains Mono"/>
              </a:rPr>
              <a:t>REFUTED</a:t>
            </a:r>
            <a:r>
              <a:rPr lang="en-US" sz="1500" b="0" u="none" strike="noStrike">
                <a:solidFill>
                  <a:srgbClr val="E8F7FF"/>
                </a:solidFill>
                <a:effectLst/>
                <a:uFillTx/>
                <a:latin typeface="JetBrains Mono"/>
              </a:rPr>
              <a:t> 5  </a:t>
            </a:r>
            <a:r>
              <a:rPr lang="en-US" sz="1500" b="0" u="none" strike="noStrike">
                <a:solidFill>
                  <a:srgbClr val="FFE600"/>
                </a:solidFill>
                <a:effectLst/>
                <a:uFillTx/>
                <a:latin typeface="JetBrains Mono"/>
              </a:rPr>
              <a:t>UNREACHABLE</a:t>
            </a:r>
            <a:r>
              <a:rPr lang="en-US" sz="1500" b="0" u="none" strike="noStrike">
                <a:solidFill>
                  <a:srgbClr val="E8F7FF"/>
                </a:solidFill>
                <a:effectLst/>
                <a:uFillTx/>
                <a:latin typeface="JetBrains Mono"/>
              </a:rPr>
              <a:t> 1  </a:t>
            </a:r>
            <a:r>
              <a:rPr lang="en-US" sz="1500" b="0" u="none" strike="noStrike">
                <a:solidFill>
                  <a:srgbClr val="B07CFF"/>
                </a:solidFill>
                <a:effectLst/>
                <a:uFillTx/>
                <a:latin typeface="JetBrains Mono"/>
              </a:rPr>
              <a:t>UNVALIDATED</a:t>
            </a:r>
            <a:r>
              <a:rPr lang="en-US" sz="1500" b="0" u="none" strike="noStrike">
                <a:solidFill>
                  <a:srgbClr val="E8F7FF"/>
                </a:solidFill>
                <a:effectLst/>
                <a:uFillTx/>
                <a:latin typeface="JetBrains Mono"/>
              </a:rPr>
              <a:t> 0</a:t>
            </a:r>
            <a:endParaRPr lang="en-US" sz="1500" b="0" u="none" strike="noStrike">
              <a:solidFill>
                <a:srgbClr val="FFFFFF"/>
              </a:solidFill>
              <a:effectLst/>
              <a:uFillTx/>
              <a:latin typeface="Arial"/>
            </a:endParaRPr>
          </a:p>
          <a:p>
            <a:pPr defTabSz="914400">
              <a:lnSpc>
                <a:spcPct val="100000"/>
              </a:lnSpc>
            </a:pPr>
            <a:r>
              <a:rPr lang="en-US" sz="1500" b="0" u="none" strike="noStrike">
                <a:solidFill>
                  <a:srgbClr val="E8F7FF"/>
                </a:solidFill>
                <a:effectLst/>
                <a:uFillTx/>
                <a:latin typeface="JetBrains Mono"/>
              </a:rPr>
              <a:t>  harness: </a:t>
            </a:r>
            <a:r>
              <a:rPr lang="en-US" sz="1500" b="0" u="none" strike="noStrike">
                <a:solidFill>
                  <a:srgbClr val="39FF9C"/>
                </a:solidFill>
                <a:effectLst/>
                <a:uFillTx/>
                <a:latin typeface="JetBrains Mono"/>
              </a:rPr>
              <a:t>passed</a:t>
            </a:r>
            <a:endParaRPr lang="en-US" sz="1500" b="0" u="none" strike="noStrike">
              <a:solidFill>
                <a:srgbClr val="FFFFFF"/>
              </a:solidFill>
              <a:effectLst/>
              <a:uFillTx/>
              <a:latin typeface="Arial"/>
            </a:endParaRPr>
          </a:p>
        </p:txBody>
      </p:sp>
      <p:sp>
        <p:nvSpPr>
          <p:cNvPr id="501" name="TextBox 24"/>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500" b="0" u="none" strike="noStrike">
                <a:solidFill>
                  <a:srgbClr val="6F82A8"/>
                </a:solidFill>
                <a:effectLst/>
                <a:uFillTx/>
                <a:latin typeface="Space Grotesk"/>
              </a:rPr>
              <a:t>Per-step lines trimmed. --expect compares every verdict to the pinned file and exits 0.</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2" name="Image 0" descr="Neon wave background"/>
          <p:cNvPicPr/>
          <p:nvPr/>
        </p:nvPicPr>
        <p:blipFill>
          <a:blip r:embed="rId1"/>
          <a:stretch/>
        </p:blipFill>
        <p:spPr>
          <a:xfrm>
            <a:off x="0" y="0"/>
            <a:ext cx="12191400" cy="6857280"/>
          </a:xfrm>
          <a:prstGeom prst="rect">
            <a:avLst/>
          </a:prstGeom>
          <a:noFill/>
          <a:ln w="0">
            <a:noFill/>
          </a:ln>
        </p:spPr>
      </p:pic>
      <p:sp>
        <p:nvSpPr>
          <p:cNvPr id="503"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04"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35 / 51</a:t>
            </a:r>
            <a:endParaRPr lang="en-US" sz="1200" b="0" u="none" strike="noStrike">
              <a:solidFill>
                <a:srgbClr val="FFFFFF"/>
              </a:solidFill>
              <a:effectLst/>
              <a:uFillTx/>
              <a:latin typeface="Arial"/>
            </a:endParaRPr>
          </a:p>
        </p:txBody>
      </p:sp>
      <p:sp>
        <p:nvSpPr>
          <p:cNvPr id="505"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hooksmith report</a:t>
            </a:r>
            <a:endParaRPr lang="en-US" sz="1300" b="0" u="none" strike="noStrike">
              <a:solidFill>
                <a:srgbClr val="FFFFFF"/>
              </a:solidFill>
              <a:effectLst/>
              <a:uFillTx/>
              <a:latin typeface="Arial"/>
            </a:endParaRPr>
          </a:p>
        </p:txBody>
      </p:sp>
      <p:sp>
        <p:nvSpPr>
          <p:cNvPr id="506"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Four findings, four verdicts</a:t>
            </a:r>
            <a:endParaRPr lang="en-US" sz="3200" b="0" u="none" strike="noStrike">
              <a:solidFill>
                <a:srgbClr val="FFFFFF"/>
              </a:solidFill>
              <a:effectLst/>
              <a:uFillTx/>
              <a:latin typeface="Arial"/>
            </a:endParaRPr>
          </a:p>
        </p:txBody>
      </p:sp>
      <p:sp>
        <p:nvSpPr>
          <p:cNvPr id="507" name="Rounded Rectangle 23"/>
          <p:cNvSpPr/>
          <p:nvPr/>
        </p:nvSpPr>
        <p:spPr>
          <a:xfrm>
            <a:off x="699840" y="1649880"/>
            <a:ext cx="10799280" cy="719280"/>
          </a:xfrm>
          <a:prstGeom prst="roundRect">
            <a:avLst>
              <a:gd name="adj" fmla="val 6000"/>
            </a:avLst>
          </a:prstGeom>
          <a:solidFill>
            <a:srgbClr val="05070F"/>
          </a:solidFill>
          <a:ln w="12700">
            <a:solidFill>
              <a:srgbClr val="39FF9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800" b="0" u="none" strike="noStrike">
              <a:solidFill>
                <a:schemeClr val="lt1"/>
              </a:solidFill>
              <a:effectLst/>
              <a:uFillTx/>
              <a:latin typeface="JetBrains Mono"/>
            </a:endParaRPr>
          </a:p>
        </p:txBody>
      </p:sp>
      <p:sp>
        <p:nvSpPr>
          <p:cNvPr id="508" name="TextBox 24"/>
          <p:cNvSpPr/>
          <p:nvPr/>
        </p:nvSpPr>
        <p:spPr>
          <a:xfrm>
            <a:off x="950040" y="1860120"/>
            <a:ext cx="99936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6F82A8"/>
                </a:solidFill>
                <a:effectLst/>
                <a:uFillTx/>
                <a:latin typeface="JetBrains Mono"/>
              </a:rPr>
              <a:t>VL-8</a:t>
            </a:r>
            <a:endParaRPr lang="en-US" sz="1500" b="0" u="none" strike="noStrike">
              <a:solidFill>
                <a:srgbClr val="FFFFFF"/>
              </a:solidFill>
              <a:effectLst/>
              <a:uFillTx/>
              <a:latin typeface="Arial"/>
            </a:endParaRPr>
          </a:p>
        </p:txBody>
      </p:sp>
      <p:sp>
        <p:nvSpPr>
          <p:cNvPr id="509" name="TextBox 25"/>
          <p:cNvSpPr/>
          <p:nvPr/>
        </p:nvSpPr>
        <p:spPr>
          <a:xfrm>
            <a:off x="2000160" y="1739880"/>
            <a:ext cx="519912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F2FFFF"/>
                </a:solidFill>
                <a:effectLst/>
                <a:uFillTx/>
                <a:latin typeface="JetBrains Mono"/>
              </a:rPr>
              <a:t>TrustAllManager.checkServerTrusted</a:t>
            </a:r>
            <a:endParaRPr lang="en-US" sz="1500" b="0" u="none" strike="noStrike">
              <a:solidFill>
                <a:srgbClr val="FFFFFF"/>
              </a:solidFill>
              <a:effectLst/>
              <a:uFillTx/>
              <a:latin typeface="Arial"/>
            </a:endParaRPr>
          </a:p>
        </p:txBody>
      </p:sp>
      <p:sp>
        <p:nvSpPr>
          <p:cNvPr id="510" name="TextBox 26"/>
          <p:cNvSpPr/>
          <p:nvPr/>
        </p:nvSpPr>
        <p:spPr>
          <a:xfrm>
            <a:off x="2000160" y="2040120"/>
            <a:ext cx="55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accepted a self-signed chain for *.badssl.com</a:t>
            </a:r>
            <a:endParaRPr lang="en-US" sz="1300" b="0" u="none" strike="noStrike">
              <a:solidFill>
                <a:srgbClr val="FFFFFF"/>
              </a:solidFill>
              <a:effectLst/>
              <a:uFillTx/>
              <a:latin typeface="Arial"/>
            </a:endParaRPr>
          </a:p>
        </p:txBody>
      </p:sp>
      <p:sp>
        <p:nvSpPr>
          <p:cNvPr id="511" name="Rounded Rectangle 27"/>
          <p:cNvSpPr/>
          <p:nvPr/>
        </p:nvSpPr>
        <p:spPr>
          <a:xfrm>
            <a:off x="9100080" y="1839960"/>
            <a:ext cx="2099160" cy="339120"/>
          </a:xfrm>
          <a:prstGeom prst="roundRect">
            <a:avLst>
              <a:gd name="adj" fmla="val 30000"/>
            </a:avLst>
          </a:prstGeom>
          <a:noFill/>
          <a:ln w="19050">
            <a:solidFill>
              <a:srgbClr val="39FF9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39FF9C"/>
                </a:solidFill>
                <a:effectLst/>
                <a:uFillTx/>
                <a:latin typeface="JetBrains Mono"/>
              </a:rPr>
              <a:t>PROVEN</a:t>
            </a:r>
            <a:endParaRPr lang="en-US" sz="1300" b="0" u="none" strike="noStrike">
              <a:solidFill>
                <a:srgbClr val="FFFFFF"/>
              </a:solidFill>
              <a:effectLst/>
              <a:uFillTx/>
              <a:latin typeface="Arial"/>
            </a:endParaRPr>
          </a:p>
        </p:txBody>
      </p:sp>
      <p:sp>
        <p:nvSpPr>
          <p:cNvPr id="512" name="Rounded Rectangle 28"/>
          <p:cNvSpPr/>
          <p:nvPr/>
        </p:nvSpPr>
        <p:spPr>
          <a:xfrm>
            <a:off x="699840" y="2469960"/>
            <a:ext cx="10799280" cy="719280"/>
          </a:xfrm>
          <a:prstGeom prst="roundRect">
            <a:avLst>
              <a:gd name="adj" fmla="val 6000"/>
            </a:avLst>
          </a:prstGeom>
          <a:solidFill>
            <a:srgbClr val="05070F"/>
          </a:solidFill>
          <a:ln w="12700">
            <a:solidFill>
              <a:srgbClr val="FF5A5F"/>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800" b="0" u="none" strike="noStrike">
              <a:solidFill>
                <a:schemeClr val="lt1"/>
              </a:solidFill>
              <a:effectLst/>
              <a:uFillTx/>
              <a:latin typeface="JetBrains Mono"/>
            </a:endParaRPr>
          </a:p>
        </p:txBody>
      </p:sp>
      <p:sp>
        <p:nvSpPr>
          <p:cNvPr id="513" name="TextBox 29"/>
          <p:cNvSpPr/>
          <p:nvPr/>
        </p:nvSpPr>
        <p:spPr>
          <a:xfrm>
            <a:off x="950040" y="2679840"/>
            <a:ext cx="99936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6F82A8"/>
                </a:solidFill>
                <a:effectLst/>
                <a:uFillTx/>
                <a:latin typeface="JetBrains Mono"/>
              </a:rPr>
              <a:t>VL-9</a:t>
            </a:r>
            <a:endParaRPr lang="en-US" sz="1500" b="0" u="none" strike="noStrike">
              <a:solidFill>
                <a:srgbClr val="FFFFFF"/>
              </a:solidFill>
              <a:effectLst/>
              <a:uFillTx/>
              <a:latin typeface="Arial"/>
            </a:endParaRPr>
          </a:p>
        </p:txBody>
      </p:sp>
      <p:sp>
        <p:nvSpPr>
          <p:cNvPr id="514" name="TextBox 30"/>
          <p:cNvSpPr/>
          <p:nvPr/>
        </p:nvSpPr>
        <p:spPr>
          <a:xfrm>
            <a:off x="2000160" y="2559960"/>
            <a:ext cx="519912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F2FFFF"/>
                </a:solidFill>
                <a:effectLst/>
                <a:uFillTx/>
                <a:latin typeface="JetBrains Mono"/>
              </a:rPr>
              <a:t>StrictTrustManager.checkServerTrusted</a:t>
            </a:r>
            <a:endParaRPr lang="en-US" sz="1500" b="0" u="none" strike="noStrike">
              <a:solidFill>
                <a:srgbClr val="FFFFFF"/>
              </a:solidFill>
              <a:effectLst/>
              <a:uFillTx/>
              <a:latin typeface="Arial"/>
            </a:endParaRPr>
          </a:p>
        </p:txBody>
      </p:sp>
      <p:sp>
        <p:nvSpPr>
          <p:cNvPr id="515" name="TextBox 31"/>
          <p:cNvSpPr/>
          <p:nvPr/>
        </p:nvSpPr>
        <p:spPr>
          <a:xfrm>
            <a:off x="2000160" y="2859840"/>
            <a:ext cx="55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rejected a chain: validation is in place</a:t>
            </a:r>
            <a:endParaRPr lang="en-US" sz="1300" b="0" u="none" strike="noStrike">
              <a:solidFill>
                <a:srgbClr val="FFFFFF"/>
              </a:solidFill>
              <a:effectLst/>
              <a:uFillTx/>
              <a:latin typeface="Arial"/>
            </a:endParaRPr>
          </a:p>
        </p:txBody>
      </p:sp>
      <p:sp>
        <p:nvSpPr>
          <p:cNvPr id="516" name="Rounded Rectangle 32"/>
          <p:cNvSpPr/>
          <p:nvPr/>
        </p:nvSpPr>
        <p:spPr>
          <a:xfrm>
            <a:off x="9100080" y="2660040"/>
            <a:ext cx="2099160" cy="339120"/>
          </a:xfrm>
          <a:prstGeom prst="roundRect">
            <a:avLst>
              <a:gd name="adj" fmla="val 30000"/>
            </a:avLst>
          </a:prstGeom>
          <a:noFill/>
          <a:ln w="19050">
            <a:solidFill>
              <a:srgbClr val="FF5A5F"/>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FF5A5F"/>
                </a:solidFill>
                <a:effectLst/>
                <a:uFillTx/>
                <a:latin typeface="JetBrains Mono"/>
              </a:rPr>
              <a:t>REFUTED</a:t>
            </a:r>
            <a:endParaRPr lang="en-US" sz="1300" b="0" u="none" strike="noStrike">
              <a:solidFill>
                <a:srgbClr val="FFFFFF"/>
              </a:solidFill>
              <a:effectLst/>
              <a:uFillTx/>
              <a:latin typeface="Arial"/>
            </a:endParaRPr>
          </a:p>
        </p:txBody>
      </p:sp>
      <p:sp>
        <p:nvSpPr>
          <p:cNvPr id="517" name="Rounded Rectangle 33"/>
          <p:cNvSpPr/>
          <p:nvPr/>
        </p:nvSpPr>
        <p:spPr>
          <a:xfrm>
            <a:off x="699840" y="3290040"/>
            <a:ext cx="10799280" cy="719280"/>
          </a:xfrm>
          <a:prstGeom prst="roundRect">
            <a:avLst>
              <a:gd name="adj" fmla="val 6000"/>
            </a:avLst>
          </a:prstGeom>
          <a:solidFill>
            <a:srgbClr val="05070F"/>
          </a:solidFill>
          <a:ln w="12700">
            <a:solidFill>
              <a:srgbClr val="39FF9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800" b="0" u="none" strike="noStrike">
              <a:solidFill>
                <a:schemeClr val="lt1"/>
              </a:solidFill>
              <a:effectLst/>
              <a:uFillTx/>
              <a:latin typeface="JetBrains Mono"/>
            </a:endParaRPr>
          </a:p>
        </p:txBody>
      </p:sp>
      <p:sp>
        <p:nvSpPr>
          <p:cNvPr id="518" name="TextBox 34"/>
          <p:cNvSpPr/>
          <p:nvPr/>
        </p:nvSpPr>
        <p:spPr>
          <a:xfrm>
            <a:off x="950040" y="3499920"/>
            <a:ext cx="99936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6F82A8"/>
                </a:solidFill>
                <a:effectLst/>
                <a:uFillTx/>
                <a:latin typeface="JetBrains Mono"/>
              </a:rPr>
              <a:t>VL-10</a:t>
            </a:r>
            <a:endParaRPr lang="en-US" sz="1500" b="0" u="none" strike="noStrike">
              <a:solidFill>
                <a:srgbClr val="FFFFFF"/>
              </a:solidFill>
              <a:effectLst/>
              <a:uFillTx/>
              <a:latin typeface="Arial"/>
            </a:endParaRPr>
          </a:p>
        </p:txBody>
      </p:sp>
      <p:sp>
        <p:nvSpPr>
          <p:cNvPr id="519" name="TextBox 35"/>
          <p:cNvSpPr/>
          <p:nvPr/>
        </p:nvSpPr>
        <p:spPr>
          <a:xfrm>
            <a:off x="2000160" y="3380040"/>
            <a:ext cx="519912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F2FFFF"/>
                </a:solidFill>
                <a:effectLst/>
                <a:uFillTx/>
                <a:latin typeface="JetBrains Mono"/>
              </a:rPr>
              <a:t>AllowAllVerifier.verify</a:t>
            </a:r>
            <a:endParaRPr lang="en-US" sz="1500" b="0" u="none" strike="noStrike">
              <a:solidFill>
                <a:srgbClr val="FFFFFF"/>
              </a:solidFill>
              <a:effectLst/>
              <a:uFillTx/>
              <a:latin typeface="Arial"/>
            </a:endParaRPr>
          </a:p>
        </p:txBody>
      </p:sp>
      <p:sp>
        <p:nvSpPr>
          <p:cNvPr id="520" name="TextBox 36"/>
          <p:cNvSpPr/>
          <p:nvPr/>
        </p:nvSpPr>
        <p:spPr>
          <a:xfrm>
            <a:off x="2000160" y="3679920"/>
            <a:ext cx="55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returned true for wrong.host.badssl.com</a:t>
            </a:r>
            <a:endParaRPr lang="en-US" sz="1300" b="0" u="none" strike="noStrike">
              <a:solidFill>
                <a:srgbClr val="FFFFFF"/>
              </a:solidFill>
              <a:effectLst/>
              <a:uFillTx/>
              <a:latin typeface="Arial"/>
            </a:endParaRPr>
          </a:p>
        </p:txBody>
      </p:sp>
      <p:sp>
        <p:nvSpPr>
          <p:cNvPr id="521" name="Rounded Rectangle 37"/>
          <p:cNvSpPr/>
          <p:nvPr/>
        </p:nvSpPr>
        <p:spPr>
          <a:xfrm>
            <a:off x="9100080" y="3480120"/>
            <a:ext cx="2099160" cy="339120"/>
          </a:xfrm>
          <a:prstGeom prst="roundRect">
            <a:avLst>
              <a:gd name="adj" fmla="val 30000"/>
            </a:avLst>
          </a:prstGeom>
          <a:noFill/>
          <a:ln w="19050">
            <a:solidFill>
              <a:srgbClr val="39FF9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39FF9C"/>
                </a:solidFill>
                <a:effectLst/>
                <a:uFillTx/>
                <a:latin typeface="JetBrains Mono"/>
              </a:rPr>
              <a:t>PROVEN</a:t>
            </a:r>
            <a:endParaRPr lang="en-US" sz="1300" b="0" u="none" strike="noStrike">
              <a:solidFill>
                <a:srgbClr val="FFFFFF"/>
              </a:solidFill>
              <a:effectLst/>
              <a:uFillTx/>
              <a:latin typeface="Arial"/>
            </a:endParaRPr>
          </a:p>
        </p:txBody>
      </p:sp>
      <p:sp>
        <p:nvSpPr>
          <p:cNvPr id="522" name="Rounded Rectangle 38"/>
          <p:cNvSpPr/>
          <p:nvPr/>
        </p:nvSpPr>
        <p:spPr>
          <a:xfrm>
            <a:off x="699840" y="4110120"/>
            <a:ext cx="10799280" cy="719280"/>
          </a:xfrm>
          <a:prstGeom prst="roundRect">
            <a:avLst>
              <a:gd name="adj" fmla="val 6000"/>
            </a:avLst>
          </a:prstGeom>
          <a:solidFill>
            <a:srgbClr val="05070F"/>
          </a:solidFill>
          <a:ln w="12700">
            <a:solidFill>
              <a:srgbClr val="FF5A5F"/>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800" b="0" u="none" strike="noStrike">
              <a:solidFill>
                <a:schemeClr val="lt1"/>
              </a:solidFill>
              <a:effectLst/>
              <a:uFillTx/>
              <a:latin typeface="JetBrains Mono"/>
            </a:endParaRPr>
          </a:p>
        </p:txBody>
      </p:sp>
      <p:sp>
        <p:nvSpPr>
          <p:cNvPr id="523" name="TextBox 39"/>
          <p:cNvSpPr/>
          <p:nvPr/>
        </p:nvSpPr>
        <p:spPr>
          <a:xfrm>
            <a:off x="950040" y="4320000"/>
            <a:ext cx="99936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6F82A8"/>
                </a:solidFill>
                <a:effectLst/>
                <a:uFillTx/>
                <a:latin typeface="JetBrains Mono"/>
              </a:rPr>
              <a:t>VL-11</a:t>
            </a:r>
            <a:endParaRPr lang="en-US" sz="1500" b="0" u="none" strike="noStrike">
              <a:solidFill>
                <a:srgbClr val="FFFFFF"/>
              </a:solidFill>
              <a:effectLst/>
              <a:uFillTx/>
              <a:latin typeface="Arial"/>
            </a:endParaRPr>
          </a:p>
        </p:txBody>
      </p:sp>
      <p:sp>
        <p:nvSpPr>
          <p:cNvPr id="524" name="TextBox 40"/>
          <p:cNvSpPr/>
          <p:nvPr/>
        </p:nvSpPr>
        <p:spPr>
          <a:xfrm>
            <a:off x="2000160" y="4200120"/>
            <a:ext cx="519912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F2FFFF"/>
                </a:solidFill>
                <a:effectLst/>
                <a:uFillTx/>
                <a:latin typeface="JetBrains Mono"/>
              </a:rPr>
              <a:t>StrictVerifier.verify</a:t>
            </a:r>
            <a:endParaRPr lang="en-US" sz="1500" b="0" u="none" strike="noStrike">
              <a:solidFill>
                <a:srgbClr val="FFFFFF"/>
              </a:solidFill>
              <a:effectLst/>
              <a:uFillTx/>
              <a:latin typeface="Arial"/>
            </a:endParaRPr>
          </a:p>
        </p:txBody>
      </p:sp>
      <p:sp>
        <p:nvSpPr>
          <p:cNvPr id="525" name="TextBox 41"/>
          <p:cNvSpPr/>
          <p:nvPr/>
        </p:nvSpPr>
        <p:spPr>
          <a:xfrm>
            <a:off x="2000160" y="4500000"/>
            <a:ext cx="5599440" cy="29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6F82A8"/>
                </a:solidFill>
                <a:effectLst/>
                <a:uFillTx/>
                <a:latin typeface="Space Grotesk"/>
              </a:rPr>
              <a:t>rejected a host the certificate does not cover</a:t>
            </a:r>
            <a:endParaRPr lang="en-US" sz="1300" b="0" u="none" strike="noStrike">
              <a:solidFill>
                <a:srgbClr val="FFFFFF"/>
              </a:solidFill>
              <a:effectLst/>
              <a:uFillTx/>
              <a:latin typeface="Arial"/>
            </a:endParaRPr>
          </a:p>
        </p:txBody>
      </p:sp>
      <p:sp>
        <p:nvSpPr>
          <p:cNvPr id="526" name="Rounded Rectangle 42"/>
          <p:cNvSpPr/>
          <p:nvPr/>
        </p:nvSpPr>
        <p:spPr>
          <a:xfrm>
            <a:off x="9100080" y="4299840"/>
            <a:ext cx="2099160" cy="339120"/>
          </a:xfrm>
          <a:prstGeom prst="roundRect">
            <a:avLst>
              <a:gd name="adj" fmla="val 30000"/>
            </a:avLst>
          </a:prstGeom>
          <a:noFill/>
          <a:ln w="19050">
            <a:solidFill>
              <a:srgbClr val="FF5A5F"/>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FF5A5F"/>
                </a:solidFill>
                <a:effectLst/>
                <a:uFillTx/>
                <a:latin typeface="JetBrains Mono"/>
              </a:rPr>
              <a:t>REFUTED</a:t>
            </a:r>
            <a:endParaRPr lang="en-US" sz="1300" b="0" u="none" strike="noStrike">
              <a:solidFill>
                <a:srgbClr val="FFFFFF"/>
              </a:solidFill>
              <a:effectLst/>
              <a:uFillTx/>
              <a:latin typeface="Arial"/>
            </a:endParaRPr>
          </a:p>
        </p:txBody>
      </p:sp>
      <p:sp>
        <p:nvSpPr>
          <p:cNvPr id="527" name="TextBox 43"/>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500" b="0" u="none" strike="noStrike">
                <a:solidFill>
                  <a:srgbClr val="E8F7FF"/>
                </a:solidFill>
                <a:effectLst/>
                <a:uFillTx/>
                <a:latin typeface="Space Grotesk"/>
              </a:rPr>
              <a:t>Two are real MITM bugs with a certificate in the log. Two are closed as false positives, with the same evidence.</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8" name="Image 0" descr="Neon wave background"/>
          <p:cNvPicPr/>
          <p:nvPr/>
        </p:nvPicPr>
        <p:blipFill>
          <a:blip r:embed="rId1"/>
          <a:stretch/>
        </p:blipFill>
        <p:spPr>
          <a:xfrm>
            <a:off x="0" y="0"/>
            <a:ext cx="12191400" cy="6857280"/>
          </a:xfrm>
          <a:prstGeom prst="rect">
            <a:avLst/>
          </a:prstGeom>
          <a:noFill/>
          <a:ln w="0">
            <a:noFill/>
          </a:ln>
        </p:spPr>
      </p:pic>
      <p:sp>
        <p:nvSpPr>
          <p:cNvPr id="529" name="Text 0"/>
          <p:cNvSpPr/>
          <p:nvPr/>
        </p:nvSpPr>
        <p:spPr>
          <a:xfrm>
            <a:off x="4658760" y="1908720"/>
            <a:ext cx="287352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hooksmith explain tls</a:t>
            </a:r>
            <a:endParaRPr lang="en-US" sz="1200" b="0" u="none" strike="noStrike">
              <a:solidFill>
                <a:srgbClr val="FFFFFF"/>
              </a:solidFill>
              <a:effectLst/>
              <a:uFillTx/>
              <a:latin typeface="Arial"/>
            </a:endParaRPr>
          </a:p>
        </p:txBody>
      </p:sp>
      <p:sp>
        <p:nvSpPr>
          <p:cNvPr id="530" name="PlaceHolder 1"/>
          <p:cNvSpPr>
            <a:spLocks noGrp="1"/>
          </p:cNvSpPr>
          <p:nvPr>
            <p:ph type="title"/>
          </p:nvPr>
        </p:nvSpPr>
        <p:spPr>
          <a:xfrm>
            <a:off x="3224160" y="2426760"/>
            <a:ext cx="574272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When a hook can’t tell</a:t>
            </a:r>
            <a:endParaRPr lang="en-US" sz="3600" b="0" u="none" strike="noStrike">
              <a:solidFill>
                <a:schemeClr val="lt1"/>
              </a:solidFill>
              <a:effectLst/>
              <a:uFillTx/>
              <a:latin typeface="JetBrains Mono"/>
            </a:endParaRPr>
          </a:p>
        </p:txBody>
      </p:sp>
      <p:sp>
        <p:nvSpPr>
          <p:cNvPr id="531" name="Text 2"/>
          <p:cNvSpPr/>
          <p:nvPr/>
        </p:nvSpPr>
        <p:spPr>
          <a:xfrm>
            <a:off x="2498400" y="3240720"/>
            <a:ext cx="1639800" cy="793080"/>
          </a:xfrm>
          <a:prstGeom prst="roundRect">
            <a:avLst>
              <a:gd name="adj" fmla="val 18395"/>
            </a:avLst>
          </a:prstGeom>
          <a:solidFill>
            <a:srgbClr val="05070F"/>
          </a:solidFill>
          <a:ln w="12700">
            <a:solidFill>
              <a:srgbClr val="FF5A5F"/>
            </a:solidFill>
            <a:round/>
          </a:ln>
          <a:effectLst>
            <a:outerShdw algn="bl" blurRad="228600" dir="0" dist="0" kx="0" ky="0" rotWithShape="0" sx="100000" sy="100000">
              <a:srgbClr val="FF5A5F">
                <a:alpha val="35000"/>
              </a:srgbClr>
            </a:outerShdw>
          </a:effectLst>
        </p:spPr>
        <p:style>
          <a:lnRef idx="0"/>
          <a:fillRef idx="0"/>
          <a:effectRef idx="0"/>
          <a:fontRef idx="minor"/>
        </p:style>
        <p:txBody>
          <a:bodyPr wrap="none" lIns="0" tIns="0" rIns="0" bIns="0" anchor="ctr">
            <a:normAutofit/>
          </a:bodyPr>
          <a:p>
            <a:pPr algn="ctr" defTabSz="914400">
              <a:lnSpc>
                <a:spcPts val="2639"/>
              </a:lnSpc>
              <a:tabLst>
                <a:tab pos="0" algn="l"/>
              </a:tabLst>
            </a:pPr>
            <a:r>
              <a:rPr lang="en-US" sz="2200" b="1" u="none" strike="noStrike">
                <a:solidFill>
                  <a:srgbClr val="E8F7FF"/>
                </a:solidFill>
                <a:effectLst/>
                <a:uFillTx/>
                <a:latin typeface="Space Grotesk"/>
                <a:ea typeface="Space Grotesk"/>
              </a:rPr>
              <a:t>Trust all</a:t>
            </a:r>
            <a:endParaRPr lang="en-US" sz="2200" b="0" u="none" strike="noStrike">
              <a:solidFill>
                <a:srgbClr val="FFFFFF"/>
              </a:solidFill>
              <a:effectLst/>
              <a:uFillTx/>
              <a:latin typeface="Arial"/>
            </a:endParaRPr>
          </a:p>
        </p:txBody>
      </p:sp>
      <p:sp>
        <p:nvSpPr>
          <p:cNvPr id="532" name="Text 3"/>
          <p:cNvSpPr/>
          <p:nvPr/>
        </p:nvSpPr>
        <p:spPr>
          <a:xfrm>
            <a:off x="4370760" y="3317760"/>
            <a:ext cx="339480" cy="664920"/>
          </a:xfrm>
          <a:prstGeom prst="rect">
            <a:avLst/>
          </a:prstGeom>
          <a:noFill/>
          <a:ln w="0">
            <a:noFill/>
          </a:ln>
        </p:spPr>
        <p:style>
          <a:lnRef idx="0"/>
          <a:fillRef idx="0"/>
          <a:effectRef idx="0"/>
          <a:fontRef idx="minor"/>
        </p:style>
        <p:txBody>
          <a:bodyPr lIns="0" tIns="0" rIns="0" bIns="0" anchor="t">
            <a:normAutofit/>
          </a:bodyPr>
          <a:p>
            <a:pPr algn="ctr" defTabSz="914400">
              <a:lnSpc>
                <a:spcPts val="5040"/>
              </a:lnSpc>
              <a:tabLst>
                <a:tab pos="0" algn="l"/>
              </a:tabLst>
            </a:pPr>
            <a:r>
              <a:rPr lang="en-US" sz="3600" b="1" u="none" strike="noStrike">
                <a:solidFill>
                  <a:srgbClr val="FF2BD6"/>
                </a:solidFill>
                <a:effectLst/>
                <a:uFillTx/>
                <a:latin typeface="Space Grotesk"/>
                <a:ea typeface="Space Grotesk"/>
              </a:rPr>
              <a:t>=</a:t>
            </a:r>
            <a:endParaRPr lang="en-US" sz="3600" b="0" u="none" strike="noStrike">
              <a:solidFill>
                <a:srgbClr val="FFFFFF"/>
              </a:solidFill>
              <a:effectLst/>
              <a:uFillTx/>
              <a:latin typeface="Arial"/>
            </a:endParaRPr>
          </a:p>
        </p:txBody>
      </p:sp>
      <p:sp>
        <p:nvSpPr>
          <p:cNvPr id="533" name="Text 4"/>
          <p:cNvSpPr/>
          <p:nvPr/>
        </p:nvSpPr>
        <p:spPr>
          <a:xfrm>
            <a:off x="4943160" y="3240720"/>
            <a:ext cx="1574640" cy="793080"/>
          </a:xfrm>
          <a:prstGeom prst="roundRect">
            <a:avLst>
              <a:gd name="adj" fmla="val 18395"/>
            </a:avLst>
          </a:prstGeom>
          <a:solidFill>
            <a:srgbClr val="05070F"/>
          </a:solidFill>
          <a:ln w="12700">
            <a:solidFill>
              <a:srgbClr val="39FF9C"/>
            </a:solidFill>
            <a:round/>
          </a:ln>
          <a:effectLst>
            <a:outerShdw algn="bl" blurRad="228600" dir="0" dist="0" kx="0" ky="0" rotWithShape="0" sx="100000" sy="100000">
              <a:srgbClr val="39FF9C">
                <a:alpha val="35000"/>
              </a:srgbClr>
            </a:outerShdw>
          </a:effectLst>
        </p:spPr>
        <p:style>
          <a:lnRef idx="0"/>
          <a:fillRef idx="0"/>
          <a:effectRef idx="0"/>
          <a:fontRef idx="minor"/>
        </p:style>
        <p:txBody>
          <a:bodyPr wrap="none" lIns="0" tIns="0" rIns="0" bIns="0" anchor="ctr">
            <a:normAutofit/>
          </a:bodyPr>
          <a:p>
            <a:pPr algn="ctr" defTabSz="914400">
              <a:lnSpc>
                <a:spcPts val="2639"/>
              </a:lnSpc>
              <a:tabLst>
                <a:tab pos="0" algn="l"/>
              </a:tabLst>
            </a:pPr>
            <a:r>
              <a:rPr lang="en-US" sz="2200" b="1" u="none" strike="noStrike">
                <a:solidFill>
                  <a:srgbClr val="E8F7FF"/>
                </a:solidFill>
                <a:effectLst/>
                <a:uFillTx/>
                <a:latin typeface="Space Grotesk"/>
                <a:ea typeface="Space Grotesk"/>
              </a:rPr>
              <a:t>Correct</a:t>
            </a:r>
            <a:endParaRPr lang="en-US" sz="2200" b="0" u="none" strike="noStrike">
              <a:solidFill>
                <a:srgbClr val="FFFFFF"/>
              </a:solidFill>
              <a:effectLst/>
              <a:uFillTx/>
              <a:latin typeface="Arial"/>
            </a:endParaRPr>
          </a:p>
        </p:txBody>
      </p:sp>
      <p:sp>
        <p:nvSpPr>
          <p:cNvPr id="534" name="Text 5"/>
          <p:cNvSpPr/>
          <p:nvPr/>
        </p:nvSpPr>
        <p:spPr>
          <a:xfrm>
            <a:off x="6778800" y="3353400"/>
            <a:ext cx="3007800" cy="5936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8FA3C7"/>
                </a:solidFill>
                <a:effectLst/>
                <a:uFillTx/>
                <a:latin typeface="Space Grotesk"/>
                <a:ea typeface="Space Grotesk"/>
              </a:rPr>
              <a:t>...if every server it talked to was configured right.</a:t>
            </a:r>
            <a:endParaRPr lang="en-US" sz="1600" b="0" u="none" strike="noStrike">
              <a:solidFill>
                <a:srgbClr val="FFFFFF"/>
              </a:solidFill>
              <a:effectLst/>
              <a:uFillTx/>
              <a:latin typeface="Arial"/>
            </a:endParaRPr>
          </a:p>
        </p:txBody>
      </p:sp>
      <p:sp>
        <p:nvSpPr>
          <p:cNvPr id="535" name="Shape 6"/>
          <p:cNvSpPr/>
          <p:nvPr/>
        </p:nvSpPr>
        <p:spPr>
          <a:xfrm>
            <a:off x="2661840" y="4352400"/>
            <a:ext cx="1748160" cy="387000"/>
          </a:xfrm>
          <a:prstGeom prst="roundRect">
            <a:avLst>
              <a:gd name="adj" fmla="val 50000"/>
            </a:avLst>
          </a:prstGeom>
          <a:noFill/>
          <a:ln w="12700">
            <a:solidFill>
              <a:srgbClr val="FF2BD6"/>
            </a:solidFill>
            <a:round/>
          </a:ln>
          <a:effectLst>
            <a:outerShdw algn="bl" blurRad="15228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536" name="Text 7"/>
          <p:cNvSpPr/>
          <p:nvPr/>
        </p:nvSpPr>
        <p:spPr>
          <a:xfrm>
            <a:off x="2840400" y="4403880"/>
            <a:ext cx="1391040" cy="309240"/>
          </a:xfrm>
          <a:prstGeom prst="rect">
            <a:avLst/>
          </a:prstGeom>
          <a:noFill/>
          <a:ln w="0">
            <a:noFill/>
          </a:ln>
        </p:spPr>
        <p:style>
          <a:lnRef idx="0"/>
          <a:fillRef idx="0"/>
          <a:effectRef idx="0"/>
          <a:fontRef idx="minor"/>
        </p:style>
        <p:txBody>
          <a:bodyPr lIns="0" tIns="0" rIns="0" bIns="0" anchor="t">
            <a:normAutofit fontScale="92500" lnSpcReduction="9999"/>
          </a:bodyPr>
          <a:p>
            <a:pPr algn="ctr" defTabSz="914400">
              <a:lnSpc>
                <a:spcPts val="2239"/>
              </a:lnSpc>
              <a:tabLst>
                <a:tab pos="0" algn="l"/>
              </a:tabLst>
            </a:pPr>
            <a:r>
              <a:rPr lang="en-US" sz="1600" b="1" u="none" strike="noStrike">
                <a:solidFill>
                  <a:srgbClr val="FF2BD6"/>
                </a:solidFill>
                <a:effectLst/>
                <a:uFillTx/>
                <a:latin typeface="JetBrains Mono"/>
                <a:ea typeface="JetBrains Mono"/>
              </a:rPr>
              <a:t>UNVALIDATED</a:t>
            </a:r>
            <a:endParaRPr lang="en-US" sz="1600" b="0" u="none" strike="noStrike">
              <a:solidFill>
                <a:srgbClr val="FFFFFF"/>
              </a:solidFill>
              <a:effectLst/>
              <a:uFillTx/>
              <a:latin typeface="Arial"/>
            </a:endParaRPr>
          </a:p>
        </p:txBody>
      </p:sp>
      <p:sp>
        <p:nvSpPr>
          <p:cNvPr id="537" name="Text 8"/>
          <p:cNvSpPr/>
          <p:nvPr/>
        </p:nvSpPr>
        <p:spPr>
          <a:xfrm>
            <a:off x="4417200" y="4350600"/>
            <a:ext cx="5296320" cy="415800"/>
          </a:xfrm>
          <a:prstGeom prst="rect">
            <a:avLst/>
          </a:prstGeom>
          <a:noFill/>
          <a:ln w="0">
            <a:noFill/>
          </a:ln>
        </p:spPr>
        <p:style>
          <a:lnRef idx="0"/>
          <a:fillRef idx="0"/>
          <a:effectRef idx="0"/>
          <a:fontRef idx="minor"/>
        </p:style>
        <p:txBody>
          <a:bodyPr lIns="0" tIns="0" rIns="0" bIns="0" anchor="t">
            <a:normAutofit/>
          </a:bodyPr>
          <a:p>
            <a:pPr algn="ctr" defTabSz="914400">
              <a:lnSpc>
                <a:spcPts val="3081"/>
              </a:lnSpc>
              <a:tabLst>
                <a:tab pos="0" algn="l"/>
              </a:tabLst>
            </a:pPr>
            <a:r>
              <a:rPr lang="en-US" sz="2200" b="1" u="none" strike="noStrike">
                <a:solidFill>
                  <a:srgbClr val="E8F7FF"/>
                </a:solidFill>
                <a:effectLst/>
                <a:uFillTx/>
                <a:latin typeface="Space Grotesk"/>
                <a:ea typeface="Space Grotesk"/>
              </a:rPr>
              <a:t>No bad cert shown, no verdict given.</a:t>
            </a:r>
            <a:endParaRPr lang="en-US" sz="2200" b="0" u="none" strike="noStrike">
              <a:solidFill>
                <a:srgbClr val="FFFFFF"/>
              </a:solidFill>
              <a:effectLst/>
              <a:uFillTx/>
              <a:latin typeface="Arial"/>
            </a:endParaRPr>
          </a:p>
        </p:txBody>
      </p:sp>
      <p:sp>
        <p:nvSpPr>
          <p:cNvPr id="538" name="Text 9"/>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39" name="Text 10"/>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36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0" name="Image 0" descr="Neon wave background"/>
          <p:cNvPicPr/>
          <p:nvPr/>
        </p:nvPicPr>
        <p:blipFill>
          <a:blip r:embed="rId1"/>
          <a:stretch/>
        </p:blipFill>
        <p:spPr>
          <a:xfrm>
            <a:off x="0" y="0"/>
            <a:ext cx="12191400" cy="6857280"/>
          </a:xfrm>
          <a:prstGeom prst="rect">
            <a:avLst/>
          </a:prstGeom>
          <a:noFill/>
          <a:ln w="0">
            <a:noFill/>
          </a:ln>
        </p:spPr>
      </p:pic>
      <p:sp>
        <p:nvSpPr>
          <p:cNvPr id="541"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42"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37 / 51</a:t>
            </a:r>
            <a:endParaRPr lang="en-US" sz="1200" b="0" u="none" strike="noStrike">
              <a:solidFill>
                <a:srgbClr val="FFFFFF"/>
              </a:solidFill>
              <a:effectLst/>
              <a:uFillTx/>
              <a:latin typeface="Arial"/>
            </a:endParaRPr>
          </a:p>
        </p:txBody>
      </p:sp>
      <p:sp>
        <p:nvSpPr>
          <p:cNvPr id="543" name="TextBox 21"/>
          <p:cNvSpPr/>
          <p:nvPr/>
        </p:nvSpPr>
        <p:spPr>
          <a:xfrm>
            <a:off x="699840" y="699840"/>
            <a:ext cx="10791360" cy="6991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4400" b="1" u="none" strike="noStrike">
                <a:solidFill>
                  <a:srgbClr val="00F0FF"/>
                </a:solidFill>
                <a:effectLst/>
                <a:uFillTx/>
                <a:latin typeface="JetBrains Mono"/>
              </a:rPr>
              <a:t>03</a:t>
            </a:r>
            <a:endParaRPr lang="en-US" sz="4400" b="0" u="none" strike="noStrike">
              <a:solidFill>
                <a:srgbClr val="FFFFFF"/>
              </a:solidFill>
              <a:effectLst/>
              <a:uFillTx/>
              <a:latin typeface="Arial"/>
            </a:endParaRPr>
          </a:p>
        </p:txBody>
      </p:sp>
      <p:sp>
        <p:nvSpPr>
          <p:cNvPr id="544" name="TextBox 22"/>
          <p:cNvSpPr/>
          <p:nvPr/>
        </p:nvSpPr>
        <p:spPr>
          <a:xfrm>
            <a:off x="699840" y="145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200" b="0" u="none" strike="noStrike">
                <a:solidFill>
                  <a:srgbClr val="B07CFF"/>
                </a:solidFill>
                <a:effectLst/>
                <a:uFillTx/>
                <a:latin typeface="JetBrains Mono"/>
              </a:rPr>
              <a:t>PLANNING ONLY · NO DEVICE</a:t>
            </a:r>
            <a:endParaRPr lang="en-US" sz="1200" b="0" u="none" strike="noStrike">
              <a:solidFill>
                <a:srgbClr val="FFFFFF"/>
              </a:solidFill>
              <a:effectLst/>
              <a:uFillTx/>
              <a:latin typeface="Arial"/>
            </a:endParaRPr>
          </a:p>
        </p:txBody>
      </p:sp>
      <p:sp>
        <p:nvSpPr>
          <p:cNvPr id="545" name="TextBox 23"/>
          <p:cNvSpPr/>
          <p:nvPr/>
        </p:nvSpPr>
        <p:spPr>
          <a:xfrm>
            <a:off x="699840" y="1779840"/>
            <a:ext cx="10791360" cy="5994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400" b="1" u="none" strike="noStrike">
                <a:solidFill>
                  <a:srgbClr val="F2FFFF"/>
                </a:solidFill>
                <a:effectLst/>
                <a:uFillTx/>
                <a:latin typeface="Space Grotesk"/>
              </a:rPr>
              <a:t>A scanner PDF becomes a test plan</a:t>
            </a:r>
            <a:endParaRPr lang="en-US" sz="3400" b="0" u="none" strike="noStrike">
              <a:solidFill>
                <a:srgbClr val="FFFFFF"/>
              </a:solidFill>
              <a:effectLst/>
              <a:uFillTx/>
              <a:latin typeface="Arial"/>
            </a:endParaRPr>
          </a:p>
        </p:txBody>
      </p:sp>
      <p:sp>
        <p:nvSpPr>
          <p:cNvPr id="546" name="TextBox 24"/>
          <p:cNvSpPr/>
          <p:nvPr/>
        </p:nvSpPr>
        <p:spPr>
          <a:xfrm>
            <a:off x="900000" y="2999880"/>
            <a:ext cx="10391400" cy="3049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2000" b="0" u="none" strike="noStrike">
                <a:solidFill>
                  <a:srgbClr val="6F82A8"/>
                </a:solidFill>
                <a:effectLst/>
                <a:uFillTx/>
                <a:latin typeface="Space Grotesk"/>
              </a:rPr>
              <a:t>A real 16-page scanner report, 45 claims, 32 read only model calls. It produces a plan..</a:t>
            </a:r>
            <a:endParaRPr lang="en-US"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7" name="Image 0" descr="Neon wave background"/>
          <p:cNvPicPr/>
          <p:nvPr/>
        </p:nvPicPr>
        <p:blipFill>
          <a:blip r:embed="rId1"/>
          <a:stretch/>
        </p:blipFill>
        <p:spPr>
          <a:xfrm>
            <a:off x="0" y="0"/>
            <a:ext cx="12191400" cy="6857280"/>
          </a:xfrm>
          <a:prstGeom prst="rect">
            <a:avLst/>
          </a:prstGeom>
          <a:noFill/>
          <a:ln w="0">
            <a:noFill/>
          </a:ln>
        </p:spPr>
      </p:pic>
      <p:sp>
        <p:nvSpPr>
          <p:cNvPr id="548"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49"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38 / 51</a:t>
            </a:r>
            <a:endParaRPr lang="en-US" sz="1200" b="0" u="none" strike="noStrike">
              <a:solidFill>
                <a:srgbClr val="FFFFFF"/>
              </a:solidFill>
              <a:effectLst/>
              <a:uFillTx/>
              <a:latin typeface="Arial"/>
            </a:endParaRPr>
          </a:p>
        </p:txBody>
      </p:sp>
      <p:sp>
        <p:nvSpPr>
          <p:cNvPr id="550"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cat master-plan.md</a:t>
            </a:r>
            <a:endParaRPr lang="en-US" sz="1300" b="0" u="none" strike="noStrike">
              <a:solidFill>
                <a:srgbClr val="FFFFFF"/>
              </a:solidFill>
              <a:effectLst/>
              <a:uFillTx/>
              <a:latin typeface="Arial"/>
            </a:endParaRPr>
          </a:p>
        </p:txBody>
      </p:sp>
      <p:sp>
        <p:nvSpPr>
          <p:cNvPr id="551"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One plan entry, from a real 45-item report</a:t>
            </a:r>
            <a:endParaRPr lang="en-US" sz="3200" b="0" u="none" strike="noStrike">
              <a:solidFill>
                <a:srgbClr val="FFFFFF"/>
              </a:solidFill>
              <a:effectLst/>
              <a:uFillTx/>
              <a:latin typeface="Arial"/>
            </a:endParaRPr>
          </a:p>
        </p:txBody>
      </p:sp>
      <p:sp>
        <p:nvSpPr>
          <p:cNvPr id="552" name="Rounded Rectangle 23"/>
          <p:cNvSpPr/>
          <p:nvPr/>
        </p:nvSpPr>
        <p:spPr>
          <a:xfrm>
            <a:off x="735840" y="1550160"/>
            <a:ext cx="10799280" cy="3249360"/>
          </a:xfrm>
          <a:prstGeom prst="roundRect">
            <a:avLst>
              <a:gd name="adj" fmla="val 6000"/>
            </a:avLst>
          </a:prstGeom>
          <a:solidFill>
            <a:srgbClr val="05070F"/>
          </a:solidFill>
          <a:ln w="12700">
            <a:solidFill>
              <a:srgbClr val="B07C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600" b="0" u="none" strike="noStrike">
                <a:solidFill>
                  <a:srgbClr val="E8F7FF"/>
                </a:solidFill>
                <a:effectLst/>
                <a:uFillTx/>
                <a:latin typeface="JetBrains Mono"/>
              </a:rPr>
              <a:t>Planning only. PDF assertions are not runtime vulnerability verdicts.</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Counts: confirmed_items 45 · plans 45 · inference_calls 32 · pages_read 16 · rejected 0</a:t>
            </a:r>
            <a:endParaRPr lang="en-US" sz="1600" b="0" u="none" strike="noStrike">
              <a:solidFill>
                <a:srgbClr val="FFFFFF"/>
              </a:solidFill>
              <a:effectLst/>
              <a:uFillTx/>
              <a:latin typeface="Arial"/>
            </a:endParaRPr>
          </a:p>
          <a:p>
            <a:pPr defTabSz="914400">
              <a:lnSpc>
                <a:spcPct val="100000"/>
              </a:lnSpc>
            </a:pP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 Google Tag Manager</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PDF claim: The report lists Google Tag Manager as an analytics tracker.</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Behavior to test: check tracker detection for this named tracker.</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Confirmation: PDF=True; source=False; runtime=False</a:t>
            </a:r>
            <a:endParaRPr lang="en-US" sz="1600" b="0" u="none" strike="noStrike">
              <a:solidFill>
                <a:srgbClr val="FFFFFF"/>
              </a:solidFill>
              <a:effectLst/>
              <a:uFillTx/>
              <a:latin typeface="Arial"/>
            </a:endParaRPr>
          </a:p>
          <a:p>
            <a:pPr defTabSz="914400">
              <a:lnSpc>
                <a:spcPct val="100000"/>
              </a:lnSpc>
            </a:pPr>
            <a:r>
              <a:rPr lang="en-US" sz="1600" b="0" u="none" strike="noStrike">
                <a:solidFill>
                  <a:srgbClr val="E8F7FF"/>
                </a:solidFill>
                <a:effectLst/>
                <a:uFillTx/>
                <a:latin typeface="JetBrains Mono"/>
              </a:rPr>
              <a:t>Evidence: PDF page 12, extracted lines 21-23</a:t>
            </a:r>
            <a:endParaRPr lang="en-US" sz="1600" b="0" u="none" strike="noStrike">
              <a:solidFill>
                <a:srgbClr val="FFFFFF"/>
              </a:solidFill>
              <a:effectLst/>
              <a:uFillTx/>
              <a:latin typeface="Arial"/>
            </a:endParaRPr>
          </a:p>
        </p:txBody>
      </p:sp>
      <p:sp>
        <p:nvSpPr>
          <p:cNvPr id="553" name="TextBox 24"/>
          <p:cNvSpPr/>
          <p:nvPr/>
        </p:nvSpPr>
        <p:spPr>
          <a:xfrm>
            <a:off x="900000" y="4880160"/>
            <a:ext cx="10391400" cy="419400"/>
          </a:xfrm>
          <a:prstGeom prst="rect">
            <a:avLst/>
          </a:prstGeom>
          <a:noFill/>
          <a:ln w="0">
            <a:noFill/>
          </a:ln>
        </p:spPr>
        <p:style>
          <a:lnRef idx="0"/>
          <a:fillRef idx="0"/>
          <a:effectRef idx="0"/>
          <a:fontRef idx="minor"/>
        </p:style>
        <p:txBody>
          <a:bodyPr lIns="0" tIns="0" rIns="0" bIns="0" anchor="t">
            <a:sp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4" name="Image 0" descr="Neon wave background"/>
          <p:cNvPicPr/>
          <p:nvPr/>
        </p:nvPicPr>
        <p:blipFill>
          <a:blip r:embed="rId1"/>
          <a:stretch/>
        </p:blipFill>
        <p:spPr>
          <a:xfrm>
            <a:off x="276840" y="239400"/>
            <a:ext cx="12191400" cy="6857280"/>
          </a:xfrm>
          <a:prstGeom prst="rect">
            <a:avLst/>
          </a:prstGeom>
          <a:noFill/>
          <a:ln w="0">
            <a:noFill/>
          </a:ln>
        </p:spPr>
      </p:pic>
      <p:sp>
        <p:nvSpPr>
          <p:cNvPr id="555" name="Shape 10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56" name="Shape 10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en-US" sz="1200" b="0" u="none" strike="noStrike">
                <a:solidFill>
                  <a:srgbClr val="6F82A8"/>
                </a:solidFill>
                <a:effectLst/>
                <a:uFillTx/>
                <a:latin typeface="JetBrains Mono"/>
                <a:ea typeface="JetBrains Mono"/>
              </a:rPr>
              <a:t>39 / 51</a:t>
            </a:r>
            <a:endParaRPr lang="en-US" sz="1200" b="0" u="none" strike="noStrike">
              <a:solidFill>
                <a:srgbClr val="FFFFFF"/>
              </a:solidFill>
              <a:effectLst/>
              <a:uFillTx/>
              <a:latin typeface="Arial"/>
            </a:endParaRPr>
          </a:p>
        </p:txBody>
      </p:sp>
      <p:sp>
        <p:nvSpPr>
          <p:cNvPr id="557" name="Shape 109"/>
          <p:cNvSpPr/>
          <p:nvPr/>
        </p:nvSpPr>
        <p:spPr>
          <a:xfrm>
            <a:off x="1199880" y="971640"/>
            <a:ext cx="9791280" cy="220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rgbClr val="B07CFF"/>
                </a:solidFill>
                <a:effectLst/>
                <a:uFillTx/>
                <a:latin typeface="JetBrains Mono"/>
                <a:ea typeface="JetBrains Mono"/>
              </a:rPr>
              <a:t>$ ls examples/run-57ea…/</a:t>
            </a:r>
            <a:endParaRPr lang="en-US" sz="1100" b="0" u="none" strike="noStrike">
              <a:solidFill>
                <a:srgbClr val="FFFFFF"/>
              </a:solidFill>
              <a:effectLst/>
              <a:uFillTx/>
              <a:latin typeface="Arial"/>
            </a:endParaRPr>
          </a:p>
        </p:txBody>
      </p:sp>
      <p:sp>
        <p:nvSpPr>
          <p:cNvPr id="558" name="PlaceHolder 1"/>
          <p:cNvSpPr>
            <a:spLocks noGrp="1"/>
          </p:cNvSpPr>
          <p:nvPr>
            <p:ph type="title"/>
          </p:nvPr>
        </p:nvSpPr>
        <p:spPr>
          <a:xfrm>
            <a:off x="1199880" y="1329840"/>
            <a:ext cx="9791280" cy="479160"/>
          </a:xfrm>
          <a:prstGeom prst="rect">
            <a:avLst/>
          </a:prstGeom>
          <a:noFill/>
          <a:ln w="0">
            <a:noFill/>
          </a:ln>
        </p:spPr>
        <p:txBody>
          <a:bodyPr lIns="0" tIns="0" rIns="0" bIns="0" anchor="t">
            <a:noAutofit/>
          </a:bodyPr>
          <a:p>
            <a:pPr indent="0" algn="ctr" defTabSz="914400">
              <a:lnSpc>
                <a:spcPts val="3300"/>
              </a:lnSpc>
              <a:buNone/>
              <a:tabLst>
                <a:tab pos="0" algn="l"/>
              </a:tabLst>
            </a:pPr>
            <a:r>
              <a:rPr lang="en-US" sz="3000" b="1" u="none" strike="noStrike">
                <a:solidFill>
                  <a:srgbClr val="F2FFFF"/>
                </a:solidFill>
                <a:effectLst/>
                <a:uFillTx/>
                <a:latin typeface="Space Grotesk"/>
                <a:ea typeface="Space Grotesk"/>
              </a:rPr>
              <a:t>Five agents, one planner</a:t>
            </a:r>
            <a:endParaRPr lang="en-US" sz="3000" b="0" u="none" strike="noStrike">
              <a:solidFill>
                <a:schemeClr val="lt1"/>
              </a:solidFill>
              <a:effectLst/>
              <a:uFillTx/>
              <a:latin typeface="JetBrains Mono"/>
            </a:endParaRPr>
          </a:p>
        </p:txBody>
      </p:sp>
      <p:sp>
        <p:nvSpPr>
          <p:cNvPr id="559" name="Shape 101"/>
          <p:cNvSpPr/>
          <p:nvPr/>
        </p:nvSpPr>
        <p:spPr>
          <a:xfrm>
            <a:off x="699840" y="2149920"/>
            <a:ext cx="2079360" cy="189936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40040" tIns="140040" rIns="140040" bIns="140040" anchor="t">
            <a:noAutofit/>
          </a:bodyPr>
          <a:p>
            <a:pPr defTabSz="914400">
              <a:lnSpc>
                <a:spcPts val="1500"/>
              </a:lnSpc>
              <a:tabLst>
                <a:tab pos="0" algn="l"/>
              </a:tabLst>
            </a:pPr>
            <a:r>
              <a:rPr lang="en-US" sz="1100" b="0" u="none" strike="noStrike">
                <a:solidFill>
                  <a:srgbClr val="00F0FF"/>
                </a:solidFill>
                <a:effectLst/>
                <a:uFillTx/>
                <a:latin typeface="JetBrains Mono"/>
                <a:ea typeface="JetBrains Mono"/>
              </a:rPr>
              <a:t>01</a:t>
            </a:r>
            <a:endParaRPr lang="en-US" sz="1100" b="0" u="none" strike="noStrike">
              <a:solidFill>
                <a:srgbClr val="FFFFFF"/>
              </a:solidFill>
              <a:effectLst/>
              <a:uFillTx/>
              <a:latin typeface="Arial"/>
            </a:endParaRPr>
          </a:p>
          <a:p>
            <a:pPr defTabSz="914400">
              <a:lnSpc>
                <a:spcPts val="2001"/>
              </a:lnSpc>
              <a:tabLst>
                <a:tab pos="0" algn="l"/>
              </a:tabLst>
            </a:pPr>
            <a:r>
              <a:rPr lang="en-US" sz="1500" b="1" u="none" strike="noStrike">
                <a:solidFill>
                  <a:srgbClr val="F2FFFF"/>
                </a:solidFill>
                <a:effectLst/>
                <a:uFillTx/>
                <a:latin typeface="Space Grotesk"/>
                <a:ea typeface="Space Grotesk"/>
              </a:rPr>
              <a:t>report-reader</a:t>
            </a:r>
            <a:endParaRPr lang="en-US" sz="15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6F82A8"/>
                </a:solidFill>
                <a:effectLst/>
                <a:uFillTx/>
                <a:latin typeface="JetBrains Mono"/>
                <a:ea typeface="JetBrains Mono"/>
              </a:rPr>
              <a:t>reads the scanner PDF</a:t>
            </a:r>
            <a:endParaRPr lang="en-US" sz="1100" b="0" u="none" strike="noStrike">
              <a:solidFill>
                <a:srgbClr val="FFFFFF"/>
              </a:solidFill>
              <a:effectLst/>
              <a:uFillTx/>
              <a:latin typeface="Arial"/>
            </a:endParaRPr>
          </a:p>
          <a:p>
            <a:pPr defTabSz="914400">
              <a:lnSpc>
                <a:spcPts val="901"/>
              </a:lnSpc>
              <a:tabLst>
                <a:tab pos="0" algn="l"/>
              </a:tabLst>
            </a:pPr>
            <a:endParaRPr lang="en-US" sz="6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pages → 45 claims</a:t>
            </a:r>
            <a:endParaRPr lang="en-US" sz="1100" b="0" u="none" strike="noStrike">
              <a:solidFill>
                <a:srgbClr val="FFFFFF"/>
              </a:solidFill>
              <a:effectLst/>
              <a:uFillTx/>
              <a:latin typeface="Arial"/>
            </a:endParaRPr>
          </a:p>
          <a:p>
            <a:pPr defTabSz="914400">
              <a:lnSpc>
                <a:spcPts val="2001"/>
              </a:lnSpc>
              <a:tabLst>
                <a:tab pos="0" algn="l"/>
              </a:tabLst>
            </a:pPr>
            <a:r>
              <a:rPr lang="en-US" sz="1400" b="1" u="none" strike="noStrike">
                <a:solidFill>
                  <a:srgbClr val="00F0FF"/>
                </a:solidFill>
                <a:effectLst/>
                <a:uFillTx/>
                <a:latin typeface="JetBrains Mono"/>
                <a:ea typeface="JetBrains Mono"/>
              </a:rPr>
              <a:t>5 calls</a:t>
            </a:r>
            <a:endParaRPr lang="en-US" sz="1400" b="0" u="none" strike="noStrike">
              <a:solidFill>
                <a:srgbClr val="FFFFFF"/>
              </a:solidFill>
              <a:effectLst/>
              <a:uFillTx/>
              <a:latin typeface="Arial"/>
            </a:endParaRPr>
          </a:p>
        </p:txBody>
      </p:sp>
      <p:sp>
        <p:nvSpPr>
          <p:cNvPr id="560" name="Shape 102"/>
          <p:cNvSpPr/>
          <p:nvPr/>
        </p:nvSpPr>
        <p:spPr>
          <a:xfrm>
            <a:off x="2909880" y="2149920"/>
            <a:ext cx="2079360" cy="189936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40040" tIns="140040" rIns="140040" bIns="140040" anchor="t">
            <a:noAutofit/>
          </a:bodyPr>
          <a:p>
            <a:pPr defTabSz="914400">
              <a:lnSpc>
                <a:spcPts val="1500"/>
              </a:lnSpc>
              <a:tabLst>
                <a:tab pos="0" algn="l"/>
              </a:tabLst>
            </a:pPr>
            <a:r>
              <a:rPr lang="en-US" sz="1100" b="0" u="none" strike="noStrike">
                <a:solidFill>
                  <a:srgbClr val="00F0FF"/>
                </a:solidFill>
                <a:effectLst/>
                <a:uFillTx/>
                <a:latin typeface="JetBrains Mono"/>
                <a:ea typeface="JetBrains Mono"/>
              </a:rPr>
              <a:t>02</a:t>
            </a:r>
            <a:endParaRPr lang="en-US" sz="1100" b="0" u="none" strike="noStrike">
              <a:solidFill>
                <a:srgbClr val="FFFFFF"/>
              </a:solidFill>
              <a:effectLst/>
              <a:uFillTx/>
              <a:latin typeface="Arial"/>
            </a:endParaRPr>
          </a:p>
          <a:p>
            <a:pPr defTabSz="914400">
              <a:lnSpc>
                <a:spcPts val="2001"/>
              </a:lnSpc>
              <a:tabLst>
                <a:tab pos="0" algn="l"/>
              </a:tabLst>
            </a:pPr>
            <a:r>
              <a:rPr lang="en-US" sz="1500" b="1" u="none" strike="noStrike">
                <a:solidFill>
                  <a:srgbClr val="F2FFFF"/>
                </a:solidFill>
                <a:effectLst/>
                <a:uFillTx/>
                <a:latin typeface="Space Grotesk"/>
                <a:ea typeface="Space Grotesk"/>
              </a:rPr>
              <a:t>source-reader</a:t>
            </a:r>
            <a:endParaRPr lang="en-US" sz="15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6F82A8"/>
                </a:solidFill>
                <a:effectLst/>
                <a:uFillTx/>
                <a:latin typeface="JetBrains Mono"/>
                <a:ea typeface="JetBrains Mono"/>
              </a:rPr>
              <a:t>reads decompiled source</a:t>
            </a:r>
            <a:endParaRPr lang="en-US" sz="1100" b="0" u="none" strike="noStrike">
              <a:solidFill>
                <a:srgbClr val="FFFFFF"/>
              </a:solidFill>
              <a:effectLst/>
              <a:uFillTx/>
              <a:latin typeface="Arial"/>
            </a:endParaRPr>
          </a:p>
          <a:p>
            <a:pPr defTabSz="914400">
              <a:lnSpc>
                <a:spcPts val="901"/>
              </a:lnSpc>
              <a:tabLst>
                <a:tab pos="0" algn="l"/>
              </a:tabLst>
            </a:pPr>
            <a:endParaRPr lang="en-US" sz="6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finds the method</a:t>
            </a:r>
            <a:endParaRPr lang="en-US" sz="1100" b="0" u="none" strike="noStrike">
              <a:solidFill>
                <a:srgbClr val="FFFFFF"/>
              </a:solidFill>
              <a:effectLst/>
              <a:uFillTx/>
              <a:latin typeface="Arial"/>
            </a:endParaRPr>
          </a:p>
          <a:p>
            <a:pPr defTabSz="914400">
              <a:lnSpc>
                <a:spcPts val="2001"/>
              </a:lnSpc>
              <a:tabLst>
                <a:tab pos="0" algn="l"/>
              </a:tabLst>
            </a:pPr>
            <a:r>
              <a:rPr lang="en-US" sz="1400" b="1" u="none" strike="noStrike">
                <a:solidFill>
                  <a:srgbClr val="00F0FF"/>
                </a:solidFill>
                <a:effectLst/>
                <a:uFillTx/>
                <a:latin typeface="JetBrains Mono"/>
                <a:ea typeface="JetBrains Mono"/>
              </a:rPr>
              <a:t>1 call</a:t>
            </a:r>
            <a:endParaRPr lang="en-US" sz="1400" b="0" u="none" strike="noStrike">
              <a:solidFill>
                <a:srgbClr val="FFFFFF"/>
              </a:solidFill>
              <a:effectLst/>
              <a:uFillTx/>
              <a:latin typeface="Arial"/>
            </a:endParaRPr>
          </a:p>
        </p:txBody>
      </p:sp>
      <p:sp>
        <p:nvSpPr>
          <p:cNvPr id="561" name="Shape 103"/>
          <p:cNvSpPr/>
          <p:nvPr/>
        </p:nvSpPr>
        <p:spPr>
          <a:xfrm>
            <a:off x="5119920" y="2149920"/>
            <a:ext cx="2079360" cy="189936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40040" tIns="140040" rIns="140040" bIns="140040" anchor="t">
            <a:noAutofit/>
          </a:bodyPr>
          <a:p>
            <a:pPr defTabSz="914400">
              <a:lnSpc>
                <a:spcPts val="1500"/>
              </a:lnSpc>
              <a:tabLst>
                <a:tab pos="0" algn="l"/>
              </a:tabLst>
            </a:pPr>
            <a:r>
              <a:rPr lang="en-US" sz="1100" b="0" u="none" strike="noStrike">
                <a:solidFill>
                  <a:srgbClr val="00F0FF"/>
                </a:solidFill>
                <a:effectLst/>
                <a:uFillTx/>
                <a:latin typeface="JetBrains Mono"/>
                <a:ea typeface="JetBrains Mono"/>
              </a:rPr>
              <a:t>03</a:t>
            </a:r>
            <a:endParaRPr lang="en-US" sz="1100" b="0" u="none" strike="noStrike">
              <a:solidFill>
                <a:srgbClr val="FFFFFF"/>
              </a:solidFill>
              <a:effectLst/>
              <a:uFillTx/>
              <a:latin typeface="Arial"/>
            </a:endParaRPr>
          </a:p>
          <a:p>
            <a:pPr defTabSz="914400">
              <a:lnSpc>
                <a:spcPts val="2001"/>
              </a:lnSpc>
              <a:tabLst>
                <a:tab pos="0" algn="l"/>
              </a:tabLst>
            </a:pPr>
            <a:r>
              <a:rPr lang="en-US" sz="1500" b="1" u="none" strike="noStrike">
                <a:solidFill>
                  <a:srgbClr val="F2FFFF"/>
                </a:solidFill>
                <a:effectLst/>
                <a:uFillTx/>
                <a:latin typeface="Space Grotesk"/>
                <a:ea typeface="Space Grotesk"/>
              </a:rPr>
              <a:t>target-validator</a:t>
            </a:r>
            <a:endParaRPr lang="en-US" sz="15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6F82A8"/>
                </a:solidFill>
                <a:effectLst/>
                <a:uFillTx/>
                <a:latin typeface="JetBrains Mono"/>
                <a:ea typeface="JetBrains Mono"/>
              </a:rPr>
              <a:t>is the target real?</a:t>
            </a:r>
            <a:endParaRPr lang="en-US" sz="1100" b="0" u="none" strike="noStrike">
              <a:solidFill>
                <a:srgbClr val="FFFFFF"/>
              </a:solidFill>
              <a:effectLst/>
              <a:uFillTx/>
              <a:latin typeface="Arial"/>
            </a:endParaRPr>
          </a:p>
          <a:p>
            <a:pPr defTabSz="914400">
              <a:lnSpc>
                <a:spcPts val="901"/>
              </a:lnSpc>
              <a:tabLst>
                <a:tab pos="0" algn="l"/>
              </a:tabLst>
            </a:pPr>
            <a:endParaRPr lang="en-US" sz="6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class · method · overload</a:t>
            </a:r>
            <a:endParaRPr lang="en-US" sz="1100" b="0" u="none" strike="noStrike">
              <a:solidFill>
                <a:srgbClr val="FFFFFF"/>
              </a:solidFill>
              <a:effectLst/>
              <a:uFillTx/>
              <a:latin typeface="Arial"/>
            </a:endParaRPr>
          </a:p>
          <a:p>
            <a:pPr defTabSz="914400">
              <a:lnSpc>
                <a:spcPts val="2001"/>
              </a:lnSpc>
              <a:tabLst>
                <a:tab pos="0" algn="l"/>
              </a:tabLst>
            </a:pPr>
            <a:r>
              <a:rPr lang="en-US" sz="1400" b="1" u="none" strike="noStrike">
                <a:solidFill>
                  <a:srgbClr val="00F0FF"/>
                </a:solidFill>
                <a:effectLst/>
                <a:uFillTx/>
                <a:latin typeface="JetBrains Mono"/>
                <a:ea typeface="JetBrains Mono"/>
              </a:rPr>
              <a:t>7 calls</a:t>
            </a:r>
            <a:endParaRPr lang="en-US" sz="1400" b="0" u="none" strike="noStrike">
              <a:solidFill>
                <a:srgbClr val="FFFFFF"/>
              </a:solidFill>
              <a:effectLst/>
              <a:uFillTx/>
              <a:latin typeface="Arial"/>
            </a:endParaRPr>
          </a:p>
        </p:txBody>
      </p:sp>
      <p:sp>
        <p:nvSpPr>
          <p:cNvPr id="562" name="Shape 104"/>
          <p:cNvSpPr/>
          <p:nvPr/>
        </p:nvSpPr>
        <p:spPr>
          <a:xfrm>
            <a:off x="7329960" y="2149920"/>
            <a:ext cx="2079360" cy="1899360"/>
          </a:xfrm>
          <a:prstGeom prst="roundRect">
            <a:avLst>
              <a:gd name="adj" fmla="val 8000"/>
            </a:avLst>
          </a:prstGeom>
          <a:solidFill>
            <a:srgbClr val="05070F"/>
          </a:solidFill>
          <a:ln w="12700">
            <a:solidFill>
              <a:srgbClr val="B07CFF"/>
            </a:solidFill>
            <a:round/>
          </a:ln>
        </p:spPr>
        <p:style>
          <a:lnRef idx="0"/>
          <a:fillRef idx="0"/>
          <a:effectRef idx="0"/>
          <a:fontRef idx="minor"/>
        </p:style>
        <p:txBody>
          <a:bodyPr lIns="140040" tIns="140040" rIns="140040" bIns="140040" anchor="t">
            <a:noAutofit/>
          </a:bodyPr>
          <a:p>
            <a:pPr defTabSz="914400">
              <a:lnSpc>
                <a:spcPts val="1500"/>
              </a:lnSpc>
              <a:tabLst>
                <a:tab pos="0" algn="l"/>
              </a:tabLst>
            </a:pPr>
            <a:r>
              <a:rPr lang="en-US" sz="1100" b="0" u="none" strike="noStrike">
                <a:solidFill>
                  <a:srgbClr val="B07CFF"/>
                </a:solidFill>
                <a:effectLst/>
                <a:uFillTx/>
                <a:latin typeface="JetBrains Mono"/>
                <a:ea typeface="JetBrains Mono"/>
              </a:rPr>
              <a:t>04</a:t>
            </a:r>
            <a:endParaRPr lang="en-US" sz="1100" b="0" u="none" strike="noStrike">
              <a:solidFill>
                <a:srgbClr val="FFFFFF"/>
              </a:solidFill>
              <a:effectLst/>
              <a:uFillTx/>
              <a:latin typeface="Arial"/>
            </a:endParaRPr>
          </a:p>
          <a:p>
            <a:pPr defTabSz="914400">
              <a:lnSpc>
                <a:spcPts val="2001"/>
              </a:lnSpc>
              <a:tabLst>
                <a:tab pos="0" algn="l"/>
              </a:tabLst>
            </a:pPr>
            <a:r>
              <a:rPr lang="en-US" sz="1500" b="1" u="none" strike="noStrike">
                <a:solidFill>
                  <a:srgbClr val="F2FFFF"/>
                </a:solidFill>
                <a:effectLst/>
                <a:uFillTx/>
                <a:latin typeface="Space Grotesk"/>
                <a:ea typeface="Space Grotesk"/>
              </a:rPr>
              <a:t>master-planner</a:t>
            </a:r>
            <a:endParaRPr lang="en-US" sz="15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6F82A8"/>
                </a:solidFill>
                <a:effectLst/>
                <a:uFillTx/>
                <a:latin typeface="JetBrains Mono"/>
                <a:ea typeface="JetBrains Mono"/>
              </a:rPr>
              <a:t>builds the plan</a:t>
            </a:r>
            <a:endParaRPr lang="en-US" sz="1100" b="0" u="none" strike="noStrike">
              <a:solidFill>
                <a:srgbClr val="FFFFFF"/>
              </a:solidFill>
              <a:effectLst/>
              <a:uFillTx/>
              <a:latin typeface="Arial"/>
            </a:endParaRPr>
          </a:p>
          <a:p>
            <a:pPr defTabSz="914400">
              <a:lnSpc>
                <a:spcPts val="901"/>
              </a:lnSpc>
              <a:tabLst>
                <a:tab pos="0" algn="l"/>
              </a:tabLst>
            </a:pPr>
            <a:endParaRPr lang="en-US" sz="6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one plan per item</a:t>
            </a:r>
            <a:endParaRPr lang="en-US" sz="1100" b="0" u="none" strike="noStrike">
              <a:solidFill>
                <a:srgbClr val="FFFFFF"/>
              </a:solidFill>
              <a:effectLst/>
              <a:uFillTx/>
              <a:latin typeface="Arial"/>
            </a:endParaRPr>
          </a:p>
          <a:p>
            <a:pPr defTabSz="914400">
              <a:lnSpc>
                <a:spcPts val="2001"/>
              </a:lnSpc>
              <a:tabLst>
                <a:tab pos="0" algn="l"/>
              </a:tabLst>
            </a:pPr>
            <a:r>
              <a:rPr lang="en-US" sz="1400" b="1" u="none" strike="noStrike">
                <a:solidFill>
                  <a:srgbClr val="B07CFF"/>
                </a:solidFill>
                <a:effectLst/>
                <a:uFillTx/>
                <a:latin typeface="JetBrains Mono"/>
                <a:ea typeface="JetBrains Mono"/>
              </a:rPr>
              <a:t>12 calls</a:t>
            </a:r>
            <a:endParaRPr lang="en-US" sz="1400" b="0" u="none" strike="noStrike">
              <a:solidFill>
                <a:srgbClr val="FFFFFF"/>
              </a:solidFill>
              <a:effectLst/>
              <a:uFillTx/>
              <a:latin typeface="Arial"/>
            </a:endParaRPr>
          </a:p>
        </p:txBody>
      </p:sp>
      <p:sp>
        <p:nvSpPr>
          <p:cNvPr id="563" name="Shape 105"/>
          <p:cNvSpPr/>
          <p:nvPr/>
        </p:nvSpPr>
        <p:spPr>
          <a:xfrm>
            <a:off x="9540000" y="2149920"/>
            <a:ext cx="2079360" cy="189936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40040" tIns="140040" rIns="140040" bIns="140040" anchor="t">
            <a:noAutofit/>
          </a:bodyPr>
          <a:p>
            <a:pPr defTabSz="914400">
              <a:lnSpc>
                <a:spcPts val="1500"/>
              </a:lnSpc>
              <a:tabLst>
                <a:tab pos="0" algn="l"/>
              </a:tabLst>
            </a:pPr>
            <a:r>
              <a:rPr lang="en-US" sz="1100" b="0" u="none" strike="noStrike">
                <a:solidFill>
                  <a:srgbClr val="00F0FF"/>
                </a:solidFill>
                <a:effectLst/>
                <a:uFillTx/>
                <a:latin typeface="JetBrains Mono"/>
                <a:ea typeface="JetBrains Mono"/>
              </a:rPr>
              <a:t>05</a:t>
            </a:r>
            <a:endParaRPr lang="en-US" sz="1100" b="0" u="none" strike="noStrike">
              <a:solidFill>
                <a:srgbClr val="FFFFFF"/>
              </a:solidFill>
              <a:effectLst/>
              <a:uFillTx/>
              <a:latin typeface="Arial"/>
            </a:endParaRPr>
          </a:p>
          <a:p>
            <a:pPr defTabSz="914400">
              <a:lnSpc>
                <a:spcPts val="2001"/>
              </a:lnSpc>
              <a:tabLst>
                <a:tab pos="0" algn="l"/>
              </a:tabLst>
            </a:pPr>
            <a:r>
              <a:rPr lang="en-US" sz="1500" b="1" u="none" strike="noStrike">
                <a:solidFill>
                  <a:srgbClr val="F2FFFF"/>
                </a:solidFill>
                <a:effectLst/>
                <a:uFillTx/>
                <a:latin typeface="Space Grotesk"/>
                <a:ea typeface="Space Grotesk"/>
              </a:rPr>
              <a:t>evidence-reviewer</a:t>
            </a:r>
            <a:endParaRPr lang="en-US" sz="15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6F82A8"/>
                </a:solidFill>
                <a:effectLst/>
                <a:uFillTx/>
                <a:latin typeface="JetBrains Mono"/>
                <a:ea typeface="JetBrains Mono"/>
              </a:rPr>
              <a:t>independent second look</a:t>
            </a:r>
            <a:endParaRPr lang="en-US" sz="1100" b="0" u="none" strike="noStrike">
              <a:solidFill>
                <a:srgbClr val="FFFFFF"/>
              </a:solidFill>
              <a:effectLst/>
              <a:uFillTx/>
              <a:latin typeface="Arial"/>
            </a:endParaRPr>
          </a:p>
          <a:p>
            <a:pPr defTabSz="914400">
              <a:lnSpc>
                <a:spcPts val="901"/>
              </a:lnSpc>
              <a:tabLst>
                <a:tab pos="0" algn="l"/>
              </a:tabLst>
            </a:pPr>
            <a:endParaRPr lang="en-US" sz="600" b="0" u="none" strike="noStrike">
              <a:solidFill>
                <a:srgbClr val="FFFFFF"/>
              </a:solidFill>
              <a:effectLst/>
              <a:uFillTx/>
              <a:latin typeface="Arial"/>
            </a:endParaRPr>
          </a:p>
          <a:p>
            <a:pPr defTabSz="914400">
              <a:lnSpc>
                <a:spcPts val="1599"/>
              </a:lnSpc>
              <a:tabLst>
                <a:tab pos="0" algn="l"/>
              </a:tabLst>
            </a:pPr>
            <a:r>
              <a:rPr lang="en-US" sz="1100" b="0" u="none" strike="noStrike">
                <a:solidFill>
                  <a:srgbClr val="F2FFFF"/>
                </a:solidFill>
                <a:effectLst/>
                <a:uFillTx/>
                <a:latin typeface="JetBrains Mono"/>
                <a:ea typeface="JetBrains Mono"/>
              </a:rPr>
              <a:t>reviews, never writes</a:t>
            </a:r>
            <a:endParaRPr lang="en-US" sz="1100" b="0" u="none" strike="noStrike">
              <a:solidFill>
                <a:srgbClr val="FFFFFF"/>
              </a:solidFill>
              <a:effectLst/>
              <a:uFillTx/>
              <a:latin typeface="Arial"/>
            </a:endParaRPr>
          </a:p>
          <a:p>
            <a:pPr defTabSz="914400">
              <a:lnSpc>
                <a:spcPts val="2001"/>
              </a:lnSpc>
              <a:tabLst>
                <a:tab pos="0" algn="l"/>
              </a:tabLst>
            </a:pPr>
            <a:r>
              <a:rPr lang="en-US" sz="1400" b="1" u="none" strike="noStrike">
                <a:solidFill>
                  <a:srgbClr val="00F0FF"/>
                </a:solidFill>
                <a:effectLst/>
                <a:uFillTx/>
                <a:latin typeface="JetBrains Mono"/>
                <a:ea typeface="JetBrains Mono"/>
              </a:rPr>
              <a:t>7 calls</a:t>
            </a:r>
            <a:endParaRPr lang="en-US" sz="1400" b="0" u="none" strike="noStrike">
              <a:solidFill>
                <a:srgbClr val="FFFFFF"/>
              </a:solidFill>
              <a:effectLst/>
              <a:uFillTx/>
              <a:latin typeface="Arial"/>
            </a:endParaRPr>
          </a:p>
        </p:txBody>
      </p:sp>
      <p:sp>
        <p:nvSpPr>
          <p:cNvPr id="564" name="Shape 106"/>
          <p:cNvSpPr/>
          <p:nvPr/>
        </p:nvSpPr>
        <p:spPr>
          <a:xfrm>
            <a:off x="699840" y="4349880"/>
            <a:ext cx="10839240" cy="899280"/>
          </a:xfrm>
          <a:prstGeom prst="rect">
            <a:avLst/>
          </a:prstGeom>
          <a:noFill/>
          <a:ln w="0">
            <a:noFill/>
          </a:ln>
        </p:spPr>
        <p:style>
          <a:lnRef idx="0"/>
          <a:fillRef idx="0"/>
          <a:effectRef idx="0"/>
          <a:fontRef idx="minor"/>
        </p:style>
        <p:txBody>
          <a:bodyPr lIns="0" tIns="0" rIns="0" bIns="0" anchor="t">
            <a:noAutofit/>
          </a:bodyPr>
          <a:p>
            <a:pPr algn="ctr" defTabSz="914400">
              <a:lnSpc>
                <a:spcPts val="2001"/>
              </a:lnSpc>
              <a:tabLst>
                <a:tab pos="0" algn="l"/>
              </a:tabLst>
            </a:pPr>
            <a:r>
              <a:rPr lang="en-US" sz="1400" b="1" u="none" strike="noStrike">
                <a:solidFill>
                  <a:srgbClr val="F2FFFF"/>
                </a:solidFill>
                <a:effectLst/>
                <a:uFillTx/>
                <a:latin typeface="JetBrains Mono"/>
                <a:ea typeface="JetBrains Mono"/>
              </a:rPr>
              <a:t>32 inference calls · 16 pages read · 45 items confirmed · 0 rejected</a:t>
            </a:r>
            <a:endParaRPr lang="en-US" sz="1400" b="0" u="none" strike="noStrike">
              <a:solidFill>
                <a:srgbClr val="FFFFFF"/>
              </a:solidFill>
              <a:effectLst/>
              <a:uFillTx/>
              <a:latin typeface="Arial"/>
            </a:endParaRPr>
          </a:p>
          <a:p>
            <a:pPr algn="ctr" defTabSz="914400">
              <a:lnSpc>
                <a:spcPts val="1800"/>
              </a:lnSpc>
              <a:tabLst>
                <a:tab pos="0" algn="l"/>
              </a:tabLst>
            </a:pPr>
            <a:r>
              <a:rPr lang="en-US" sz="1200" b="0" u="none" strike="noStrike">
                <a:solidFill>
                  <a:srgbClr val="6F82A8"/>
                </a:solidFill>
                <a:effectLst/>
                <a:uFillTx/>
                <a:latin typeface="JetBrains Mono"/>
                <a:ea typeface="JetBrains Mono"/>
              </a:rPr>
              <a:t>Each agent is a read-only codex exec with a JSON output schema. It can read. It cannot run anything.</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5" name="Image 0" descr="Neon wave background"/>
          <p:cNvPicPr/>
          <p:nvPr/>
        </p:nvPicPr>
        <p:blipFill>
          <a:blip r:embed="rId1"/>
          <a:stretch/>
        </p:blipFill>
        <p:spPr>
          <a:xfrm>
            <a:off x="276840" y="239400"/>
            <a:ext cx="12191400" cy="6857280"/>
          </a:xfrm>
          <a:prstGeom prst="rect">
            <a:avLst/>
          </a:prstGeom>
          <a:noFill/>
          <a:ln w="0">
            <a:noFill/>
          </a:ln>
        </p:spPr>
      </p:pic>
      <p:sp>
        <p:nvSpPr>
          <p:cNvPr id="566" name="Shape 120"/>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67" name="Shape 121"/>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en-US" sz="1200" b="0" u="none" strike="noStrike">
                <a:solidFill>
                  <a:srgbClr val="6F82A8"/>
                </a:solidFill>
                <a:effectLst/>
                <a:uFillTx/>
                <a:latin typeface="JetBrains Mono"/>
                <a:ea typeface="JetBrains Mono"/>
              </a:rPr>
              <a:t>40 / 51</a:t>
            </a:r>
            <a:endParaRPr lang="en-US" sz="1200" b="0" u="none" strike="noStrike">
              <a:solidFill>
                <a:srgbClr val="FFFFFF"/>
              </a:solidFill>
              <a:effectLst/>
              <a:uFillTx/>
              <a:latin typeface="Arial"/>
            </a:endParaRPr>
          </a:p>
        </p:txBody>
      </p:sp>
      <p:sp>
        <p:nvSpPr>
          <p:cNvPr id="568" name="Shape 122"/>
          <p:cNvSpPr/>
          <p:nvPr/>
        </p:nvSpPr>
        <p:spPr>
          <a:xfrm>
            <a:off x="1199880" y="971640"/>
            <a:ext cx="9791280" cy="220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rgbClr val="B07CFF"/>
                </a:solidFill>
                <a:effectLst/>
                <a:uFillTx/>
                <a:latin typeface="JetBrains Mono"/>
                <a:ea typeface="JetBrains Mono"/>
              </a:rPr>
              <a:t>$ cat master-plan.md</a:t>
            </a:r>
            <a:endParaRPr lang="en-US" sz="1100" b="0" u="none" strike="noStrike">
              <a:solidFill>
                <a:srgbClr val="FFFFFF"/>
              </a:solidFill>
              <a:effectLst/>
              <a:uFillTx/>
              <a:latin typeface="Arial"/>
            </a:endParaRPr>
          </a:p>
        </p:txBody>
      </p:sp>
      <p:sp>
        <p:nvSpPr>
          <p:cNvPr id="569" name="PlaceHolder 1"/>
          <p:cNvSpPr>
            <a:spLocks noGrp="1"/>
          </p:cNvSpPr>
          <p:nvPr>
            <p:ph type="title"/>
          </p:nvPr>
        </p:nvSpPr>
        <p:spPr>
          <a:xfrm>
            <a:off x="1199880" y="1329840"/>
            <a:ext cx="9791280" cy="479160"/>
          </a:xfrm>
          <a:prstGeom prst="rect">
            <a:avLst/>
          </a:prstGeom>
          <a:noFill/>
          <a:ln w="0">
            <a:noFill/>
          </a:ln>
        </p:spPr>
        <p:txBody>
          <a:bodyPr lIns="0" tIns="0" rIns="0" bIns="0" anchor="t">
            <a:noAutofit/>
          </a:bodyPr>
          <a:p>
            <a:pPr indent="0" algn="ctr" defTabSz="914400">
              <a:lnSpc>
                <a:spcPts val="3300"/>
              </a:lnSpc>
              <a:buNone/>
              <a:tabLst>
                <a:tab pos="0" algn="l"/>
              </a:tabLst>
            </a:pPr>
            <a:r>
              <a:rPr lang="en-US" sz="3000" b="1" u="none" strike="noStrike">
                <a:solidFill>
                  <a:srgbClr val="F2FFFF"/>
                </a:solidFill>
                <a:effectLst/>
                <a:uFillTx/>
                <a:latin typeface="Space Grotesk"/>
                <a:ea typeface="Space Grotesk"/>
              </a:rPr>
              <a:t>The master plan</a:t>
            </a:r>
            <a:endParaRPr lang="en-US" sz="3000" b="0" u="none" strike="noStrike">
              <a:solidFill>
                <a:schemeClr val="lt1"/>
              </a:solidFill>
              <a:effectLst/>
              <a:uFillTx/>
              <a:latin typeface="JetBrains Mono"/>
            </a:endParaRPr>
          </a:p>
        </p:txBody>
      </p:sp>
      <p:sp>
        <p:nvSpPr>
          <p:cNvPr id="570" name="Shape 111"/>
          <p:cNvSpPr/>
          <p:nvPr/>
        </p:nvSpPr>
        <p:spPr>
          <a:xfrm>
            <a:off x="699840" y="2149920"/>
            <a:ext cx="2499120" cy="149940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00080" tIns="100080" rIns="100080" bIns="100080" anchor="ctr">
            <a:noAutofit/>
          </a:bodyPr>
          <a:p>
            <a:pPr algn="ctr" defTabSz="914400">
              <a:lnSpc>
                <a:spcPts val="2200"/>
              </a:lnSpc>
              <a:tabLst>
                <a:tab pos="0" algn="l"/>
              </a:tabLst>
            </a:pPr>
            <a:r>
              <a:rPr lang="en-US" sz="1600" b="1" u="none" strike="noStrike">
                <a:solidFill>
                  <a:srgbClr val="00F0FF"/>
                </a:solidFill>
                <a:effectLst/>
                <a:uFillTx/>
                <a:latin typeface="Space Grotesk"/>
                <a:ea typeface="Space Grotesk"/>
              </a:rPr>
              <a:t>PDF</a:t>
            </a:r>
            <a:endParaRPr lang="en-US" sz="16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F2FFFF"/>
                </a:solidFill>
                <a:effectLst/>
                <a:uFillTx/>
                <a:latin typeface="JetBrains Mono"/>
                <a:ea typeface="JetBrains Mono"/>
              </a:rPr>
              <a:t>scanner report</a:t>
            </a:r>
            <a:endParaRPr lang="en-US" sz="11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6F82A8"/>
                </a:solidFill>
                <a:effectLst/>
                <a:uFillTx/>
                <a:latin typeface="JetBrains Mono"/>
                <a:ea typeface="JetBrains Mono"/>
              </a:rPr>
              <a:t>16 pages</a:t>
            </a:r>
            <a:endParaRPr lang="en-US" sz="1100" b="0" u="none" strike="noStrike">
              <a:solidFill>
                <a:srgbClr val="FFFFFF"/>
              </a:solidFill>
              <a:effectLst/>
              <a:uFillTx/>
              <a:latin typeface="Arial"/>
            </a:endParaRPr>
          </a:p>
        </p:txBody>
      </p:sp>
      <p:sp>
        <p:nvSpPr>
          <p:cNvPr id="571" name="Shape 112"/>
          <p:cNvSpPr/>
          <p:nvPr/>
        </p:nvSpPr>
        <p:spPr>
          <a:xfrm>
            <a:off x="3200040" y="2700000"/>
            <a:ext cx="279360" cy="399240"/>
          </a:xfrm>
          <a:prstGeom prst="rect">
            <a:avLst/>
          </a:prstGeom>
          <a:noFill/>
          <a:ln w="0">
            <a:noFill/>
          </a:ln>
        </p:spPr>
        <p:style>
          <a:lnRef idx="0"/>
          <a:fillRef idx="0"/>
          <a:effectRef idx="0"/>
          <a:fontRef idx="minor"/>
        </p:style>
        <p:txBody>
          <a:bodyPr lIns="0" tIns="0" rIns="0" bIns="0" anchor="ctr">
            <a:noAutofit/>
          </a:bodyPr>
          <a:p>
            <a:pPr algn="ctr" defTabSz="914400">
              <a:lnSpc>
                <a:spcPts val="2801"/>
              </a:lnSpc>
              <a:tabLst>
                <a:tab pos="0" algn="l"/>
              </a:tabLst>
            </a:pPr>
            <a:r>
              <a:rPr lang="en-US" sz="2400" b="0" u="none" strike="noStrike">
                <a:solidFill>
                  <a:srgbClr val="6F82A8"/>
                </a:solidFill>
                <a:effectLst/>
                <a:uFillTx/>
                <a:latin typeface="JetBrains Mono"/>
                <a:ea typeface="JetBrains Mono"/>
              </a:rPr>
              <a:t>›</a:t>
            </a:r>
            <a:endParaRPr lang="en-US" sz="2400" b="0" u="none" strike="noStrike">
              <a:solidFill>
                <a:srgbClr val="FFFFFF"/>
              </a:solidFill>
              <a:effectLst/>
              <a:uFillTx/>
              <a:latin typeface="Arial"/>
            </a:endParaRPr>
          </a:p>
        </p:txBody>
      </p:sp>
      <p:sp>
        <p:nvSpPr>
          <p:cNvPr id="572" name="Shape 113"/>
          <p:cNvSpPr/>
          <p:nvPr/>
        </p:nvSpPr>
        <p:spPr>
          <a:xfrm>
            <a:off x="3480120" y="2149920"/>
            <a:ext cx="2499120" cy="149940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00080" tIns="100080" rIns="100080" bIns="100080" anchor="ctr">
            <a:noAutofit/>
          </a:bodyPr>
          <a:p>
            <a:pPr algn="ctr" defTabSz="914400">
              <a:lnSpc>
                <a:spcPts val="2200"/>
              </a:lnSpc>
              <a:tabLst>
                <a:tab pos="0" algn="l"/>
              </a:tabLst>
            </a:pPr>
            <a:r>
              <a:rPr lang="en-US" sz="1600" b="1" u="none" strike="noStrike">
                <a:solidFill>
                  <a:srgbClr val="00F0FF"/>
                </a:solidFill>
                <a:effectLst/>
                <a:uFillTx/>
                <a:latin typeface="Space Grotesk"/>
                <a:ea typeface="Space Grotesk"/>
              </a:rPr>
              <a:t>45 items</a:t>
            </a:r>
            <a:endParaRPr lang="en-US" sz="16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F2FFFF"/>
                </a:solidFill>
                <a:effectLst/>
                <a:uFillTx/>
                <a:latin typeface="JetBrains Mono"/>
                <a:ea typeface="JetBrains Mono"/>
              </a:rPr>
              <a:t>claims, quoted with page + lines</a:t>
            </a:r>
            <a:endParaRPr lang="en-US" sz="11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6F82A8"/>
                </a:solidFill>
                <a:effectLst/>
                <a:uFillTx/>
                <a:latin typeface="JetBrains Mono"/>
                <a:ea typeface="JetBrains Mono"/>
              </a:rPr>
              <a:t>confirmed_in_pdf</a:t>
            </a:r>
            <a:endParaRPr lang="en-US" sz="1100" b="0" u="none" strike="noStrike">
              <a:solidFill>
                <a:srgbClr val="FFFFFF"/>
              </a:solidFill>
              <a:effectLst/>
              <a:uFillTx/>
              <a:latin typeface="Arial"/>
            </a:endParaRPr>
          </a:p>
        </p:txBody>
      </p:sp>
      <p:sp>
        <p:nvSpPr>
          <p:cNvPr id="573" name="Shape 114"/>
          <p:cNvSpPr/>
          <p:nvPr/>
        </p:nvSpPr>
        <p:spPr>
          <a:xfrm>
            <a:off x="5979960" y="2700000"/>
            <a:ext cx="279360" cy="399240"/>
          </a:xfrm>
          <a:prstGeom prst="rect">
            <a:avLst/>
          </a:prstGeom>
          <a:noFill/>
          <a:ln w="0">
            <a:noFill/>
          </a:ln>
        </p:spPr>
        <p:style>
          <a:lnRef idx="0"/>
          <a:fillRef idx="0"/>
          <a:effectRef idx="0"/>
          <a:fontRef idx="minor"/>
        </p:style>
        <p:txBody>
          <a:bodyPr lIns="0" tIns="0" rIns="0" bIns="0" anchor="ctr">
            <a:noAutofit/>
          </a:bodyPr>
          <a:p>
            <a:pPr algn="ctr" defTabSz="914400">
              <a:lnSpc>
                <a:spcPts val="2801"/>
              </a:lnSpc>
              <a:tabLst>
                <a:tab pos="0" algn="l"/>
              </a:tabLst>
            </a:pPr>
            <a:r>
              <a:rPr lang="en-US" sz="2400" b="0" u="none" strike="noStrike">
                <a:solidFill>
                  <a:srgbClr val="6F82A8"/>
                </a:solidFill>
                <a:effectLst/>
                <a:uFillTx/>
                <a:latin typeface="JetBrains Mono"/>
                <a:ea typeface="JetBrains Mono"/>
              </a:rPr>
              <a:t>›</a:t>
            </a:r>
            <a:endParaRPr lang="en-US" sz="2400" b="0" u="none" strike="noStrike">
              <a:solidFill>
                <a:srgbClr val="FFFFFF"/>
              </a:solidFill>
              <a:effectLst/>
              <a:uFillTx/>
              <a:latin typeface="Arial"/>
            </a:endParaRPr>
          </a:p>
        </p:txBody>
      </p:sp>
      <p:sp>
        <p:nvSpPr>
          <p:cNvPr id="574" name="Shape 115"/>
          <p:cNvSpPr/>
          <p:nvPr/>
        </p:nvSpPr>
        <p:spPr>
          <a:xfrm>
            <a:off x="6260040" y="2149920"/>
            <a:ext cx="2499120" cy="149940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00080" tIns="100080" rIns="100080" bIns="100080" anchor="ctr">
            <a:noAutofit/>
          </a:bodyPr>
          <a:p>
            <a:pPr algn="ctr" defTabSz="914400">
              <a:lnSpc>
                <a:spcPts val="2200"/>
              </a:lnSpc>
              <a:tabLst>
                <a:tab pos="0" algn="l"/>
              </a:tabLst>
            </a:pPr>
            <a:r>
              <a:rPr lang="en-US" sz="1600" b="1" u="none" strike="noStrike">
                <a:solidFill>
                  <a:srgbClr val="00F0FF"/>
                </a:solidFill>
                <a:effectLst/>
                <a:uFillTx/>
                <a:latin typeface="Space Grotesk"/>
                <a:ea typeface="Space Grotesk"/>
              </a:rPr>
              <a:t>master-plan.json</a:t>
            </a:r>
            <a:endParaRPr lang="en-US" sz="16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F2FFFF"/>
                </a:solidFill>
                <a:effectLst/>
                <a:uFillTx/>
                <a:latin typeface="JetBrains Mono"/>
                <a:ea typeface="JetBrains Mono"/>
              </a:rPr>
              <a:t>setup · exercise steps · future Frida observation</a:t>
            </a:r>
            <a:endParaRPr lang="en-US" sz="11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6F82A8"/>
                </a:solidFill>
                <a:effectLst/>
                <a:uFillTx/>
                <a:latin typeface="JetBrains Mono"/>
                <a:ea typeface="JetBrains Mono"/>
              </a:rPr>
              <a:t>one plan each</a:t>
            </a:r>
            <a:endParaRPr lang="en-US" sz="1100" b="0" u="none" strike="noStrike">
              <a:solidFill>
                <a:srgbClr val="FFFFFF"/>
              </a:solidFill>
              <a:effectLst/>
              <a:uFillTx/>
              <a:latin typeface="Arial"/>
            </a:endParaRPr>
          </a:p>
        </p:txBody>
      </p:sp>
      <p:sp>
        <p:nvSpPr>
          <p:cNvPr id="575" name="Shape 116"/>
          <p:cNvSpPr/>
          <p:nvPr/>
        </p:nvSpPr>
        <p:spPr>
          <a:xfrm>
            <a:off x="8759880" y="2700000"/>
            <a:ext cx="279360" cy="399240"/>
          </a:xfrm>
          <a:prstGeom prst="rect">
            <a:avLst/>
          </a:prstGeom>
          <a:noFill/>
          <a:ln w="0">
            <a:noFill/>
          </a:ln>
        </p:spPr>
        <p:style>
          <a:lnRef idx="0"/>
          <a:fillRef idx="0"/>
          <a:effectRef idx="0"/>
          <a:fontRef idx="minor"/>
        </p:style>
        <p:txBody>
          <a:bodyPr lIns="0" tIns="0" rIns="0" bIns="0" anchor="ctr">
            <a:noAutofit/>
          </a:bodyPr>
          <a:p>
            <a:pPr algn="ctr" defTabSz="914400">
              <a:lnSpc>
                <a:spcPts val="2801"/>
              </a:lnSpc>
              <a:tabLst>
                <a:tab pos="0" algn="l"/>
              </a:tabLst>
            </a:pPr>
            <a:r>
              <a:rPr lang="en-US" sz="2400" b="0" u="none" strike="noStrike">
                <a:solidFill>
                  <a:srgbClr val="6F82A8"/>
                </a:solidFill>
                <a:effectLst/>
                <a:uFillTx/>
                <a:latin typeface="JetBrains Mono"/>
                <a:ea typeface="JetBrains Mono"/>
              </a:rPr>
              <a:t>›</a:t>
            </a:r>
            <a:endParaRPr lang="en-US" sz="2400" b="0" u="none" strike="noStrike">
              <a:solidFill>
                <a:srgbClr val="FFFFFF"/>
              </a:solidFill>
              <a:effectLst/>
              <a:uFillTx/>
              <a:latin typeface="Arial"/>
            </a:endParaRPr>
          </a:p>
        </p:txBody>
      </p:sp>
      <p:sp>
        <p:nvSpPr>
          <p:cNvPr id="576" name="Shape 117"/>
          <p:cNvSpPr/>
          <p:nvPr/>
        </p:nvSpPr>
        <p:spPr>
          <a:xfrm>
            <a:off x="9039960" y="2149920"/>
            <a:ext cx="2499120" cy="1499400"/>
          </a:xfrm>
          <a:prstGeom prst="roundRect">
            <a:avLst>
              <a:gd name="adj" fmla="val 8000"/>
            </a:avLst>
          </a:prstGeom>
          <a:solidFill>
            <a:srgbClr val="05070F"/>
          </a:solidFill>
          <a:ln w="12700">
            <a:solidFill>
              <a:srgbClr val="B07CFF"/>
            </a:solidFill>
            <a:round/>
          </a:ln>
        </p:spPr>
        <p:style>
          <a:lnRef idx="0"/>
          <a:fillRef idx="0"/>
          <a:effectRef idx="0"/>
          <a:fontRef idx="minor"/>
        </p:style>
        <p:txBody>
          <a:bodyPr lIns="100080" tIns="100080" rIns="100080" bIns="100080" anchor="ctr">
            <a:noAutofit/>
          </a:bodyPr>
          <a:p>
            <a:pPr algn="ctr" defTabSz="914400">
              <a:lnSpc>
                <a:spcPts val="2200"/>
              </a:lnSpc>
              <a:tabLst>
                <a:tab pos="0" algn="l"/>
              </a:tabLst>
            </a:pPr>
            <a:r>
              <a:rPr lang="en-US" sz="1600" b="1" u="none" strike="noStrike">
                <a:solidFill>
                  <a:srgbClr val="B07CFF"/>
                </a:solidFill>
                <a:effectLst/>
                <a:uFillTx/>
                <a:latin typeface="Space Grotesk"/>
                <a:ea typeface="Space Grotesk"/>
              </a:rPr>
              <a:t>review</a:t>
            </a:r>
            <a:endParaRPr lang="en-US" sz="16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F2FFFF"/>
                </a:solidFill>
                <a:effectLst/>
                <a:uFillTx/>
                <a:latin typeface="JetBrains Mono"/>
                <a:ea typeface="JetBrains Mono"/>
              </a:rPr>
              <a:t>evidence-reviewer</a:t>
            </a:r>
            <a:endParaRPr lang="en-US" sz="1100" b="0" u="none" strike="noStrike">
              <a:solidFill>
                <a:srgbClr val="FFFFFF"/>
              </a:solidFill>
              <a:effectLst/>
              <a:uFillTx/>
              <a:latin typeface="Arial"/>
            </a:endParaRPr>
          </a:p>
          <a:p>
            <a:pPr algn="ctr" defTabSz="914400">
              <a:lnSpc>
                <a:spcPts val="1599"/>
              </a:lnSpc>
              <a:tabLst>
                <a:tab pos="0" algn="l"/>
              </a:tabLst>
            </a:pPr>
            <a:r>
              <a:rPr lang="en-US" sz="1100" b="0" u="none" strike="noStrike">
                <a:solidFill>
                  <a:srgbClr val="6F82A8"/>
                </a:solidFill>
                <a:effectLst/>
                <a:uFillTx/>
                <a:latin typeface="JetBrains Mono"/>
                <a:ea typeface="JetBrains Mono"/>
              </a:rPr>
              <a:t>independent</a:t>
            </a:r>
            <a:endParaRPr lang="en-US" sz="1100" b="0" u="none" strike="noStrike">
              <a:solidFill>
                <a:srgbClr val="FFFFFF"/>
              </a:solidFill>
              <a:effectLst/>
              <a:uFillTx/>
              <a:latin typeface="Arial"/>
            </a:endParaRPr>
          </a:p>
        </p:txBody>
      </p:sp>
      <p:sp>
        <p:nvSpPr>
          <p:cNvPr id="577" name="Shape 118"/>
          <p:cNvSpPr/>
          <p:nvPr/>
        </p:nvSpPr>
        <p:spPr>
          <a:xfrm>
            <a:off x="699840" y="3899880"/>
            <a:ext cx="5299200" cy="1899360"/>
          </a:xfrm>
          <a:prstGeom prst="roundRect">
            <a:avLst>
              <a:gd name="adj" fmla="val 8000"/>
            </a:avLst>
          </a:prstGeom>
          <a:solidFill>
            <a:srgbClr val="05070F"/>
          </a:solidFill>
          <a:ln w="12700">
            <a:solidFill>
              <a:srgbClr val="00F0FF"/>
            </a:solidFill>
            <a:round/>
          </a:ln>
        </p:spPr>
        <p:style>
          <a:lnRef idx="0"/>
          <a:fillRef idx="0"/>
          <a:effectRef idx="0"/>
          <a:fontRef idx="minor"/>
        </p:style>
        <p:txBody>
          <a:bodyPr lIns="180000" tIns="180000" rIns="180000" bIns="180000" anchor="t">
            <a:noAutofit/>
          </a:bodyPr>
          <a:p>
            <a:pPr defTabSz="914400">
              <a:lnSpc>
                <a:spcPts val="2001"/>
              </a:lnSpc>
              <a:tabLst>
                <a:tab pos="0" algn="l"/>
              </a:tabLst>
            </a:pPr>
            <a:r>
              <a:rPr lang="en-US" sz="1300" b="1" u="none" strike="noStrike">
                <a:solidFill>
                  <a:srgbClr val="00F0FF"/>
                </a:solidFill>
                <a:effectLst/>
                <a:uFillTx/>
                <a:latin typeface="JetBrains Mono"/>
                <a:ea typeface="JetBrains Mono"/>
              </a:rPr>
              <a:t>"planning_only": true</a:t>
            </a:r>
            <a:endParaRPr lang="en-US" sz="1300" b="0" u="none" strike="noStrike">
              <a:solidFill>
                <a:srgbClr val="FFFFFF"/>
              </a:solidFill>
              <a:effectLst/>
              <a:uFillTx/>
              <a:latin typeface="Arial"/>
            </a:endParaRPr>
          </a:p>
          <a:p>
            <a:pPr defTabSz="914400">
              <a:lnSpc>
                <a:spcPts val="2001"/>
              </a:lnSpc>
              <a:tabLst>
                <a:tab pos="0" algn="l"/>
              </a:tabLst>
            </a:pPr>
            <a:r>
              <a:rPr lang="en-US" sz="1300" b="1" u="none" strike="noStrike">
                <a:solidFill>
                  <a:srgbClr val="00F0FF"/>
                </a:solidFill>
                <a:effectLst/>
                <a:uFillTx/>
                <a:latin typeface="JetBrains Mono"/>
                <a:ea typeface="JetBrains Mono"/>
              </a:rPr>
              <a:t>"execution_authorized": false</a:t>
            </a:r>
            <a:endParaRPr lang="en-US" sz="1300" b="0" u="none" strike="noStrike">
              <a:solidFill>
                <a:srgbClr val="FFFFFF"/>
              </a:solidFill>
              <a:effectLst/>
              <a:uFillTx/>
              <a:latin typeface="Arial"/>
            </a:endParaRPr>
          </a:p>
          <a:p>
            <a:pPr defTabSz="914400">
              <a:lnSpc>
                <a:spcPts val="901"/>
              </a:lnSpc>
              <a:tabLst>
                <a:tab pos="0" algn="l"/>
              </a:tabLst>
            </a:pPr>
            <a:endParaRPr lang="en-US" sz="600" b="0" u="none" strike="noStrike">
              <a:solidFill>
                <a:srgbClr val="FFFFFF"/>
              </a:solidFill>
              <a:effectLst/>
              <a:uFillTx/>
              <a:latin typeface="Arial"/>
            </a:endParaRPr>
          </a:p>
          <a:p>
            <a:pPr defTabSz="914400">
              <a:lnSpc>
                <a:spcPts val="1800"/>
              </a:lnSpc>
              <a:tabLst>
                <a:tab pos="0" algn="l"/>
              </a:tabLst>
            </a:pPr>
            <a:r>
              <a:rPr lang="en-US" sz="1200" b="0" u="none" strike="noStrike">
                <a:solidFill>
                  <a:srgbClr val="F2FFFF"/>
                </a:solidFill>
                <a:effectLst/>
                <a:uFillTx/>
                <a:latin typeface="JetBrains Mono"/>
                <a:ea typeface="JetBrains Mono"/>
              </a:rPr>
              <a:t>The plan is a claim to test, not a verdict. PDF confirmed ≠ source confirmed ≠ runtime confirmed.</a:t>
            </a:r>
            <a:endParaRPr lang="en-US" sz="1200" b="0" u="none" strike="noStrike">
              <a:solidFill>
                <a:srgbClr val="FFFFFF"/>
              </a:solidFill>
              <a:effectLst/>
              <a:uFillTx/>
              <a:latin typeface="Arial"/>
            </a:endParaRPr>
          </a:p>
        </p:txBody>
      </p:sp>
      <p:sp>
        <p:nvSpPr>
          <p:cNvPr id="578" name="Shape 119"/>
          <p:cNvSpPr/>
          <p:nvPr/>
        </p:nvSpPr>
        <p:spPr>
          <a:xfrm>
            <a:off x="6199920" y="3899880"/>
            <a:ext cx="5339160" cy="1899360"/>
          </a:xfrm>
          <a:prstGeom prst="roundRect">
            <a:avLst>
              <a:gd name="adj" fmla="val 8000"/>
            </a:avLst>
          </a:prstGeom>
          <a:solidFill>
            <a:srgbClr val="05070F"/>
          </a:solidFill>
          <a:ln w="12700">
            <a:solidFill>
              <a:srgbClr val="B07CFF"/>
            </a:solidFill>
            <a:round/>
          </a:ln>
        </p:spPr>
        <p:style>
          <a:lnRef idx="0"/>
          <a:fillRef idx="0"/>
          <a:effectRef idx="0"/>
          <a:fontRef idx="minor"/>
        </p:style>
        <p:txBody>
          <a:bodyPr lIns="180000" tIns="180000" rIns="180000" bIns="180000" anchor="t">
            <a:noAutofit/>
          </a:bodyPr>
          <a:p>
            <a:pPr defTabSz="914400">
              <a:lnSpc>
                <a:spcPts val="1500"/>
              </a:lnSpc>
              <a:tabLst>
                <a:tab pos="0" algn="l"/>
              </a:tabLst>
            </a:pPr>
            <a:r>
              <a:rPr lang="en-US" sz="1000" b="0" u="none" strike="noStrike">
                <a:solidFill>
                  <a:srgbClr val="B07CFF"/>
                </a:solidFill>
                <a:effectLst/>
                <a:uFillTx/>
                <a:latin typeface="JetBrains Mono"/>
                <a:ea typeface="JetBrains Mono"/>
              </a:rPr>
              <a:t>EVERY ITEM CARRIES</a:t>
            </a:r>
            <a:endParaRPr lang="en-US" sz="1000" b="0" u="none" strike="noStrike">
              <a:solidFill>
                <a:srgbClr val="FFFFFF"/>
              </a:solidFill>
              <a:effectLst/>
              <a:uFillTx/>
              <a:latin typeface="Arial"/>
            </a:endParaRPr>
          </a:p>
          <a:p>
            <a:pPr defTabSz="914400">
              <a:lnSpc>
                <a:spcPts val="1800"/>
              </a:lnSpc>
              <a:tabLst>
                <a:tab pos="0" algn="l"/>
              </a:tabLst>
            </a:pPr>
            <a:r>
              <a:rPr lang="en-US" sz="1200" b="0" u="none" strike="noStrike">
                <a:solidFill>
                  <a:srgbClr val="F2FFFF"/>
                </a:solidFill>
                <a:effectLst/>
                <a:uFillTx/>
                <a:latin typeface="JetBrains Mono"/>
                <a:ea typeface="JetBrains Mono"/>
              </a:rPr>
              <a:t>behavior_to_test</a:t>
            </a:r>
            <a:endParaRPr lang="en-US" sz="1200" b="0" u="none" strike="noStrike">
              <a:solidFill>
                <a:srgbClr val="FFFFFF"/>
              </a:solidFill>
              <a:effectLst/>
              <a:uFillTx/>
              <a:latin typeface="Arial"/>
            </a:endParaRPr>
          </a:p>
          <a:p>
            <a:pPr defTabSz="914400">
              <a:lnSpc>
                <a:spcPts val="1800"/>
              </a:lnSpc>
              <a:tabLst>
                <a:tab pos="0" algn="l"/>
              </a:tabLst>
            </a:pPr>
            <a:r>
              <a:rPr lang="en-US" sz="1200" b="0" u="none" strike="noStrike">
                <a:solidFill>
                  <a:srgbClr val="F2FFFF"/>
                </a:solidFill>
                <a:effectLst/>
                <a:uFillTx/>
                <a:latin typeface="JetBrains Mono"/>
                <a:ea typeface="JetBrains Mono"/>
              </a:rPr>
              <a:t>exercise_steps</a:t>
            </a:r>
            <a:endParaRPr lang="en-US" sz="1200" b="0" u="none" strike="noStrike">
              <a:solidFill>
                <a:srgbClr val="FFFFFF"/>
              </a:solidFill>
              <a:effectLst/>
              <a:uFillTx/>
              <a:latin typeface="Arial"/>
            </a:endParaRPr>
          </a:p>
          <a:p>
            <a:pPr defTabSz="914400">
              <a:lnSpc>
                <a:spcPts val="1800"/>
              </a:lnSpc>
              <a:tabLst>
                <a:tab pos="0" algn="l"/>
              </a:tabLst>
            </a:pPr>
            <a:r>
              <a:rPr lang="en-US" sz="1200" b="0" u="none" strike="noStrike">
                <a:solidFill>
                  <a:srgbClr val="F2FFFF"/>
                </a:solidFill>
                <a:effectLst/>
                <a:uFillTx/>
                <a:latin typeface="JetBrains Mono"/>
                <a:ea typeface="JetBrains Mono"/>
              </a:rPr>
              <a:t>future_frida_observation</a:t>
            </a:r>
            <a:endParaRPr lang="en-US" sz="1200" b="0" u="none" strike="noStrike">
              <a:solidFill>
                <a:srgbClr val="FFFFFF"/>
              </a:solidFill>
              <a:effectLst/>
              <a:uFillTx/>
              <a:latin typeface="Arial"/>
            </a:endParaRPr>
          </a:p>
          <a:p>
            <a:pPr defTabSz="914400">
              <a:lnSpc>
                <a:spcPts val="1800"/>
              </a:lnSpc>
              <a:tabLst>
                <a:tab pos="0" algn="l"/>
              </a:tabLst>
            </a:pPr>
            <a:r>
              <a:rPr lang="en-US" sz="1200" b="0" u="none" strike="noStrike">
                <a:solidFill>
                  <a:srgbClr val="F2FFFF"/>
                </a:solidFill>
                <a:effectLst/>
                <a:uFillTx/>
                <a:latin typeface="JetBrains Mono"/>
                <a:ea typeface="JetBrains Mono"/>
              </a:rPr>
              <a:t>future_hook_generator_prompt</a:t>
            </a:r>
            <a:endParaRPr lang="en-US" sz="1200" b="0" u="none" strike="noStrike">
              <a:solidFill>
                <a:srgbClr val="FFFFFF"/>
              </a:solidFill>
              <a:effectLst/>
              <a:uFillTx/>
              <a:latin typeface="Arial"/>
            </a:endParaRPr>
          </a:p>
          <a:p>
            <a:pPr defTabSz="914400">
              <a:lnSpc>
                <a:spcPts val="1800"/>
              </a:lnSpc>
              <a:tabLst>
                <a:tab pos="0" algn="l"/>
              </a:tabLst>
            </a:pPr>
            <a:r>
              <a:rPr lang="en-US" sz="1200" b="0" u="none" strike="noStrike">
                <a:solidFill>
                  <a:srgbClr val="F2FFFF"/>
                </a:solidFill>
                <a:effectLst/>
                <a:uFillTx/>
                <a:latin typeface="JetBrains Mono"/>
                <a:ea typeface="JetBrains Mono"/>
              </a:rPr>
              <a:t>remaining_unknown_details</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9" name="Image 0" descr="Neon wave background"/>
          <p:cNvPicPr/>
          <p:nvPr/>
        </p:nvPicPr>
        <p:blipFill>
          <a:blip r:embed="rId1"/>
          <a:stretch/>
        </p:blipFill>
        <p:spPr>
          <a:xfrm>
            <a:off x="0" y="0"/>
            <a:ext cx="12191400" cy="6857280"/>
          </a:xfrm>
          <a:prstGeom prst="rect">
            <a:avLst/>
          </a:prstGeom>
          <a:noFill/>
          <a:ln w="0">
            <a:noFill/>
          </a:ln>
        </p:spPr>
      </p:pic>
      <p:sp>
        <p:nvSpPr>
          <p:cNvPr id="580" name="Text 0"/>
          <p:cNvSpPr/>
          <p:nvPr/>
        </p:nvSpPr>
        <p:spPr>
          <a:xfrm>
            <a:off x="3769560" y="1408320"/>
            <a:ext cx="770760" cy="532800"/>
          </a:xfrm>
          <a:prstGeom prst="rect">
            <a:avLst/>
          </a:prstGeom>
          <a:noFill/>
          <a:ln w="0">
            <a:noFill/>
          </a:ln>
        </p:spPr>
        <p:style>
          <a:lnRef idx="0"/>
          <a:fillRef idx="0"/>
          <a:effectRef idx="0"/>
          <a:fontRef idx="minor"/>
        </p:style>
        <p:txBody>
          <a:bodyPr lIns="0" tIns="0" rIns="0" bIns="0" anchor="t">
            <a:normAutofit/>
          </a:bodyPr>
          <a:p>
            <a:pPr algn="ctr" defTabSz="914400">
              <a:lnSpc>
                <a:spcPts val="4000"/>
              </a:lnSpc>
              <a:tabLst>
                <a:tab pos="0" algn="l"/>
              </a:tabLst>
            </a:pPr>
            <a:r>
              <a:rPr lang="en-US" sz="4000" b="1" u="none" strike="noStrike">
                <a:solidFill>
                  <a:srgbClr val="B07CFF"/>
                </a:solidFill>
                <a:effectLst/>
                <a:uFillTx/>
                <a:latin typeface="Space Grotesk"/>
                <a:ea typeface="Space Grotesk"/>
              </a:rPr>
              <a:t>04</a:t>
            </a:r>
            <a:endParaRPr lang="en-US" sz="4000" b="0" u="none" strike="noStrike">
              <a:solidFill>
                <a:srgbClr val="FFFFFF"/>
              </a:solidFill>
              <a:effectLst/>
              <a:uFillTx/>
              <a:latin typeface="Arial"/>
            </a:endParaRPr>
          </a:p>
        </p:txBody>
      </p:sp>
      <p:sp>
        <p:nvSpPr>
          <p:cNvPr id="581" name="PlaceHolder 1"/>
          <p:cNvSpPr>
            <a:spLocks noGrp="1"/>
          </p:cNvSpPr>
          <p:nvPr>
            <p:ph type="title"/>
          </p:nvPr>
        </p:nvSpPr>
        <p:spPr>
          <a:xfrm>
            <a:off x="4654800" y="1500480"/>
            <a:ext cx="4443120" cy="374040"/>
          </a:xfrm>
          <a:prstGeom prst="rect">
            <a:avLst/>
          </a:prstGeom>
          <a:noFill/>
          <a:ln w="0">
            <a:noFill/>
          </a:ln>
        </p:spPr>
        <p:txBody>
          <a:bodyPr lIns="0" tIns="0" rIns="0" bIns="0" anchor="t">
            <a:normAutofit/>
          </a:bodyPr>
          <a:p>
            <a:pPr indent="0" algn="l" defTabSz="914400">
              <a:lnSpc>
                <a:spcPts val="2750"/>
              </a:lnSpc>
              <a:buNone/>
              <a:tabLst>
                <a:tab pos="0" algn="l"/>
              </a:tabLst>
            </a:pPr>
            <a:r>
              <a:rPr lang="en-US" sz="2500" b="1" u="none" spc="-51" strike="noStrike">
                <a:solidFill>
                  <a:srgbClr val="F2FFFF"/>
                </a:solidFill>
                <a:effectLst/>
                <a:uFillTx/>
                <a:latin typeface="Space Grotesk"/>
                <a:ea typeface="Space Grotesk"/>
              </a:rPr>
              <a:t>Fail the build on a verdict</a:t>
            </a:r>
            <a:endParaRPr lang="en-US" sz="2500" b="0" u="none" strike="noStrike">
              <a:solidFill>
                <a:schemeClr val="lt1"/>
              </a:solidFill>
              <a:effectLst/>
              <a:uFillTx/>
              <a:latin typeface="JetBrains Mono"/>
            </a:endParaRPr>
          </a:p>
        </p:txBody>
      </p:sp>
      <p:sp>
        <p:nvSpPr>
          <p:cNvPr id="582" name="Text 3"/>
          <p:cNvSpPr/>
          <p:nvPr/>
        </p:nvSpPr>
        <p:spPr>
          <a:xfrm>
            <a:off x="5095080" y="4719960"/>
            <a:ext cx="923760" cy="357480"/>
          </a:xfrm>
          <a:prstGeom prst="roundRect">
            <a:avLst>
              <a:gd name="adj" fmla="val 24823"/>
            </a:avLst>
          </a:prstGeom>
          <a:solidFill>
            <a:srgbClr val="39FF9C"/>
          </a:solidFill>
          <a:ln w="0">
            <a:noFill/>
          </a:ln>
          <a:effectLst>
            <a:outerShdw algn="bl" blurRad="139680" dir="0" dist="0" kx="0" ky="0" rotWithShape="0" sx="100000" sy="100000">
              <a:srgbClr val="39FF9C">
                <a:alpha val="60000"/>
              </a:srgbClr>
            </a:outerShdw>
          </a:effectLst>
        </p:spPr>
        <p:style>
          <a:lnRef idx="0"/>
          <a:fillRef idx="0"/>
          <a:effectRef idx="0"/>
          <a:fontRef idx="minor"/>
        </p:style>
        <p:txBody>
          <a:bodyPr wrap="none" lIns="0" tIns="0" rIns="0" bIns="0" anchor="ctr">
            <a:normAutofit/>
          </a:bodyPr>
          <a:p>
            <a:pPr algn="ctr" defTabSz="914400">
              <a:lnSpc>
                <a:spcPts val="1820"/>
              </a:lnSpc>
              <a:tabLst>
                <a:tab pos="0" algn="l"/>
              </a:tabLst>
            </a:pPr>
            <a:r>
              <a:rPr lang="en-US" sz="1300" b="1" u="none" strike="noStrike">
                <a:solidFill>
                  <a:srgbClr val="030308"/>
                </a:solidFill>
                <a:effectLst/>
                <a:uFillTx/>
                <a:latin typeface="JetBrains Mono"/>
                <a:ea typeface="JetBrains Mono"/>
              </a:rPr>
              <a:t>exit 0</a:t>
            </a:r>
            <a:endParaRPr lang="en-US" sz="1300" b="0" u="none" strike="noStrike">
              <a:solidFill>
                <a:srgbClr val="000000"/>
              </a:solidFill>
              <a:effectLst/>
              <a:uFillTx/>
              <a:latin typeface="Arial"/>
            </a:endParaRPr>
          </a:p>
        </p:txBody>
      </p:sp>
      <p:sp>
        <p:nvSpPr>
          <p:cNvPr id="583" name="Text 4"/>
          <p:cNvSpPr/>
          <p:nvPr/>
        </p:nvSpPr>
        <p:spPr>
          <a:xfrm>
            <a:off x="6172200" y="4719960"/>
            <a:ext cx="923760" cy="357480"/>
          </a:xfrm>
          <a:prstGeom prst="roundRect">
            <a:avLst>
              <a:gd name="adj" fmla="val 24823"/>
            </a:avLst>
          </a:prstGeom>
          <a:solidFill>
            <a:srgbClr val="FF2BD6"/>
          </a:solidFill>
          <a:ln w="0">
            <a:noFill/>
          </a:ln>
          <a:effectLst>
            <a:outerShdw algn="bl" blurRad="139680" dir="0" dist="0" kx="0" ky="0" rotWithShape="0" sx="100000" sy="100000">
              <a:srgbClr val="FF2BD6">
                <a:alpha val="60000"/>
              </a:srgbClr>
            </a:outerShdw>
          </a:effectLst>
        </p:spPr>
        <p:style>
          <a:lnRef idx="0"/>
          <a:fillRef idx="0"/>
          <a:effectRef idx="0"/>
          <a:fontRef idx="minor"/>
        </p:style>
        <p:txBody>
          <a:bodyPr wrap="none" lIns="0" tIns="0" rIns="0" bIns="0" anchor="ctr">
            <a:normAutofit/>
          </a:bodyPr>
          <a:p>
            <a:pPr algn="ctr" defTabSz="914400">
              <a:lnSpc>
                <a:spcPts val="1820"/>
              </a:lnSpc>
              <a:tabLst>
                <a:tab pos="0" algn="l"/>
              </a:tabLst>
            </a:pPr>
            <a:r>
              <a:rPr lang="en-US" sz="1300" b="1" u="none" strike="noStrike">
                <a:solidFill>
                  <a:srgbClr val="030308"/>
                </a:solidFill>
                <a:effectLst/>
                <a:uFillTx/>
                <a:latin typeface="JetBrains Mono"/>
                <a:ea typeface="JetBrains Mono"/>
              </a:rPr>
              <a:t>exit 1</a:t>
            </a:r>
            <a:endParaRPr lang="en-US" sz="1300" b="0" u="none" strike="noStrike">
              <a:solidFill>
                <a:srgbClr val="FFFFFF"/>
              </a:solidFill>
              <a:effectLst/>
              <a:uFillTx/>
              <a:latin typeface="Arial"/>
            </a:endParaRPr>
          </a:p>
        </p:txBody>
      </p:sp>
      <p:sp>
        <p:nvSpPr>
          <p:cNvPr id="584" name="Text 5"/>
          <p:cNvSpPr/>
          <p:nvPr/>
        </p:nvSpPr>
        <p:spPr>
          <a:xfrm>
            <a:off x="3764160" y="5150160"/>
            <a:ext cx="4662720" cy="202320"/>
          </a:xfrm>
          <a:prstGeom prst="rect">
            <a:avLst/>
          </a:prstGeom>
          <a:noFill/>
          <a:ln w="0">
            <a:noFill/>
          </a:ln>
        </p:spPr>
        <p:style>
          <a:lnRef idx="0"/>
          <a:fillRef idx="0"/>
          <a:effectRef idx="0"/>
          <a:fontRef idx="minor"/>
        </p:style>
        <p:txBody>
          <a:bodyPr lIns="0" tIns="0" rIns="0" bIns="0" anchor="t">
            <a:normAutofit/>
          </a:bodyPr>
          <a:p>
            <a:pPr algn="ctr" defTabSz="914400">
              <a:lnSpc>
                <a:spcPts val="1400"/>
              </a:lnSpc>
              <a:tabLst>
                <a:tab pos="0" algn="l"/>
              </a:tabLst>
            </a:pPr>
            <a:r>
              <a:rPr lang="en-US" sz="1000" b="0" u="none" strike="noStrike">
                <a:solidFill>
                  <a:srgbClr val="39FF9C"/>
                </a:solidFill>
                <a:effectLst/>
                <a:uFillTx/>
                <a:latin typeface="JetBrains Mono"/>
                <a:ea typeface="JetBrains Mono"/>
              </a:rPr>
              <a:t>$ hooksmith run ... --expect expected.json; echo $?</a:t>
            </a:r>
            <a:endParaRPr lang="en-US" sz="1000" b="0" u="none" strike="noStrike">
              <a:solidFill>
                <a:srgbClr val="FFFFFF"/>
              </a:solidFill>
              <a:effectLst/>
              <a:uFillTx/>
              <a:latin typeface="Arial"/>
            </a:endParaRPr>
          </a:p>
        </p:txBody>
      </p:sp>
      <p:sp>
        <p:nvSpPr>
          <p:cNvPr id="585" name="Text 6"/>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86" name="Text 7"/>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41 / 51</a:t>
            </a:r>
            <a:endParaRPr lang="en-US" sz="1200" b="0" u="none" strike="noStrike">
              <a:solidFill>
                <a:srgbClr val="FFFFFF"/>
              </a:solidFill>
              <a:effectLst/>
              <a:uFillTx/>
              <a:latin typeface="Arial"/>
            </a:endParaRPr>
          </a:p>
        </p:txBody>
      </p:sp>
      <p:pic>
        <p:nvPicPr>
          <p:cNvPr id="587" name="">
            <a:hlinkClick r:id="" action="ppaction://media"/>
          </p:cNvPr>
          <p:cNvPicPr/>
          <p:nvPr>
            <a:videoFile r:link="rId2"/>
            <p:extLst>
              <p:ext uri="{DAA4B4D4-6D71-4841-9C94-3DE7FCFB9230}">
                <p14:media r:embed="rId3"/>
              </p:ext>
            </p:extLst>
          </p:nvPr>
        </p:nvPicPr>
        <p:blipFill>
          <a:blip r:embed="rId4"/>
          <a:stretch>
            <a:fillRect/>
          </a:stretch>
        </p:blipFill>
        <p:spPr>
          <a:xfrm>
            <a:off x="3795840" y="2049840"/>
            <a:ext cx="4599360" cy="2594520"/>
          </a:xfrm>
          <a:prstGeom prst="rect">
            <a:avLst/>
          </a:prstGeom>
          <a:ln w="0">
            <a:noFill/>
          </a:ln>
        </p:spPr>
      </p:pic>
    </p:spTree>
  </p:cSld>
  <mc:AlternateContent>
    <mc:Choice Requires="p14">
      <p:transition spd="slow" p14:dur="2000"/>
    </mc:Choice>
    <mc:Fallback>
      <p:transition spd="slow"/>
    </mc:Fallback>
  </mc:AlternateContent>
  <p:timing>
    <p:tnLst>
      <p:par>
        <p:cTn id="7" dur="indefinite" restart="never" nodeType="tmRoot">
          <p:childTnLst>
            <p:video>
              <p:cMediaNode>
                <p:cTn>
                  <p:stCondLst>
                    <p:cond delay="indefinite"/>
                  </p:stCondLst>
                </p:cTn>
                <p:tgtEl>
                  <p:spTgt spid="587"/>
                </p:tgtEl>
              </p:cMediaNode>
            </p:video>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8" name="Image 0" descr="Neon wave background"/>
          <p:cNvPicPr/>
          <p:nvPr/>
        </p:nvPicPr>
        <p:blipFill>
          <a:blip r:embed="rId1"/>
          <a:stretch/>
        </p:blipFill>
        <p:spPr>
          <a:xfrm>
            <a:off x="0" y="0"/>
            <a:ext cx="12191400" cy="6857280"/>
          </a:xfrm>
          <a:prstGeom prst="rect">
            <a:avLst/>
          </a:prstGeom>
          <a:noFill/>
          <a:ln w="0">
            <a:noFill/>
          </a:ln>
        </p:spPr>
      </p:pic>
      <p:sp>
        <p:nvSpPr>
          <p:cNvPr id="589"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590"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42 / 51</a:t>
            </a:r>
            <a:endParaRPr lang="en-US" sz="1200" b="0" u="none" strike="noStrike">
              <a:solidFill>
                <a:srgbClr val="FFFFFF"/>
              </a:solidFill>
              <a:effectLst/>
              <a:uFillTx/>
              <a:latin typeface="Arial"/>
            </a:endParaRPr>
          </a:p>
        </p:txBody>
      </p:sp>
      <p:pic>
        <p:nvPicPr>
          <p:cNvPr id="591" name="">
            <a:hlinkClick r:id="" action="ppaction://media"/>
          </p:cNvPr>
          <p:cNvPicPr/>
          <p:nvPr>
            <a:videoFile r:link="rId2"/>
            <p:extLst>
              <p:ext uri="{DAA4B4D4-6D71-4841-9C94-3DE7FCFB9230}">
                <p14:media r:embed="rId3"/>
              </p:ext>
            </p:extLst>
          </p:nvPr>
        </p:nvPicPr>
        <p:blipFill>
          <a:blip r:embed="rId4"/>
          <a:stretch>
            <a:fillRect/>
          </a:stretch>
        </p:blipFill>
        <p:spPr>
          <a:xfrm>
            <a:off x="1095840" y="479880"/>
            <a:ext cx="9999720" cy="5624640"/>
          </a:xfrm>
          <a:prstGeom prst="rect">
            <a:avLst/>
          </a:prstGeom>
          <a:ln w="0">
            <a:noFill/>
          </a:ln>
        </p:spPr>
      </p:pic>
    </p:spTree>
  </p:cSld>
  <mc:AlternateContent>
    <mc:Choice Requires="p14">
      <p:transition spd="slow" p14:dur="2000"/>
    </mc:Choice>
    <mc:Fallback>
      <p:transition spd="slow"/>
    </mc:Fallback>
  </mc:AlternateContent>
  <p:timing>
    <p:tnLst>
      <p:par>
        <p:cTn id="8" dur="indefinite" restart="never" nodeType="tmRoot">
          <p:childTnLst>
            <p:video>
              <p:cMediaNode>
                <p:cTn>
                  <p:stCondLst>
                    <p:cond delay="indefinite"/>
                  </p:stCondLst>
                </p:cTn>
                <p:tgtEl>
                  <p:spTgt spid="591"/>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30308"/>
        </a:solidFill>
      </p:bgPr>
    </p:bg>
    <p:spTree>
      <p:nvGrpSpPr>
        <p:cNvPr id="1" name=""/>
        <p:cNvGrpSpPr/>
        <p:nvPr/>
      </p:nvGrpSpPr>
      <p:grpSpPr>
        <a:xfrm>
          <a:off x="0" y="0"/>
          <a:ext cx="0" cy="0"/>
          <a:chOff x="0" y="0"/>
          <a:chExt cx="0" cy="0"/>
        </a:xfrm>
      </p:grpSpPr>
      <p:pic>
        <p:nvPicPr>
          <p:cNvPr id="592" name="Image 0" descr="Neon wave background"/>
          <p:cNvPicPr/>
          <p:nvPr/>
        </p:nvPicPr>
        <p:blipFill>
          <a:blip r:embed="rId1"/>
          <a:stretch/>
        </p:blipFill>
        <p:spPr>
          <a:xfrm>
            <a:off x="0" y="0"/>
            <a:ext cx="12191400" cy="6857280"/>
          </a:xfrm>
          <a:prstGeom prst="rect">
            <a:avLst/>
          </a:prstGeom>
          <a:noFill/>
          <a:ln w="0">
            <a:noFill/>
          </a:ln>
        </p:spPr>
      </p:pic>
      <p:sp>
        <p:nvSpPr>
          <p:cNvPr id="593" name="Text 0"/>
          <p:cNvSpPr/>
          <p:nvPr/>
        </p:nvSpPr>
        <p:spPr>
          <a:xfrm>
            <a:off x="406440" y="304920"/>
            <a:ext cx="694080" cy="482040"/>
          </a:xfrm>
          <a:prstGeom prst="rect">
            <a:avLst/>
          </a:prstGeom>
          <a:noFill/>
          <a:ln w="0">
            <a:noFill/>
          </a:ln>
        </p:spPr>
        <p:style>
          <a:lnRef idx="0"/>
          <a:fillRef idx="0"/>
          <a:effectRef idx="0"/>
          <a:fontRef idx="minor"/>
        </p:style>
        <p:txBody>
          <a:bodyPr lIns="0" tIns="0" rIns="0" bIns="0" anchor="t">
            <a:normAutofit/>
          </a:bodyPr>
          <a:p>
            <a:pPr defTabSz="914400">
              <a:lnSpc>
                <a:spcPts val="3600"/>
              </a:lnSpc>
              <a:tabLst>
                <a:tab pos="0" algn="l"/>
              </a:tabLst>
            </a:pPr>
            <a:r>
              <a:rPr lang="en-US" sz="3600" b="1" u="none" strike="noStrike">
                <a:solidFill>
                  <a:srgbClr val="B07CFF"/>
                </a:solidFill>
                <a:effectLst/>
                <a:uFillTx/>
                <a:latin typeface="Space Grotesk"/>
                <a:ea typeface="Space Grotesk"/>
              </a:rPr>
              <a:t>04</a:t>
            </a:r>
            <a:endParaRPr lang="en-US" sz="3600" b="0" u="none" strike="noStrike">
              <a:solidFill>
                <a:srgbClr val="FFFFFF"/>
              </a:solidFill>
              <a:effectLst/>
              <a:uFillTx/>
              <a:latin typeface="Arial"/>
            </a:endParaRPr>
          </a:p>
        </p:txBody>
      </p:sp>
      <p:sp>
        <p:nvSpPr>
          <p:cNvPr id="594" name="Text 1"/>
          <p:cNvSpPr/>
          <p:nvPr/>
        </p:nvSpPr>
        <p:spPr>
          <a:xfrm>
            <a:off x="1188360" y="482760"/>
            <a:ext cx="274860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99" strike="noStrike">
                <a:solidFill>
                  <a:srgbClr val="FFE600"/>
                </a:solidFill>
                <a:effectLst/>
                <a:uFillTx/>
                <a:latin typeface="JetBrains Mono"/>
                <a:ea typeface="JetBrains Mono"/>
              </a:rPr>
              <a:t>WHAT IT REALLY PRINTED</a:t>
            </a:r>
            <a:endParaRPr lang="en-US" sz="1200" b="0" u="none" strike="noStrike">
              <a:solidFill>
                <a:srgbClr val="FFFFFF"/>
              </a:solidFill>
              <a:effectLst/>
              <a:uFillTx/>
              <a:latin typeface="Arial"/>
            </a:endParaRPr>
          </a:p>
        </p:txBody>
      </p:sp>
      <p:sp>
        <p:nvSpPr>
          <p:cNvPr id="595" name="Image 1" descr="Terminal: the table of eleven pinned verdicts replayed from the recorded VulnLab run"/>
          <p:cNvSpPr/>
          <p:nvPr/>
        </p:nvSpPr>
        <p:spPr>
          <a:xfrm rot="21480000">
            <a:off x="419040" y="1092240"/>
            <a:ext cx="4037760" cy="3682440"/>
          </a:xfrm>
          <a:prstGeom prst="roundRect">
            <a:avLst>
              <a:gd name="adj" fmla="val 2069"/>
            </a:avLst>
          </a:prstGeom>
          <a:blipFill rotWithShape="0">
            <a:blip r:embed="rId2"/>
            <a:srcRect/>
            <a:stretch/>
          </a:blipFill>
          <a:ln w="0">
            <a:noFill/>
          </a:ln>
          <a:effectLst>
            <a:outerShdw algn="bl" blurRad="190440" dir="0" dist="0" kx="0" ky="0" rotWithShape="0" sx="100000" sy="100000">
              <a:srgbClr val="B07CFF">
                <a:alpha val="4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6" name="Shape 2"/>
          <p:cNvSpPr/>
          <p:nvPr/>
        </p:nvSpPr>
        <p:spPr>
          <a:xfrm rot="21480000">
            <a:off x="412200" y="1085400"/>
            <a:ext cx="4050720" cy="3695040"/>
          </a:xfrm>
          <a:prstGeom prst="roundRect">
            <a:avLst>
              <a:gd name="adj" fmla="val 2234"/>
            </a:avLst>
          </a:prstGeom>
          <a:noFill/>
          <a:ln w="12700">
            <a:solidFill>
              <a:srgbClr val="B07CFF"/>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597" name="Image 2" descr="Terminal: harness passed and exit code 0"/>
          <p:cNvSpPr/>
          <p:nvPr/>
        </p:nvSpPr>
        <p:spPr>
          <a:xfrm rot="90000">
            <a:off x="4457520" y="1091520"/>
            <a:ext cx="5054040" cy="1796400"/>
          </a:xfrm>
          <a:prstGeom prst="roundRect">
            <a:avLst>
              <a:gd name="adj" fmla="val 4240"/>
            </a:avLst>
          </a:prstGeom>
          <a:blipFill rotWithShape="0">
            <a:blip r:embed="rId3"/>
            <a:srcRect/>
            <a:stretch/>
          </a:blipFill>
          <a:ln w="0">
            <a:noFill/>
          </a:ln>
          <a:effectLst>
            <a:outerShdw algn="bl" blurRad="190440" dir="0" dist="0" kx="0" ky="0" rotWithShape="0" sx="100000" sy="100000">
              <a:srgbClr val="39FF9C">
                <a:alpha val="4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8" name="Shape 3"/>
          <p:cNvSpPr/>
          <p:nvPr/>
        </p:nvSpPr>
        <p:spPr>
          <a:xfrm rot="90000">
            <a:off x="4450680" y="1085760"/>
            <a:ext cx="5066640" cy="1809000"/>
          </a:xfrm>
          <a:prstGeom prst="roundRect">
            <a:avLst>
              <a:gd name="adj" fmla="val 4561"/>
            </a:avLst>
          </a:prstGeom>
          <a:noFill/>
          <a:ln w="12700">
            <a:solidFill>
              <a:srgbClr val="39FF9C"/>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599" name="Image 3" descr="Terminal: the sed command that flips VL-2 from REFUTED to PROVEN in a copy of expected.json"/>
          <p:cNvSpPr/>
          <p:nvPr/>
        </p:nvSpPr>
        <p:spPr>
          <a:xfrm rot="21540000">
            <a:off x="4522680" y="3124080"/>
            <a:ext cx="4923000" cy="818280"/>
          </a:xfrm>
          <a:custGeom>
            <a:avLst/>
            <a:gdLst>
              <a:gd name="textAreaLeft" fmla="*/ 0 w 4923000"/>
              <a:gd name="textAreaRight" fmla="*/ 4923720 w 4923000"/>
              <a:gd name="textAreaTop" fmla="*/ 0 h 818280"/>
              <a:gd name="textAreaBottom" fmla="*/ 819000 h 818280"/>
            </a:gdLst>
            <a:ahLst/>
            <a:cxnLst/>
            <a:rect l="textAreaLeft" t="textAreaTop" r="textAreaRight" b="textAreaBottom"/>
            <a:pathLst>
              <a:path w="4923614" h="819150">
                <a:moveTo>
                  <a:pt x="0" y="756"/>
                </a:moveTo>
                <a:arcTo wR="76200" hR="76200" stAng="15715344" swAng="484656"/>
                <a:lnTo>
                  <a:pt x="4912907" y="0"/>
                </a:lnTo>
                <a:arcTo wR="76200" hR="76200" stAng="16200000" swAng="484656"/>
                <a:lnTo>
                  <a:pt x="4923614" y="818394"/>
                </a:lnTo>
                <a:arcTo wR="76200" hR="76200" stAng="4915344" swAng="484656"/>
                <a:lnTo>
                  <a:pt x="10707" y="819150"/>
                </a:lnTo>
                <a:arcTo wR="76200" hR="76200" stAng="5400000" swAng="484656"/>
                <a:close/>
              </a:path>
            </a:pathLst>
          </a:custGeom>
          <a:blipFill rotWithShape="0">
            <a:blip r:embed="rId4"/>
            <a:srcRect/>
            <a:stretch/>
          </a:blipFill>
          <a:ln w="0">
            <a:noFill/>
          </a:ln>
          <a:effectLst>
            <a:outerShdw algn="bl" blurRad="190440" dir="0" dist="0" kx="0" ky="0" rotWithShape="0" sx="100000" sy="100000">
              <a:srgbClr val="FFE600">
                <a:alpha val="4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0" name="Shape 4"/>
          <p:cNvSpPr/>
          <p:nvPr/>
        </p:nvSpPr>
        <p:spPr>
          <a:xfrm rot="21540000">
            <a:off x="4451400" y="3117960"/>
            <a:ext cx="5066640" cy="831240"/>
          </a:xfrm>
          <a:prstGeom prst="roundRect">
            <a:avLst>
              <a:gd name="adj" fmla="val 9924"/>
            </a:avLst>
          </a:prstGeom>
          <a:noFill/>
          <a:ln w="12700">
            <a:solidFill>
              <a:srgbClr val="FFE600"/>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01" name="Image 4" descr="Terminal: the failing run names VL-2 expected PROVEN got REFUTED, harness failed, exit code 1"/>
          <p:cNvSpPr/>
          <p:nvPr/>
        </p:nvSpPr>
        <p:spPr>
          <a:xfrm rot="60000">
            <a:off x="6235560" y="3822480"/>
            <a:ext cx="5434920" cy="2247120"/>
          </a:xfrm>
          <a:prstGeom prst="roundRect">
            <a:avLst>
              <a:gd name="adj" fmla="val 3390"/>
            </a:avLst>
          </a:prstGeom>
          <a:blipFill rotWithShape="0">
            <a:blip r:embed="rId5"/>
            <a:srcRect/>
            <a:stretch/>
          </a:blipFill>
          <a:ln w="0">
            <a:noFill/>
          </a:ln>
          <a:effectLst>
            <a:outerShdw algn="bl" blurRad="190440" dir="0" dist="0" kx="0" ky="0" rotWithShape="0" sx="100000" sy="100000">
              <a:srgbClr val="FF2BD6">
                <a:alpha val="5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2" name="Shape 5"/>
          <p:cNvSpPr/>
          <p:nvPr/>
        </p:nvSpPr>
        <p:spPr>
          <a:xfrm rot="60000">
            <a:off x="6229440" y="3815640"/>
            <a:ext cx="5447520" cy="2259720"/>
          </a:xfrm>
          <a:prstGeom prst="roundRect">
            <a:avLst>
              <a:gd name="adj" fmla="val 3652"/>
            </a:avLst>
          </a:prstGeom>
          <a:noFill/>
          <a:ln w="12700">
            <a:solidFill>
              <a:srgbClr val="FF2BD6"/>
            </a:solidFill>
            <a:round/>
          </a:ln>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03" name="Text 6"/>
          <p:cNvSpPr/>
          <p:nvPr/>
        </p:nvSpPr>
        <p:spPr>
          <a:xfrm>
            <a:off x="9416880" y="639072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43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4" name="Image 0" descr="Neon wave background"/>
          <p:cNvPicPr/>
          <p:nvPr/>
        </p:nvPicPr>
        <p:blipFill>
          <a:blip r:embed="rId1"/>
          <a:stretch/>
        </p:blipFill>
        <p:spPr>
          <a:xfrm>
            <a:off x="0" y="0"/>
            <a:ext cx="12191400" cy="6857280"/>
          </a:xfrm>
          <a:prstGeom prst="rect">
            <a:avLst/>
          </a:prstGeom>
          <a:noFill/>
          <a:ln w="0">
            <a:noFill/>
          </a:ln>
        </p:spPr>
      </p:pic>
      <p:sp>
        <p:nvSpPr>
          <p:cNvPr id="605"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606"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44 / 51</a:t>
            </a:r>
            <a:endParaRPr lang="en-US" sz="1200" b="0" u="none" strike="noStrike">
              <a:solidFill>
                <a:srgbClr val="FFFFFF"/>
              </a:solidFill>
              <a:effectLst/>
              <a:uFillTx/>
              <a:latin typeface="Arial"/>
            </a:endParaRPr>
          </a:p>
        </p:txBody>
      </p:sp>
      <p:sp>
        <p:nvSpPr>
          <p:cNvPr id="607" name="TextBox 21"/>
          <p:cNvSpPr/>
          <p:nvPr/>
        </p:nvSpPr>
        <p:spPr>
          <a:xfrm>
            <a:off x="699840" y="640080"/>
            <a:ext cx="10791360" cy="259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B07CFF"/>
                </a:solidFill>
                <a:effectLst/>
                <a:uFillTx/>
                <a:latin typeface="JetBrains Mono"/>
              </a:rPr>
              <a:t>$ cat .github/workflows/hooksmith.yml</a:t>
            </a:r>
            <a:endParaRPr lang="en-US" sz="1300" b="0" u="none" strike="noStrike">
              <a:solidFill>
                <a:srgbClr val="FFFFFF"/>
              </a:solidFill>
              <a:effectLst/>
              <a:uFillTx/>
              <a:latin typeface="Arial"/>
            </a:endParaRPr>
          </a:p>
        </p:txBody>
      </p:sp>
      <p:sp>
        <p:nvSpPr>
          <p:cNvPr id="608" name="TextBox 22"/>
          <p:cNvSpPr/>
          <p:nvPr/>
        </p:nvSpPr>
        <p:spPr>
          <a:xfrm>
            <a:off x="699840" y="960120"/>
            <a:ext cx="10791360" cy="5594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3200" b="1" u="none" strike="noStrike">
                <a:solidFill>
                  <a:srgbClr val="F2FFFF"/>
                </a:solidFill>
                <a:effectLst/>
                <a:uFillTx/>
                <a:latin typeface="Space Grotesk"/>
              </a:rPr>
              <a:t>A verdict is a build gate</a:t>
            </a:r>
            <a:endParaRPr lang="en-US" sz="3200" b="0" u="none" strike="noStrike">
              <a:solidFill>
                <a:srgbClr val="FFFFFF"/>
              </a:solidFill>
              <a:effectLst/>
              <a:uFillTx/>
              <a:latin typeface="Arial"/>
            </a:endParaRPr>
          </a:p>
        </p:txBody>
      </p:sp>
      <p:sp>
        <p:nvSpPr>
          <p:cNvPr id="609" name="TextBox 23"/>
          <p:cNvSpPr/>
          <p:nvPr/>
        </p:nvSpPr>
        <p:spPr>
          <a:xfrm>
            <a:off x="900000" y="1559880"/>
            <a:ext cx="10391400" cy="3592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600" b="0" u="none" strike="noStrike">
                <a:solidFill>
                  <a:srgbClr val="6F82A8"/>
                </a:solidFill>
                <a:effectLst/>
                <a:uFillTx/>
                <a:latin typeface="Space Grotesk"/>
              </a:rPr>
              <a:t>Every release build re-proves its own findings.</a:t>
            </a:r>
            <a:endParaRPr lang="en-US" sz="1600" b="0" u="none" strike="noStrike">
              <a:solidFill>
                <a:srgbClr val="FFFFFF"/>
              </a:solidFill>
              <a:effectLst/>
              <a:uFillTx/>
              <a:latin typeface="Arial"/>
            </a:endParaRPr>
          </a:p>
        </p:txBody>
      </p:sp>
      <p:sp>
        <p:nvSpPr>
          <p:cNvPr id="610" name="Rounded Rectangle 24"/>
          <p:cNvSpPr/>
          <p:nvPr/>
        </p:nvSpPr>
        <p:spPr>
          <a:xfrm>
            <a:off x="699840" y="1950120"/>
            <a:ext cx="6699240" cy="2749320"/>
          </a:xfrm>
          <a:prstGeom prst="roundRect">
            <a:avLst>
              <a:gd name="adj" fmla="val 6000"/>
            </a:avLst>
          </a:prstGeom>
          <a:solidFill>
            <a:srgbClr val="05070F"/>
          </a:solidFill>
          <a:ln w="12700">
            <a:solidFill>
              <a:srgbClr val="00F0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00F0FF"/>
                </a:solidFill>
                <a:effectLst/>
                <a:uFillTx/>
                <a:latin typeface="JetBrains Mono"/>
              </a:rPr>
              <a:t>hooksmith.yml</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name: Prove </a:t>
            </a:r>
            <a:r>
              <a:rPr lang="en-US" sz="1400" b="0" u="none" strike="noStrike">
                <a:solidFill>
                  <a:srgbClr val="B07CFF"/>
                </a:solidFill>
                <a:effectLst/>
                <a:uFillTx/>
                <a:latin typeface="JetBrains Mono"/>
              </a:rPr>
              <a:t>or</a:t>
            </a:r>
            <a:r>
              <a:rPr lang="en-US" sz="1400" b="0" u="none" strike="noStrike">
                <a:solidFill>
                  <a:srgbClr val="E8F7FF"/>
                </a:solidFill>
                <a:effectLst/>
                <a:uFillTx/>
                <a:latin typeface="JetBrains Mono"/>
              </a:rPr>
              <a:t> Delete</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run: |</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uv run hooksmith run \</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--report mobsf.json --apk app-release.apk \</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--executor avd --provider worker \</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--fail-on PROVEN:high --max-unvalidated 5</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uses: actions/upload-artifact@v4</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a:t>
            </a:r>
            <a:r>
              <a:rPr lang="en-US" sz="1400" b="0" u="none" strike="noStrike">
                <a:solidFill>
                  <a:srgbClr val="B07CFF"/>
                </a:solidFill>
                <a:effectLst/>
                <a:uFillTx/>
                <a:latin typeface="JetBrains Mono"/>
              </a:rPr>
              <a:t>if</a:t>
            </a:r>
            <a:r>
              <a:rPr lang="en-US" sz="1400" b="0" u="none" strike="noStrike">
                <a:solidFill>
                  <a:srgbClr val="E8F7FF"/>
                </a:solidFill>
                <a:effectLst/>
                <a:uFillTx/>
                <a:latin typeface="JetBrains Mono"/>
              </a:rPr>
              <a:t>: always()</a:t>
            </a:r>
            <a:endParaRPr lang="en-US" sz="1400" b="0" u="none" strike="noStrike">
              <a:solidFill>
                <a:srgbClr val="FFFFFF"/>
              </a:solidFill>
              <a:effectLst/>
              <a:uFillTx/>
              <a:latin typeface="Arial"/>
            </a:endParaRPr>
          </a:p>
          <a:p>
            <a:pPr defTabSz="914400">
              <a:lnSpc>
                <a:spcPct val="100000"/>
              </a:lnSpc>
            </a:pPr>
            <a:r>
              <a:rPr lang="en-US" sz="1400" b="0" u="none" strike="noStrike">
                <a:solidFill>
                  <a:srgbClr val="E8F7FF"/>
                </a:solidFill>
                <a:effectLst/>
                <a:uFillTx/>
                <a:latin typeface="JetBrains Mono"/>
              </a:rPr>
              <a:t>  with: { name: hooksmith-evidence, path: runs/ }</a:t>
            </a:r>
            <a:endParaRPr lang="en-US" sz="1400" b="0" u="none" strike="noStrike">
              <a:solidFill>
                <a:srgbClr val="FFFFFF"/>
              </a:solidFill>
              <a:effectLst/>
              <a:uFillTx/>
              <a:latin typeface="Arial"/>
            </a:endParaRPr>
          </a:p>
        </p:txBody>
      </p:sp>
      <p:sp>
        <p:nvSpPr>
          <p:cNvPr id="611" name="Rounded Rectangle 25"/>
          <p:cNvSpPr/>
          <p:nvPr/>
        </p:nvSpPr>
        <p:spPr>
          <a:xfrm>
            <a:off x="7599960" y="1950120"/>
            <a:ext cx="3899160" cy="2749320"/>
          </a:xfrm>
          <a:prstGeom prst="roundRect">
            <a:avLst>
              <a:gd name="adj" fmla="val 6000"/>
            </a:avLst>
          </a:prstGeom>
          <a:solidFill>
            <a:srgbClr val="05070F"/>
          </a:solidFill>
          <a:ln w="12700">
            <a:solidFill>
              <a:srgbClr val="B07CFF"/>
            </a:solidFill>
          </a:ln>
        </p:spPr>
        <p:style>
          <a:lnRef idx="1">
            <a:schemeClr val="accent1"/>
          </a:lnRef>
          <a:fillRef idx="3">
            <a:schemeClr val="accent1"/>
          </a:fillRef>
          <a:effectRef idx="2">
            <a:schemeClr val="accent1"/>
          </a:effectRef>
          <a:fontRef idx="minor"/>
        </p:style>
        <p:txBody>
          <a:bodyPr lIns="150120" tIns="150120" rIns="150120" bIns="150120" anchor="t">
            <a:noAutofit/>
          </a:bodyPr>
          <a:p>
            <a:pPr defTabSz="914400">
              <a:lnSpc>
                <a:spcPct val="100000"/>
              </a:lnSpc>
            </a:pPr>
            <a:r>
              <a:rPr lang="en-US" sz="1100" b="1" u="none" strike="noStrike">
                <a:solidFill>
                  <a:srgbClr val="B07CFF"/>
                </a:solidFill>
                <a:effectLst/>
                <a:uFillTx/>
                <a:latin typeface="JetBrains Mono"/>
              </a:rPr>
              <a:t>two ways to fail</a:t>
            </a:r>
            <a:endParaRPr lang="en-US" sz="1100" b="0" u="none" strike="noStrike">
              <a:solidFill>
                <a:srgbClr val="FFFFFF"/>
              </a:solidFill>
              <a:effectLst/>
              <a:uFillTx/>
              <a:latin typeface="Arial"/>
            </a:endParaRPr>
          </a:p>
          <a:p>
            <a:pPr defTabSz="914400">
              <a:lnSpc>
                <a:spcPct val="100000"/>
              </a:lnSpc>
            </a:pPr>
            <a:endParaRPr lang="en-US" sz="6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--fail-on PROVEN:high</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a proven high-severity bug</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fails the build</a:t>
            </a:r>
            <a:endParaRPr lang="en-US" sz="1300" b="0" u="none" strike="noStrike">
              <a:solidFill>
                <a:srgbClr val="FFFFFF"/>
              </a:solidFill>
              <a:effectLst/>
              <a:uFillTx/>
              <a:latin typeface="Arial"/>
            </a:endParaRPr>
          </a:p>
          <a:p>
            <a:pPr defTabSz="914400">
              <a:lnSpc>
                <a:spcPct val="100000"/>
              </a:lnSpc>
            </a:pP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--expect expected.json</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any verdict that drifts</a:t>
            </a:r>
            <a:endParaRPr lang="en-US" sz="1300" b="0" u="none" strike="noStrike">
              <a:solidFill>
                <a:srgbClr val="FFFFFF"/>
              </a:solidFill>
              <a:effectLst/>
              <a:uFillTx/>
              <a:latin typeface="Arial"/>
            </a:endParaRPr>
          </a:p>
          <a:p>
            <a:pPr defTabSz="914400">
              <a:lnSpc>
                <a:spcPct val="100000"/>
              </a:lnSpc>
            </a:pPr>
            <a:r>
              <a:rPr lang="en-US" sz="1300" b="0" u="none" strike="noStrike">
                <a:solidFill>
                  <a:srgbClr val="E8F7FF"/>
                </a:solidFill>
                <a:effectLst/>
                <a:uFillTx/>
                <a:latin typeface="JetBrains Mono"/>
              </a:rPr>
              <a:t>  </a:t>
            </a:r>
            <a:r>
              <a:rPr lang="en-US" sz="1300" b="0" u="none" strike="noStrike">
                <a:solidFill>
                  <a:srgbClr val="B07CFF"/>
                </a:solidFill>
                <a:effectLst/>
                <a:uFillTx/>
                <a:latin typeface="JetBrains Mono"/>
              </a:rPr>
              <a:t>from</a:t>
            </a:r>
            <a:r>
              <a:rPr lang="en-US" sz="1300" b="0" u="none" strike="noStrike">
                <a:solidFill>
                  <a:srgbClr val="E8F7FF"/>
                </a:solidFill>
                <a:effectLst/>
                <a:uFillTx/>
                <a:latin typeface="JetBrains Mono"/>
              </a:rPr>
              <a:t> the pinned file: exit 1</a:t>
            </a:r>
            <a:endParaRPr lang="en-US" sz="1300" b="0" u="none" strike="noStrike">
              <a:solidFill>
                <a:srgbClr val="FFFFFF"/>
              </a:solidFill>
              <a:effectLst/>
              <a:uFillTx/>
              <a:latin typeface="Arial"/>
            </a:endParaRPr>
          </a:p>
        </p:txBody>
      </p:sp>
      <p:sp>
        <p:nvSpPr>
          <p:cNvPr id="612" name="TextBox 26"/>
          <p:cNvSpPr/>
          <p:nvPr/>
        </p:nvSpPr>
        <p:spPr>
          <a:xfrm>
            <a:off x="900000" y="4880160"/>
            <a:ext cx="10391400" cy="228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500" b="0" u="none" strike="noStrike">
                <a:solidFill>
                  <a:srgbClr val="6F82A8"/>
                </a:solidFill>
                <a:effectLst/>
                <a:uFillTx/>
                <a:latin typeface="Space Grotesk"/>
              </a:rPr>
              <a:t>Pin the verdicts you expect. A code change that flips one is a regression test failing</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3" name="Image 0" descr="Neon wave background"/>
          <p:cNvPicPr/>
          <p:nvPr/>
        </p:nvPicPr>
        <p:blipFill>
          <a:blip r:embed="rId1"/>
          <a:stretch/>
        </p:blipFill>
        <p:spPr>
          <a:xfrm>
            <a:off x="0" y="0"/>
            <a:ext cx="12191400" cy="6857280"/>
          </a:xfrm>
          <a:prstGeom prst="rect">
            <a:avLst/>
          </a:prstGeom>
          <a:noFill/>
          <a:ln w="0">
            <a:noFill/>
          </a:ln>
        </p:spPr>
      </p:pic>
      <p:sp>
        <p:nvSpPr>
          <p:cNvPr id="614" name="Text 1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615" name="Text 1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45 / 51</a:t>
            </a:r>
            <a:endParaRPr lang="en-US" sz="1200" b="0" u="none" strike="noStrike">
              <a:solidFill>
                <a:srgbClr val="FFFFFF"/>
              </a:solidFill>
              <a:effectLst/>
              <a:uFillTx/>
              <a:latin typeface="Arial"/>
            </a:endParaRPr>
          </a:p>
        </p:txBody>
      </p:sp>
      <p:pic>
        <p:nvPicPr>
          <p:cNvPr id="616" name="">
            <a:hlinkClick r:id="" action="ppaction://media"/>
          </p:cNvPr>
          <p:cNvPicPr/>
          <p:nvPr>
            <a:videoFile r:link="rId2"/>
            <p:extLst>
              <p:ext uri="{DAA4B4D4-6D71-4841-9C94-3DE7FCFB9230}">
                <p14:media r:embed="rId3"/>
              </p:ext>
            </p:extLst>
          </p:nvPr>
        </p:nvPicPr>
        <p:blipFill>
          <a:blip r:embed="rId4"/>
          <a:stretch>
            <a:fillRect/>
          </a:stretch>
        </p:blipFill>
        <p:spPr>
          <a:xfrm>
            <a:off x="1095840" y="479880"/>
            <a:ext cx="9999720" cy="5624640"/>
          </a:xfrm>
          <a:prstGeom prst="rect">
            <a:avLst/>
          </a:prstGeom>
          <a:ln w="0">
            <a:noFill/>
          </a:ln>
        </p:spPr>
      </p:pic>
    </p:spTree>
  </p:cSld>
  <mc:AlternateContent>
    <mc:Choice Requires="p14">
      <p:transition spd="slow" p14:dur="2000"/>
    </mc:Choice>
    <mc:Fallback>
      <p:transition spd="slow"/>
    </mc:Fallback>
  </mc:AlternateContent>
  <p:timing>
    <p:tnLst>
      <p:par>
        <p:cTn id="9" dur="indefinite" restart="never" nodeType="tmRoot">
          <p:childTnLst>
            <p:video>
              <p:cMediaNode>
                <p:cTn>
                  <p:stCondLst>
                    <p:cond delay="indefinite"/>
                  </p:stCondLst>
                </p:cTn>
                <p:tgtEl>
                  <p:spTgt spid="616"/>
                </p:tgtEl>
              </p:cMediaNode>
            </p:video>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7" name="Image 0" descr="Neon wave background"/>
          <p:cNvPicPr/>
          <p:nvPr/>
        </p:nvPicPr>
        <p:blipFill>
          <a:blip r:embed="rId1"/>
          <a:stretch/>
        </p:blipFill>
        <p:spPr>
          <a:xfrm>
            <a:off x="0" y="0"/>
            <a:ext cx="12191400" cy="6857280"/>
          </a:xfrm>
          <a:prstGeom prst="rect">
            <a:avLst/>
          </a:prstGeom>
          <a:noFill/>
          <a:ln w="0">
            <a:noFill/>
          </a:ln>
        </p:spPr>
      </p:pic>
      <p:sp>
        <p:nvSpPr>
          <p:cNvPr id="618" name="Text 0"/>
          <p:cNvSpPr/>
          <p:nvPr/>
        </p:nvSpPr>
        <p:spPr>
          <a:xfrm>
            <a:off x="4284000" y="2034360"/>
            <a:ext cx="36234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FFE600"/>
                </a:solidFill>
                <a:effectLst/>
                <a:uFillTx/>
                <a:latin typeface="JetBrains Mono"/>
                <a:ea typeface="JetBrains Mono"/>
              </a:rPr>
              <a:t>$ hooksmith --where-it-breaks</a:t>
            </a:r>
            <a:endParaRPr lang="en-US" sz="1200" b="0" u="none" strike="noStrike">
              <a:solidFill>
                <a:srgbClr val="FFFFFF"/>
              </a:solidFill>
              <a:effectLst/>
              <a:uFillTx/>
              <a:latin typeface="Arial"/>
            </a:endParaRPr>
          </a:p>
        </p:txBody>
      </p:sp>
      <p:sp>
        <p:nvSpPr>
          <p:cNvPr id="619" name="PlaceHolder 1"/>
          <p:cNvSpPr>
            <a:spLocks noGrp="1"/>
          </p:cNvSpPr>
          <p:nvPr>
            <p:ph type="title"/>
          </p:nvPr>
        </p:nvSpPr>
        <p:spPr>
          <a:xfrm>
            <a:off x="4089960" y="2552760"/>
            <a:ext cx="401148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Where it breaks</a:t>
            </a:r>
            <a:endParaRPr lang="en-US" sz="3600" b="0" u="none" strike="noStrike">
              <a:solidFill>
                <a:schemeClr val="lt1"/>
              </a:solidFill>
              <a:effectLst/>
              <a:uFillTx/>
              <a:latin typeface="JetBrains Mono"/>
            </a:endParaRPr>
          </a:p>
        </p:txBody>
      </p:sp>
      <p:pic>
        <p:nvPicPr>
          <p:cNvPr id="620" name="Image 1" descr="Code"/>
          <p:cNvPicPr/>
          <p:nvPr/>
        </p:nvPicPr>
        <p:blipFill>
          <a:blip r:embed="rId2"/>
          <a:stretch/>
        </p:blipFill>
        <p:spPr>
          <a:xfrm>
            <a:off x="1650960" y="3472200"/>
            <a:ext cx="405720" cy="405720"/>
          </a:xfrm>
          <a:prstGeom prst="rect">
            <a:avLst/>
          </a:prstGeom>
          <a:noFill/>
          <a:ln w="0">
            <a:noFill/>
          </a:ln>
        </p:spPr>
      </p:pic>
      <p:sp>
        <p:nvSpPr>
          <p:cNvPr id="621" name="Text 2"/>
          <p:cNvSpPr/>
          <p:nvPr/>
        </p:nvSpPr>
        <p:spPr>
          <a:xfrm>
            <a:off x="2235240" y="3360240"/>
            <a:ext cx="191448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E8F7FF"/>
                </a:solidFill>
                <a:effectLst/>
                <a:uFillTx/>
                <a:latin typeface="Space Grotesk"/>
                <a:ea typeface="Space Grotesk"/>
              </a:rPr>
              <a:t>Native code</a:t>
            </a:r>
            <a:endParaRPr lang="en-US" sz="2200" b="0" u="none" strike="noStrike">
              <a:solidFill>
                <a:srgbClr val="FFFFFF"/>
              </a:solidFill>
              <a:effectLst/>
              <a:uFillTx/>
              <a:latin typeface="Arial"/>
            </a:endParaRPr>
          </a:p>
        </p:txBody>
      </p:sp>
      <p:sp>
        <p:nvSpPr>
          <p:cNvPr id="622" name="Text 3"/>
          <p:cNvSpPr/>
          <p:nvPr/>
        </p:nvSpPr>
        <p:spPr>
          <a:xfrm>
            <a:off x="2235240" y="3777120"/>
            <a:ext cx="16459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2BD6"/>
                </a:solidFill>
                <a:effectLst/>
                <a:uFillTx/>
                <a:latin typeface="JetBrains Mono"/>
                <a:ea typeface="JetBrains Mono"/>
              </a:rPr>
              <a:t>UNVALIDATED</a:t>
            </a:r>
            <a:endParaRPr lang="en-US" sz="1200" b="0" u="none" strike="noStrike">
              <a:solidFill>
                <a:srgbClr val="FFFFFF"/>
              </a:solidFill>
              <a:effectLst/>
              <a:uFillTx/>
              <a:latin typeface="Arial"/>
            </a:endParaRPr>
          </a:p>
        </p:txBody>
      </p:sp>
      <p:pic>
        <p:nvPicPr>
          <p:cNvPr id="623" name="Image 2" descr="Lock"/>
          <p:cNvPicPr/>
          <p:nvPr/>
        </p:nvPicPr>
        <p:blipFill>
          <a:blip r:embed="rId3"/>
          <a:stretch/>
        </p:blipFill>
        <p:spPr>
          <a:xfrm>
            <a:off x="6095880" y="3472200"/>
            <a:ext cx="405720" cy="405720"/>
          </a:xfrm>
          <a:prstGeom prst="rect">
            <a:avLst/>
          </a:prstGeom>
          <a:noFill/>
          <a:ln w="0">
            <a:noFill/>
          </a:ln>
        </p:spPr>
      </p:pic>
      <p:sp>
        <p:nvSpPr>
          <p:cNvPr id="624" name="Text 4"/>
          <p:cNvSpPr/>
          <p:nvPr/>
        </p:nvSpPr>
        <p:spPr>
          <a:xfrm>
            <a:off x="6680160" y="3360240"/>
            <a:ext cx="199476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E8F7FF"/>
                </a:solidFill>
                <a:effectLst/>
                <a:uFillTx/>
                <a:latin typeface="Space Grotesk"/>
                <a:ea typeface="Space Grotesk"/>
              </a:rPr>
              <a:t>Obfuscation</a:t>
            </a:r>
            <a:endParaRPr lang="en-US" sz="2200" b="0" u="none" strike="noStrike">
              <a:solidFill>
                <a:srgbClr val="FFFFFF"/>
              </a:solidFill>
              <a:effectLst/>
              <a:uFillTx/>
              <a:latin typeface="Arial"/>
            </a:endParaRPr>
          </a:p>
        </p:txBody>
      </p:sp>
      <p:sp>
        <p:nvSpPr>
          <p:cNvPr id="625" name="Text 5"/>
          <p:cNvSpPr/>
          <p:nvPr/>
        </p:nvSpPr>
        <p:spPr>
          <a:xfrm>
            <a:off x="6680160" y="3777120"/>
            <a:ext cx="171288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E600"/>
                </a:solidFill>
                <a:effectLst/>
                <a:uFillTx/>
                <a:latin typeface="JetBrains Mono"/>
                <a:ea typeface="JetBrains Mono"/>
              </a:rPr>
              <a:t>next up</a:t>
            </a:r>
            <a:endParaRPr lang="en-US" sz="1200" b="0" u="none" strike="noStrike">
              <a:solidFill>
                <a:srgbClr val="FFFFFF"/>
              </a:solidFill>
              <a:effectLst/>
              <a:uFillTx/>
              <a:latin typeface="Arial"/>
            </a:endParaRPr>
          </a:p>
        </p:txBody>
      </p:sp>
      <p:pic>
        <p:nvPicPr>
          <p:cNvPr id="626" name="Image 3" descr="Warning"/>
          <p:cNvPicPr/>
          <p:nvPr/>
        </p:nvPicPr>
        <p:blipFill>
          <a:blip r:embed="rId4"/>
          <a:stretch/>
        </p:blipFill>
        <p:spPr>
          <a:xfrm>
            <a:off x="1650960" y="4102200"/>
            <a:ext cx="405720" cy="405720"/>
          </a:xfrm>
          <a:prstGeom prst="rect">
            <a:avLst/>
          </a:prstGeom>
          <a:noFill/>
          <a:ln w="0">
            <a:noFill/>
          </a:ln>
        </p:spPr>
      </p:pic>
      <p:sp>
        <p:nvSpPr>
          <p:cNvPr id="627" name="Text 6"/>
          <p:cNvSpPr/>
          <p:nvPr/>
        </p:nvSpPr>
        <p:spPr>
          <a:xfrm>
            <a:off x="2235240" y="3990240"/>
            <a:ext cx="254268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E8F7FF"/>
                </a:solidFill>
                <a:effectLst/>
                <a:uFillTx/>
                <a:latin typeface="Space Grotesk"/>
                <a:ea typeface="Space Grotesk"/>
              </a:rPr>
              <a:t>Wrong overload</a:t>
            </a:r>
            <a:endParaRPr lang="en-US" sz="2200" b="0" u="none" strike="noStrike">
              <a:solidFill>
                <a:srgbClr val="FFFFFF"/>
              </a:solidFill>
              <a:effectLst/>
              <a:uFillTx/>
              <a:latin typeface="Arial"/>
            </a:endParaRPr>
          </a:p>
        </p:txBody>
      </p:sp>
      <p:sp>
        <p:nvSpPr>
          <p:cNvPr id="628" name="Text 7"/>
          <p:cNvSpPr/>
          <p:nvPr/>
        </p:nvSpPr>
        <p:spPr>
          <a:xfrm>
            <a:off x="2235240" y="4406760"/>
            <a:ext cx="218232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5A5F"/>
                </a:solidFill>
                <a:effectLst/>
                <a:uFillTx/>
                <a:latin typeface="JetBrains Mono"/>
                <a:ea typeface="JetBrains Mono"/>
              </a:rPr>
              <a:t>valid but wrong</a:t>
            </a:r>
            <a:endParaRPr lang="en-US" sz="1200" b="0" u="none" strike="noStrike">
              <a:solidFill>
                <a:srgbClr val="FFFFFF"/>
              </a:solidFill>
              <a:effectLst/>
              <a:uFillTx/>
              <a:latin typeface="Arial"/>
            </a:endParaRPr>
          </a:p>
        </p:txBody>
      </p:sp>
      <p:pic>
        <p:nvPicPr>
          <p:cNvPr id="629" name="Image 4" descr="Clock"/>
          <p:cNvPicPr/>
          <p:nvPr/>
        </p:nvPicPr>
        <p:blipFill>
          <a:blip r:embed="rId5"/>
          <a:stretch/>
        </p:blipFill>
        <p:spPr>
          <a:xfrm>
            <a:off x="6095880" y="4102200"/>
            <a:ext cx="405720" cy="405720"/>
          </a:xfrm>
          <a:prstGeom prst="rect">
            <a:avLst/>
          </a:prstGeom>
          <a:noFill/>
          <a:ln w="0">
            <a:noFill/>
          </a:ln>
        </p:spPr>
      </p:pic>
      <p:sp>
        <p:nvSpPr>
          <p:cNvPr id="630" name="Text 8"/>
          <p:cNvSpPr/>
          <p:nvPr/>
        </p:nvSpPr>
        <p:spPr>
          <a:xfrm>
            <a:off x="6680160" y="3990240"/>
            <a:ext cx="120636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1" u="none" strike="noStrike">
                <a:solidFill>
                  <a:srgbClr val="E8F7FF"/>
                </a:solidFill>
                <a:effectLst/>
                <a:uFillTx/>
                <a:latin typeface="Space Grotesk"/>
                <a:ea typeface="Space Grotesk"/>
              </a:rPr>
              <a:t>UI gaps</a:t>
            </a:r>
            <a:endParaRPr lang="en-US" sz="2200" b="0" u="none" strike="noStrike">
              <a:solidFill>
                <a:srgbClr val="FFFFFF"/>
              </a:solidFill>
              <a:effectLst/>
              <a:uFillTx/>
              <a:latin typeface="Arial"/>
            </a:endParaRPr>
          </a:p>
        </p:txBody>
      </p:sp>
      <p:sp>
        <p:nvSpPr>
          <p:cNvPr id="631" name="Text 9"/>
          <p:cNvSpPr/>
          <p:nvPr/>
        </p:nvSpPr>
        <p:spPr>
          <a:xfrm>
            <a:off x="6680160" y="4406760"/>
            <a:ext cx="120636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9F1C"/>
                </a:solidFill>
                <a:effectLst/>
                <a:uFillTx/>
                <a:latin typeface="JetBrains Mono"/>
                <a:ea typeface="JetBrains Mono"/>
              </a:rPr>
              <a:t>UNREACHABLE</a:t>
            </a:r>
            <a:endParaRPr lang="en-US" sz="1200" b="0" u="none" strike="noStrike">
              <a:solidFill>
                <a:srgbClr val="FFFFFF"/>
              </a:solidFill>
              <a:effectLst/>
              <a:uFillTx/>
              <a:latin typeface="Arial"/>
            </a:endParaRPr>
          </a:p>
        </p:txBody>
      </p:sp>
      <p:sp>
        <p:nvSpPr>
          <p:cNvPr id="632" name="Text 10"/>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633" name="Text 11"/>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46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4" name="Image 0" descr="Neon wave background"/>
          <p:cNvPicPr/>
          <p:nvPr/>
        </p:nvPicPr>
        <p:blipFill>
          <a:blip r:embed="rId1"/>
          <a:stretch/>
        </p:blipFill>
        <p:spPr>
          <a:xfrm>
            <a:off x="0" y="0"/>
            <a:ext cx="12191400" cy="6857280"/>
          </a:xfrm>
          <a:prstGeom prst="rect">
            <a:avLst/>
          </a:prstGeom>
          <a:noFill/>
          <a:ln w="0">
            <a:noFill/>
          </a:ln>
        </p:spPr>
      </p:pic>
      <p:sp>
        <p:nvSpPr>
          <p:cNvPr id="635" name="Text 0"/>
          <p:cNvSpPr/>
          <p:nvPr/>
        </p:nvSpPr>
        <p:spPr>
          <a:xfrm>
            <a:off x="4971240" y="1643760"/>
            <a:ext cx="22485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hooksmith doctor</a:t>
            </a:r>
            <a:endParaRPr lang="en-US" sz="1200" b="0" u="none" strike="noStrike">
              <a:solidFill>
                <a:srgbClr val="FFFFFF"/>
              </a:solidFill>
              <a:effectLst/>
              <a:uFillTx/>
              <a:latin typeface="Arial"/>
            </a:endParaRPr>
          </a:p>
        </p:txBody>
      </p:sp>
      <p:sp>
        <p:nvSpPr>
          <p:cNvPr id="636" name="PlaceHolder 1"/>
          <p:cNvSpPr>
            <a:spLocks noGrp="1"/>
          </p:cNvSpPr>
          <p:nvPr>
            <p:ph type="title"/>
          </p:nvPr>
        </p:nvSpPr>
        <p:spPr>
          <a:xfrm>
            <a:off x="3281400" y="2162160"/>
            <a:ext cx="562860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What has actually run</a:t>
            </a:r>
            <a:endParaRPr lang="en-US" sz="3600" b="0" u="none" strike="noStrike">
              <a:solidFill>
                <a:schemeClr val="lt1"/>
              </a:solidFill>
              <a:effectLst/>
              <a:uFillTx/>
              <a:latin typeface="JetBrains Mono"/>
            </a:endParaRPr>
          </a:p>
        </p:txBody>
      </p:sp>
      <p:sp>
        <p:nvSpPr>
          <p:cNvPr id="637" name="Shape 2"/>
          <p:cNvSpPr/>
          <p:nvPr/>
        </p:nvSpPr>
        <p:spPr>
          <a:xfrm>
            <a:off x="2292480" y="2976120"/>
            <a:ext cx="7606440" cy="2027520"/>
          </a:xfrm>
          <a:prstGeom prst="roundRect">
            <a:avLst>
              <a:gd name="adj" fmla="val 7200"/>
            </a:avLst>
          </a:prstGeom>
          <a:solidFill>
            <a:srgbClr val="000000"/>
          </a:solidFill>
          <a:ln w="12700">
            <a:solidFill>
              <a:srgbClr val="00F0FF"/>
            </a:solidFill>
            <a:round/>
          </a:ln>
          <a:effectLst>
            <a:outerShdw algn="bl" blurRad="254160" dir="0" dist="0" kx="0" ky="0" rotWithShape="0" sx="100000" sy="100000">
              <a:srgbClr val="00F0FF">
                <a:alpha val="4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38" name="Text 3"/>
          <p:cNvSpPr/>
          <p:nvPr/>
        </p:nvSpPr>
        <p:spPr>
          <a:xfrm>
            <a:off x="2597760" y="3231000"/>
            <a:ext cx="720540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39FF9C"/>
                </a:solidFill>
                <a:effectLst/>
                <a:uFillTx/>
                <a:latin typeface="JetBrains Mono"/>
                <a:ea typeface="JetBrains Mono"/>
              </a:rPr>
              <a:t>[ ok ] </a:t>
            </a:r>
            <a:r>
              <a:rPr lang="en-US" sz="1600" b="0" u="none" strike="noStrike">
                <a:solidFill>
                  <a:srgbClr val="E8F7FF"/>
                </a:solidFill>
                <a:effectLst/>
                <a:uFillTx/>
                <a:latin typeface="JetBrains Mono"/>
                <a:ea typeface="JetBrains Mono"/>
              </a:rPr>
              <a:t>Android AVD · Frida 17</a:t>
            </a:r>
            <a:endParaRPr lang="en-US" sz="1600" b="0" u="none" strike="noStrike">
              <a:solidFill>
                <a:srgbClr val="FFFFFF"/>
              </a:solidFill>
              <a:effectLst/>
              <a:uFillTx/>
              <a:latin typeface="Arial"/>
            </a:endParaRPr>
          </a:p>
        </p:txBody>
      </p:sp>
      <p:sp>
        <p:nvSpPr>
          <p:cNvPr id="639" name="Text 4"/>
          <p:cNvSpPr/>
          <p:nvPr/>
        </p:nvSpPr>
        <p:spPr>
          <a:xfrm>
            <a:off x="2597760" y="3642480"/>
            <a:ext cx="720540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39FF9C"/>
                </a:solidFill>
                <a:effectLst/>
                <a:uFillTx/>
                <a:latin typeface="JetBrains Mono"/>
                <a:ea typeface="JetBrains Mono"/>
              </a:rPr>
              <a:t>[ ok ] </a:t>
            </a:r>
            <a:r>
              <a:rPr lang="en-US" sz="1600" b="0" u="none" strike="noStrike">
                <a:solidFill>
                  <a:srgbClr val="E8F7FF"/>
                </a:solidFill>
                <a:effectLst/>
                <a:uFillTx/>
                <a:latin typeface="JetBrains Mono"/>
                <a:ea typeface="JetBrains Mono"/>
              </a:rPr>
              <a:t>Corellium · Android 16</a:t>
            </a:r>
            <a:endParaRPr lang="en-US" sz="1600" b="0" u="none" strike="noStrike">
              <a:solidFill>
                <a:srgbClr val="FFFFFF"/>
              </a:solidFill>
              <a:effectLst/>
              <a:uFillTx/>
              <a:latin typeface="Arial"/>
            </a:endParaRPr>
          </a:p>
        </p:txBody>
      </p:sp>
      <p:sp>
        <p:nvSpPr>
          <p:cNvPr id="640" name="Text 5"/>
          <p:cNvSpPr/>
          <p:nvPr/>
        </p:nvSpPr>
        <p:spPr>
          <a:xfrm>
            <a:off x="2597760" y="4053960"/>
            <a:ext cx="720540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FFE600"/>
                </a:solidFill>
                <a:effectLst/>
                <a:uFillTx/>
                <a:latin typeface="JetBrains Mono"/>
                <a:ea typeface="JetBrains Mono"/>
              </a:rPr>
              <a:t>[ -- ] </a:t>
            </a:r>
            <a:r>
              <a:rPr lang="en-US" sz="1600" b="0" u="none" strike="noStrike">
                <a:solidFill>
                  <a:srgbClr val="E8F7FF"/>
                </a:solidFill>
                <a:effectLst/>
                <a:uFillTx/>
                <a:latin typeface="JetBrains Mono"/>
                <a:ea typeface="JetBrains Mono"/>
              </a:rPr>
              <a:t>Edge LLM · user defined (upon selecting a modal)</a:t>
            </a:r>
            <a:endParaRPr lang="en-US" sz="1600" b="0" u="none" strike="noStrike">
              <a:solidFill>
                <a:srgbClr val="FFFFFF"/>
              </a:solidFill>
              <a:effectLst/>
              <a:uFillTx/>
              <a:latin typeface="Arial"/>
            </a:endParaRPr>
          </a:p>
        </p:txBody>
      </p:sp>
      <p:sp>
        <p:nvSpPr>
          <p:cNvPr id="641" name="Text 6"/>
          <p:cNvSpPr/>
          <p:nvPr/>
        </p:nvSpPr>
        <p:spPr>
          <a:xfrm>
            <a:off x="2597760" y="4465440"/>
            <a:ext cx="7205400" cy="30924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FFE600"/>
                </a:solidFill>
                <a:effectLst/>
                <a:uFillTx/>
                <a:latin typeface="JetBrains Mono"/>
                <a:ea typeface="JetBrains Mono"/>
              </a:rPr>
              <a:t>[ -- ] </a:t>
            </a:r>
            <a:r>
              <a:rPr lang="en-US" sz="1600" b="0" u="none" strike="noStrike">
                <a:solidFill>
                  <a:srgbClr val="E8F7FF"/>
                </a:solidFill>
                <a:effectLst/>
                <a:uFillTx/>
                <a:latin typeface="JetBrains Mono"/>
                <a:ea typeface="JetBrains Mono"/>
              </a:rPr>
              <a:t>iOS · tests only for now, due to $$$ </a:t>
            </a:r>
            <a:endParaRPr lang="en-US" sz="1600" b="0" u="none" strike="noStrike">
              <a:solidFill>
                <a:srgbClr val="FFFFFF"/>
              </a:solidFill>
              <a:effectLst/>
              <a:uFillTx/>
              <a:latin typeface="Arial"/>
            </a:endParaRPr>
          </a:p>
        </p:txBody>
      </p:sp>
      <p:sp>
        <p:nvSpPr>
          <p:cNvPr id="642" name="Text 7"/>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643" name="Text 8"/>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49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4" name="Image 0" descr="Neon wave background"/>
          <p:cNvPicPr/>
          <p:nvPr/>
        </p:nvPicPr>
        <p:blipFill>
          <a:blip r:embed="rId1"/>
          <a:stretch/>
        </p:blipFill>
        <p:spPr>
          <a:xfrm>
            <a:off x="0" y="0"/>
            <a:ext cx="12191400" cy="6857280"/>
          </a:xfrm>
          <a:prstGeom prst="rect">
            <a:avLst/>
          </a:prstGeom>
          <a:noFill/>
          <a:ln w="0">
            <a:noFill/>
          </a:ln>
        </p:spPr>
      </p:pic>
      <p:sp>
        <p:nvSpPr>
          <p:cNvPr id="645" name="Text 0"/>
          <p:cNvSpPr/>
          <p:nvPr/>
        </p:nvSpPr>
        <p:spPr>
          <a:xfrm>
            <a:off x="5283720" y="1341720"/>
            <a:ext cx="162396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./monday.sh</a:t>
            </a:r>
            <a:endParaRPr lang="en-US" sz="1200" b="0" u="none" strike="noStrike">
              <a:solidFill>
                <a:srgbClr val="FFFFFF"/>
              </a:solidFill>
              <a:effectLst/>
              <a:uFillTx/>
              <a:latin typeface="Arial"/>
            </a:endParaRPr>
          </a:p>
        </p:txBody>
      </p:sp>
      <p:sp>
        <p:nvSpPr>
          <p:cNvPr id="646" name="PlaceHolder 1"/>
          <p:cNvSpPr>
            <a:spLocks noGrp="1"/>
          </p:cNvSpPr>
          <p:nvPr>
            <p:ph type="title"/>
          </p:nvPr>
        </p:nvSpPr>
        <p:spPr>
          <a:xfrm>
            <a:off x="3675960" y="1859760"/>
            <a:ext cx="4839480" cy="527760"/>
          </a:xfrm>
          <a:prstGeom prst="rect">
            <a:avLst/>
          </a:prstGeom>
          <a:noFill/>
          <a:ln w="0">
            <a:noFill/>
          </a:ln>
        </p:spPr>
        <p:txBody>
          <a:bodyPr lIns="0" tIns="0" rIns="0" bIns="0" anchor="t">
            <a:normAutofit/>
          </a:bodyPr>
          <a:p>
            <a:pPr indent="0" algn="ctr" defTabSz="914400">
              <a:lnSpc>
                <a:spcPts val="3960"/>
              </a:lnSpc>
              <a:buNone/>
              <a:tabLst>
                <a:tab pos="0" algn="l"/>
              </a:tabLst>
            </a:pPr>
            <a:r>
              <a:rPr lang="en-US" sz="3600" b="1" u="none" spc="-51" strike="noStrike">
                <a:solidFill>
                  <a:srgbClr val="F2FFFF"/>
                </a:solidFill>
                <a:effectLst/>
                <a:uFillTx/>
                <a:latin typeface="Space Grotesk"/>
                <a:ea typeface="Space Grotesk"/>
              </a:rPr>
              <a:t>Do this on Monday</a:t>
            </a:r>
            <a:endParaRPr lang="en-US" sz="3600" b="0" u="none" strike="noStrike">
              <a:solidFill>
                <a:schemeClr val="lt1"/>
              </a:solidFill>
              <a:effectLst/>
              <a:uFillTx/>
              <a:latin typeface="JetBrains Mono"/>
            </a:endParaRPr>
          </a:p>
        </p:txBody>
      </p:sp>
      <p:sp>
        <p:nvSpPr>
          <p:cNvPr id="647" name="Shape 2"/>
          <p:cNvSpPr/>
          <p:nvPr/>
        </p:nvSpPr>
        <p:spPr>
          <a:xfrm>
            <a:off x="816120" y="2673720"/>
            <a:ext cx="2399760" cy="1321560"/>
          </a:xfrm>
          <a:prstGeom prst="roundRect">
            <a:avLst>
              <a:gd name="adj" fmla="val 11045"/>
            </a:avLst>
          </a:prstGeom>
          <a:solidFill>
            <a:srgbClr val="05070F"/>
          </a:solidFill>
          <a:ln w="12700">
            <a:solidFill>
              <a:srgbClr val="00F0FF"/>
            </a:solidFill>
            <a:round/>
          </a:ln>
          <a:effectLst>
            <a:outerShdw algn="bl" blurRad="190440" dir="0" dist="0" kx="0" ky="0" rotWithShape="0" sx="100000" sy="100000">
              <a:srgbClr val="00F0FF">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48" name="Text 3"/>
          <p:cNvSpPr/>
          <p:nvPr/>
        </p:nvSpPr>
        <p:spPr>
          <a:xfrm>
            <a:off x="1019880" y="287784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00F0FF"/>
                </a:solidFill>
                <a:effectLst/>
                <a:uFillTx/>
                <a:latin typeface="JetBrains Mono"/>
                <a:ea typeface="JetBrains Mono"/>
              </a:rPr>
              <a:t>01</a:t>
            </a:r>
            <a:endParaRPr lang="en-US" sz="1200" b="0" u="none" strike="noStrike">
              <a:solidFill>
                <a:srgbClr val="FFFFFF"/>
              </a:solidFill>
              <a:effectLst/>
              <a:uFillTx/>
              <a:latin typeface="Arial"/>
            </a:endParaRPr>
          </a:p>
        </p:txBody>
      </p:sp>
      <p:sp>
        <p:nvSpPr>
          <p:cNvPr id="649" name="Text 4"/>
          <p:cNvSpPr/>
          <p:nvPr/>
        </p:nvSpPr>
        <p:spPr>
          <a:xfrm>
            <a:off x="1019880" y="3167280"/>
            <a:ext cx="2051640" cy="36000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200" b="1" u="none" strike="noStrike">
                <a:solidFill>
                  <a:srgbClr val="E8F7FF"/>
                </a:solidFill>
                <a:effectLst/>
                <a:uFillTx/>
                <a:latin typeface="Space Grotesk"/>
                <a:ea typeface="Space Grotesk"/>
              </a:rPr>
              <a:t>Scan</a:t>
            </a:r>
            <a:endParaRPr lang="en-US" sz="2200" b="0" u="none" strike="noStrike">
              <a:solidFill>
                <a:srgbClr val="FFFFFF"/>
              </a:solidFill>
              <a:effectLst/>
              <a:uFillTx/>
              <a:latin typeface="Arial"/>
            </a:endParaRPr>
          </a:p>
        </p:txBody>
      </p:sp>
      <p:sp>
        <p:nvSpPr>
          <p:cNvPr id="650" name="Text 5"/>
          <p:cNvSpPr/>
          <p:nvPr/>
        </p:nvSpPr>
        <p:spPr>
          <a:xfrm>
            <a:off x="1019880" y="357876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8FA3C7"/>
                </a:solidFill>
                <a:effectLst/>
                <a:uFillTx/>
                <a:latin typeface="JetBrains Mono"/>
                <a:ea typeface="JetBrains Mono"/>
              </a:rPr>
              <a:t>hooksmith scan</a:t>
            </a:r>
            <a:endParaRPr lang="en-US" sz="1200" b="0" u="none" strike="noStrike">
              <a:solidFill>
                <a:srgbClr val="FFFFFF"/>
              </a:solidFill>
              <a:effectLst/>
              <a:uFillTx/>
              <a:latin typeface="Arial"/>
            </a:endParaRPr>
          </a:p>
        </p:txBody>
      </p:sp>
      <p:sp>
        <p:nvSpPr>
          <p:cNvPr id="651" name="Text 6"/>
          <p:cNvSpPr/>
          <p:nvPr/>
        </p:nvSpPr>
        <p:spPr>
          <a:xfrm>
            <a:off x="3311640" y="3139560"/>
            <a:ext cx="17928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0" u="none" strike="noStrike">
                <a:solidFill>
                  <a:srgbClr val="6F82A8"/>
                </a:solidFill>
                <a:effectLst/>
                <a:uFillTx/>
                <a:latin typeface="Space Grotesk"/>
                <a:ea typeface="Space Grotesk"/>
              </a:rPr>
              <a:t>›</a:t>
            </a:r>
            <a:endParaRPr lang="en-US" sz="2200" b="0" u="none" strike="noStrike">
              <a:solidFill>
                <a:srgbClr val="FFFFFF"/>
              </a:solidFill>
              <a:effectLst/>
              <a:uFillTx/>
              <a:latin typeface="Arial"/>
            </a:endParaRPr>
          </a:p>
        </p:txBody>
      </p:sp>
      <p:sp>
        <p:nvSpPr>
          <p:cNvPr id="652" name="Shape 7"/>
          <p:cNvSpPr/>
          <p:nvPr/>
        </p:nvSpPr>
        <p:spPr>
          <a:xfrm>
            <a:off x="3535920" y="2673720"/>
            <a:ext cx="2399760" cy="1321560"/>
          </a:xfrm>
          <a:prstGeom prst="roundRect">
            <a:avLst>
              <a:gd name="adj" fmla="val 11045"/>
            </a:avLst>
          </a:prstGeom>
          <a:solidFill>
            <a:srgbClr val="05070F"/>
          </a:solidFill>
          <a:ln w="12700">
            <a:solidFill>
              <a:srgbClr val="B07CFF"/>
            </a:solidFill>
            <a:round/>
          </a:ln>
          <a:effectLst>
            <a:outerShdw algn="bl" blurRad="190440" dir="0" dist="0" kx="0" ky="0" rotWithShape="0" sx="100000" sy="100000">
              <a:srgbClr val="B07CFF">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53" name="Text 8"/>
          <p:cNvSpPr/>
          <p:nvPr/>
        </p:nvSpPr>
        <p:spPr>
          <a:xfrm>
            <a:off x="3739680" y="287784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B07CFF"/>
                </a:solidFill>
                <a:effectLst/>
                <a:uFillTx/>
                <a:latin typeface="JetBrains Mono"/>
                <a:ea typeface="JetBrains Mono"/>
              </a:rPr>
              <a:t>02</a:t>
            </a:r>
            <a:endParaRPr lang="en-US" sz="1200" b="0" u="none" strike="noStrike">
              <a:solidFill>
                <a:srgbClr val="FFFFFF"/>
              </a:solidFill>
              <a:effectLst/>
              <a:uFillTx/>
              <a:latin typeface="Arial"/>
            </a:endParaRPr>
          </a:p>
        </p:txBody>
      </p:sp>
      <p:sp>
        <p:nvSpPr>
          <p:cNvPr id="654" name="Text 9"/>
          <p:cNvSpPr/>
          <p:nvPr/>
        </p:nvSpPr>
        <p:spPr>
          <a:xfrm>
            <a:off x="3739680" y="3167280"/>
            <a:ext cx="2051640" cy="36000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200" b="1" u="none" strike="noStrike">
                <a:solidFill>
                  <a:srgbClr val="E8F7FF"/>
                </a:solidFill>
                <a:effectLst/>
                <a:uFillTx/>
                <a:latin typeface="Space Grotesk"/>
                <a:ea typeface="Space Grotesk"/>
              </a:rPr>
              <a:t>Prove</a:t>
            </a:r>
            <a:endParaRPr lang="en-US" sz="2200" b="0" u="none" strike="noStrike">
              <a:solidFill>
                <a:srgbClr val="FFFFFF"/>
              </a:solidFill>
              <a:effectLst/>
              <a:uFillTx/>
              <a:latin typeface="Arial"/>
            </a:endParaRPr>
          </a:p>
        </p:txBody>
      </p:sp>
      <p:sp>
        <p:nvSpPr>
          <p:cNvPr id="655" name="Text 10"/>
          <p:cNvSpPr/>
          <p:nvPr/>
        </p:nvSpPr>
        <p:spPr>
          <a:xfrm>
            <a:off x="3739680" y="357876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8FA3C7"/>
                </a:solidFill>
                <a:effectLst/>
                <a:uFillTx/>
                <a:latin typeface="JetBrains Mono"/>
                <a:ea typeface="JetBrains Mono"/>
              </a:rPr>
              <a:t>hooksmith test</a:t>
            </a:r>
            <a:endParaRPr lang="en-US" sz="1200" b="0" u="none" strike="noStrike">
              <a:solidFill>
                <a:srgbClr val="FFFFFF"/>
              </a:solidFill>
              <a:effectLst/>
              <a:uFillTx/>
              <a:latin typeface="Arial"/>
            </a:endParaRPr>
          </a:p>
        </p:txBody>
      </p:sp>
      <p:sp>
        <p:nvSpPr>
          <p:cNvPr id="656" name="Text 11"/>
          <p:cNvSpPr/>
          <p:nvPr/>
        </p:nvSpPr>
        <p:spPr>
          <a:xfrm>
            <a:off x="6031440" y="3139560"/>
            <a:ext cx="17928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0" u="none" strike="noStrike">
                <a:solidFill>
                  <a:srgbClr val="6F82A8"/>
                </a:solidFill>
                <a:effectLst/>
                <a:uFillTx/>
                <a:latin typeface="Space Grotesk"/>
                <a:ea typeface="Space Grotesk"/>
              </a:rPr>
              <a:t>›</a:t>
            </a:r>
            <a:endParaRPr lang="en-US" sz="2200" b="0" u="none" strike="noStrike">
              <a:solidFill>
                <a:srgbClr val="FFFFFF"/>
              </a:solidFill>
              <a:effectLst/>
              <a:uFillTx/>
              <a:latin typeface="Arial"/>
            </a:endParaRPr>
          </a:p>
        </p:txBody>
      </p:sp>
      <p:sp>
        <p:nvSpPr>
          <p:cNvPr id="657" name="Shape 12"/>
          <p:cNvSpPr/>
          <p:nvPr/>
        </p:nvSpPr>
        <p:spPr>
          <a:xfrm>
            <a:off x="6255720" y="2673720"/>
            <a:ext cx="2399760" cy="1321560"/>
          </a:xfrm>
          <a:prstGeom prst="roundRect">
            <a:avLst>
              <a:gd name="adj" fmla="val 11045"/>
            </a:avLst>
          </a:prstGeom>
          <a:solidFill>
            <a:srgbClr val="05070F"/>
          </a:solidFill>
          <a:ln w="12700">
            <a:solidFill>
              <a:srgbClr val="FFE600"/>
            </a:solidFill>
            <a:round/>
          </a:ln>
          <a:effectLst>
            <a:outerShdw algn="bl" blurRad="190440" dir="0" dist="0" kx="0" ky="0" rotWithShape="0" sx="100000" sy="100000">
              <a:srgbClr val="FFE600">
                <a:alpha val="30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58" name="Text 13"/>
          <p:cNvSpPr/>
          <p:nvPr/>
        </p:nvSpPr>
        <p:spPr>
          <a:xfrm>
            <a:off x="6459840" y="287784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FFE600"/>
                </a:solidFill>
                <a:effectLst/>
                <a:uFillTx/>
                <a:latin typeface="JetBrains Mono"/>
                <a:ea typeface="JetBrains Mono"/>
              </a:rPr>
              <a:t>03</a:t>
            </a:r>
            <a:endParaRPr lang="en-US" sz="1200" b="0" u="none" strike="noStrike">
              <a:solidFill>
                <a:srgbClr val="FFFFFF"/>
              </a:solidFill>
              <a:effectLst/>
              <a:uFillTx/>
              <a:latin typeface="Arial"/>
            </a:endParaRPr>
          </a:p>
        </p:txBody>
      </p:sp>
      <p:sp>
        <p:nvSpPr>
          <p:cNvPr id="659" name="Text 14"/>
          <p:cNvSpPr/>
          <p:nvPr/>
        </p:nvSpPr>
        <p:spPr>
          <a:xfrm>
            <a:off x="6459840" y="3167280"/>
            <a:ext cx="2051640" cy="36000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200" b="1" u="none" strike="noStrike">
                <a:solidFill>
                  <a:srgbClr val="E8F7FF"/>
                </a:solidFill>
                <a:effectLst/>
                <a:uFillTx/>
                <a:latin typeface="Space Grotesk"/>
                <a:ea typeface="Space Grotesk"/>
              </a:rPr>
              <a:t>Sort</a:t>
            </a:r>
            <a:endParaRPr lang="en-US" sz="2200" b="0" u="none" strike="noStrike">
              <a:solidFill>
                <a:srgbClr val="FFFFFF"/>
              </a:solidFill>
              <a:effectLst/>
              <a:uFillTx/>
              <a:latin typeface="Arial"/>
            </a:endParaRPr>
          </a:p>
        </p:txBody>
      </p:sp>
      <p:sp>
        <p:nvSpPr>
          <p:cNvPr id="660" name="Text 15"/>
          <p:cNvSpPr/>
          <p:nvPr/>
        </p:nvSpPr>
        <p:spPr>
          <a:xfrm>
            <a:off x="6459840" y="357876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8FA3C7"/>
                </a:solidFill>
                <a:effectLst/>
                <a:uFillTx/>
                <a:latin typeface="JetBrains Mono"/>
                <a:ea typeface="JetBrains Mono"/>
              </a:rPr>
              <a:t>hooksmith report</a:t>
            </a:r>
            <a:endParaRPr lang="en-US" sz="1200" b="0" u="none" strike="noStrike">
              <a:solidFill>
                <a:srgbClr val="FFFFFF"/>
              </a:solidFill>
              <a:effectLst/>
              <a:uFillTx/>
              <a:latin typeface="Arial"/>
            </a:endParaRPr>
          </a:p>
        </p:txBody>
      </p:sp>
      <p:sp>
        <p:nvSpPr>
          <p:cNvPr id="661" name="Text 16"/>
          <p:cNvSpPr/>
          <p:nvPr/>
        </p:nvSpPr>
        <p:spPr>
          <a:xfrm>
            <a:off x="8751240" y="3139560"/>
            <a:ext cx="179280" cy="415800"/>
          </a:xfrm>
          <a:prstGeom prst="rect">
            <a:avLst/>
          </a:prstGeom>
          <a:noFill/>
          <a:ln w="0">
            <a:noFill/>
          </a:ln>
        </p:spPr>
        <p:style>
          <a:lnRef idx="0"/>
          <a:fillRef idx="0"/>
          <a:effectRef idx="0"/>
          <a:fontRef idx="minor"/>
        </p:style>
        <p:txBody>
          <a:bodyPr lIns="0" tIns="0" rIns="0" bIns="0" anchor="t">
            <a:normAutofit/>
          </a:bodyPr>
          <a:p>
            <a:pPr defTabSz="914400">
              <a:lnSpc>
                <a:spcPts val="3081"/>
              </a:lnSpc>
              <a:tabLst>
                <a:tab pos="0" algn="l"/>
              </a:tabLst>
            </a:pPr>
            <a:r>
              <a:rPr lang="en-US" sz="2200" b="0" u="none" strike="noStrike">
                <a:solidFill>
                  <a:srgbClr val="6F82A8"/>
                </a:solidFill>
                <a:effectLst/>
                <a:uFillTx/>
                <a:latin typeface="Space Grotesk"/>
                <a:ea typeface="Space Grotesk"/>
              </a:rPr>
              <a:t>›</a:t>
            </a:r>
            <a:endParaRPr lang="en-US" sz="2200" b="0" u="none" strike="noStrike">
              <a:solidFill>
                <a:srgbClr val="FFFFFF"/>
              </a:solidFill>
              <a:effectLst/>
              <a:uFillTx/>
              <a:latin typeface="Arial"/>
            </a:endParaRPr>
          </a:p>
        </p:txBody>
      </p:sp>
      <p:sp>
        <p:nvSpPr>
          <p:cNvPr id="662" name="Shape 17"/>
          <p:cNvSpPr/>
          <p:nvPr/>
        </p:nvSpPr>
        <p:spPr>
          <a:xfrm>
            <a:off x="8975880" y="2673720"/>
            <a:ext cx="2399760" cy="1321560"/>
          </a:xfrm>
          <a:prstGeom prst="roundRect">
            <a:avLst>
              <a:gd name="adj" fmla="val 11045"/>
            </a:avLst>
          </a:prstGeom>
          <a:solidFill>
            <a:srgbClr val="05070F"/>
          </a:solidFill>
          <a:ln w="12700">
            <a:solidFill>
              <a:srgbClr val="39FF9C"/>
            </a:solidFill>
            <a:round/>
          </a:ln>
          <a:effectLst>
            <a:outerShdw algn="bl" blurRad="190440" dir="0" dist="0" kx="0" ky="0" rotWithShape="0" sx="100000" sy="100000">
              <a:srgbClr val="39FF9C">
                <a:alpha val="35000"/>
              </a:srgbClr>
            </a:outerShdw>
          </a:effectLst>
        </p:spPr>
        <p:style>
          <a:lnRef idx="0"/>
          <a:fillRef idx="0"/>
          <a:effectRef idx="0"/>
          <a:fontRef idx="minor"/>
        </p:style>
        <p:txBody>
          <a:bodyPr lIns="90000" tIns="45000" rIns="90000" bIns="45000" anchor="t">
            <a:noAutofit/>
          </a:bodyPr>
          <a:p>
            <a:endParaRPr lang="en-US" sz="1800" b="0" u="none" strike="noStrike">
              <a:solidFill>
                <a:schemeClr val="lt1"/>
              </a:solidFill>
              <a:effectLst/>
              <a:uFillTx/>
              <a:latin typeface="JetBrains Mono"/>
            </a:endParaRPr>
          </a:p>
        </p:txBody>
      </p:sp>
      <p:sp>
        <p:nvSpPr>
          <p:cNvPr id="663" name="Text 18"/>
          <p:cNvSpPr/>
          <p:nvPr/>
        </p:nvSpPr>
        <p:spPr>
          <a:xfrm>
            <a:off x="9179640" y="287784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39FF9C"/>
                </a:solidFill>
                <a:effectLst/>
                <a:uFillTx/>
                <a:latin typeface="JetBrains Mono"/>
                <a:ea typeface="JetBrains Mono"/>
              </a:rPr>
              <a:t>04</a:t>
            </a:r>
            <a:endParaRPr lang="en-US" sz="1200" b="0" u="none" strike="noStrike">
              <a:solidFill>
                <a:srgbClr val="FFFFFF"/>
              </a:solidFill>
              <a:effectLst/>
              <a:uFillTx/>
              <a:latin typeface="Arial"/>
            </a:endParaRPr>
          </a:p>
        </p:txBody>
      </p:sp>
      <p:sp>
        <p:nvSpPr>
          <p:cNvPr id="664" name="Text 19"/>
          <p:cNvSpPr/>
          <p:nvPr/>
        </p:nvSpPr>
        <p:spPr>
          <a:xfrm>
            <a:off x="9179640" y="3167280"/>
            <a:ext cx="2051640" cy="36000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200" b="1" u="none" strike="noStrike">
                <a:solidFill>
                  <a:srgbClr val="E8F7FF"/>
                </a:solidFill>
                <a:effectLst/>
                <a:uFillTx/>
                <a:latin typeface="Space Grotesk"/>
                <a:ea typeface="Space Grotesk"/>
              </a:rPr>
              <a:t>Gate</a:t>
            </a:r>
            <a:endParaRPr lang="en-US" sz="2200" b="0" u="none" strike="noStrike">
              <a:solidFill>
                <a:srgbClr val="FFFFFF"/>
              </a:solidFill>
              <a:effectLst/>
              <a:uFillTx/>
              <a:latin typeface="Arial"/>
            </a:endParaRPr>
          </a:p>
        </p:txBody>
      </p:sp>
      <p:sp>
        <p:nvSpPr>
          <p:cNvPr id="665" name="Text 20"/>
          <p:cNvSpPr/>
          <p:nvPr/>
        </p:nvSpPr>
        <p:spPr>
          <a:xfrm>
            <a:off x="9179640" y="3578760"/>
            <a:ext cx="2051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8FA3C7"/>
                </a:solidFill>
                <a:effectLst/>
                <a:uFillTx/>
                <a:latin typeface="JetBrains Mono"/>
                <a:ea typeface="JetBrains Mono"/>
              </a:rPr>
              <a:t>--expect</a:t>
            </a:r>
            <a:endParaRPr lang="en-US" sz="1200" b="0" u="none" strike="noStrike">
              <a:solidFill>
                <a:srgbClr val="FFFFFF"/>
              </a:solidFill>
              <a:effectLst/>
              <a:uFillTx/>
              <a:latin typeface="Arial"/>
            </a:endParaRPr>
          </a:p>
        </p:txBody>
      </p:sp>
      <p:sp>
        <p:nvSpPr>
          <p:cNvPr id="666" name="Text 21"/>
          <p:cNvSpPr/>
          <p:nvPr/>
        </p:nvSpPr>
        <p:spPr>
          <a:xfrm>
            <a:off x="3289680" y="4307400"/>
            <a:ext cx="5611680" cy="1030680"/>
          </a:xfrm>
          <a:prstGeom prst="rect">
            <a:avLst/>
          </a:prstGeom>
          <a:noFill/>
          <a:ln w="0">
            <a:noFill/>
          </a:ln>
        </p:spPr>
        <p:style>
          <a:lnRef idx="0"/>
          <a:fillRef idx="0"/>
          <a:effectRef idx="0"/>
          <a:fontRef idx="minor"/>
        </p:style>
        <p:txBody>
          <a:bodyPr lIns="0" tIns="0" rIns="0" bIns="0" anchor="t">
            <a:normAutofit/>
          </a:bodyPr>
          <a:p>
            <a:pPr algn="ctr" defTabSz="914400">
              <a:lnSpc>
                <a:spcPts val="2639"/>
              </a:lnSpc>
              <a:tabLst>
                <a:tab pos="0" algn="l"/>
              </a:tabLst>
            </a:pPr>
            <a:r>
              <a:rPr lang="en-US" sz="2200" b="0" u="none" strike="noStrike">
                <a:solidFill>
                  <a:srgbClr val="E8F7FF"/>
                </a:solidFill>
                <a:effectLst/>
                <a:uFillTx/>
                <a:latin typeface="Space Grotesk"/>
                <a:ea typeface="Space Grotesk"/>
              </a:rPr>
              <a:t>Step 3 alone WILL </a:t>
            </a:r>
            <a:r>
              <a:rPr lang="en-US" sz="2200" b="0" u="none" strike="noStrike">
                <a:solidFill>
                  <a:srgbClr val="39FF9C"/>
                </a:solidFill>
                <a:effectLst/>
                <a:uFillTx/>
                <a:latin typeface="Space Grotesk"/>
                <a:ea typeface="Space Grotesk"/>
              </a:rPr>
              <a:t>changes your reports</a:t>
            </a:r>
            <a:r>
              <a:rPr lang="en-US" sz="2200" b="0" u="none" strike="noStrike">
                <a:solidFill>
                  <a:srgbClr val="E8F7FF"/>
                </a:solidFill>
                <a:effectLst/>
                <a:uFillTx/>
                <a:latin typeface="Space Grotesk"/>
                <a:ea typeface="Space Grotesk"/>
              </a:rPr>
              <a:t>.</a:t>
            </a:r>
            <a:endParaRPr lang="en-US" sz="2200" b="0" u="none" strike="noStrike">
              <a:solidFill>
                <a:srgbClr val="FFFFFF"/>
              </a:solidFill>
              <a:effectLst/>
              <a:uFillTx/>
              <a:latin typeface="Arial"/>
            </a:endParaRPr>
          </a:p>
          <a:p>
            <a:pPr algn="ctr" defTabSz="914400">
              <a:lnSpc>
                <a:spcPts val="2639"/>
              </a:lnSpc>
              <a:tabLst>
                <a:tab pos="0" algn="l"/>
              </a:tabLst>
            </a:pPr>
            <a:endParaRPr lang="en-US" sz="2200" b="0" u="none" strike="noStrike">
              <a:solidFill>
                <a:srgbClr val="FFFFFF"/>
              </a:solidFill>
              <a:effectLst/>
              <a:uFillTx/>
              <a:latin typeface="Arial"/>
            </a:endParaRPr>
          </a:p>
          <a:p>
            <a:pPr algn="ctr" defTabSz="914400">
              <a:lnSpc>
                <a:spcPts val="2639"/>
              </a:lnSpc>
              <a:tabLst>
                <a:tab pos="0" algn="l"/>
              </a:tabLst>
            </a:pPr>
            <a:r>
              <a:rPr lang="en-US" sz="2200" b="0" u="none" strike="noStrike">
                <a:solidFill>
                  <a:srgbClr val="E8F7FF"/>
                </a:solidFill>
                <a:effectLst/>
                <a:uFillTx/>
                <a:latin typeface="Space Grotesk"/>
                <a:ea typeface="Space Grotesk"/>
              </a:rPr>
              <a:t>^-^</a:t>
            </a:r>
            <a:endParaRPr lang="en-US" sz="2200" b="0" u="none" strike="noStrike">
              <a:solidFill>
                <a:srgbClr val="FFFFFF"/>
              </a:solidFill>
              <a:effectLst/>
              <a:uFillTx/>
              <a:latin typeface="Arial"/>
            </a:endParaRPr>
          </a:p>
        </p:txBody>
      </p:sp>
      <p:sp>
        <p:nvSpPr>
          <p:cNvPr id="667" name="Text 22"/>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sp>
        <p:nvSpPr>
          <p:cNvPr id="668" name="Text 23"/>
          <p:cNvSpPr/>
          <p:nvPr/>
        </p:nvSpPr>
        <p:spPr>
          <a:xfrm>
            <a:off x="9416880" y="6238080"/>
            <a:ext cx="1961280" cy="23796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6F82A8"/>
                </a:solidFill>
                <a:effectLst/>
                <a:uFillTx/>
                <a:latin typeface="JetBrains Mono"/>
                <a:ea typeface="JetBrains Mono"/>
              </a:rPr>
              <a:t>50 / 51</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9" name="Image 0" descr="Neon wave background"/>
          <p:cNvPicPr/>
          <p:nvPr/>
        </p:nvPicPr>
        <p:blipFill>
          <a:blip r:embed="rId1"/>
          <a:stretch/>
        </p:blipFill>
        <p:spPr>
          <a:xfrm>
            <a:off x="0" y="0"/>
            <a:ext cx="12191400" cy="6857280"/>
          </a:xfrm>
          <a:prstGeom prst="rect">
            <a:avLst/>
          </a:prstGeom>
          <a:noFill/>
          <a:ln w="0">
            <a:noFill/>
          </a:ln>
        </p:spPr>
      </p:pic>
      <p:sp>
        <p:nvSpPr>
          <p:cNvPr id="670" name="Text 0"/>
          <p:cNvSpPr/>
          <p:nvPr/>
        </p:nvSpPr>
        <p:spPr>
          <a:xfrm>
            <a:off x="4284000" y="2014920"/>
            <a:ext cx="3623400" cy="237960"/>
          </a:xfrm>
          <a:prstGeom prst="rect">
            <a:avLst/>
          </a:prstGeom>
          <a:noFill/>
          <a:ln w="0">
            <a:noFill/>
          </a:ln>
        </p:spPr>
        <p:style>
          <a:lnRef idx="0"/>
          <a:fillRef idx="0"/>
          <a:effectRef idx="0"/>
          <a:fontRef idx="minor"/>
        </p:style>
        <p:txBody>
          <a:bodyPr lIns="0" tIns="0" rIns="0" bIns="0" anchor="t">
            <a:normAutofit/>
          </a:bodyPr>
          <a:p>
            <a:pPr algn="ctr" defTabSz="914400">
              <a:lnSpc>
                <a:spcPts val="1681"/>
              </a:lnSpc>
              <a:tabLst>
                <a:tab pos="0" algn="l"/>
              </a:tabLst>
            </a:pPr>
            <a:r>
              <a:rPr lang="en-US" sz="1200" b="0" u="none" spc="99" strike="noStrike">
                <a:solidFill>
                  <a:srgbClr val="39FF9C"/>
                </a:solidFill>
                <a:effectLst/>
                <a:uFillTx/>
                <a:latin typeface="JetBrains Mono"/>
                <a:ea typeface="JetBrains Mono"/>
              </a:rPr>
              <a:t>$ echo "released today · MIT"</a:t>
            </a:r>
            <a:endParaRPr lang="en-US" sz="1200" b="0" u="none" strike="noStrike">
              <a:solidFill>
                <a:srgbClr val="FFFFFF"/>
              </a:solidFill>
              <a:effectLst/>
              <a:uFillTx/>
              <a:latin typeface="Arial"/>
            </a:endParaRPr>
          </a:p>
        </p:txBody>
      </p:sp>
      <p:sp>
        <p:nvSpPr>
          <p:cNvPr id="671" name="PlaceHolder 1"/>
          <p:cNvSpPr>
            <a:spLocks noGrp="1"/>
          </p:cNvSpPr>
          <p:nvPr>
            <p:ph type="title"/>
          </p:nvPr>
        </p:nvSpPr>
        <p:spPr>
          <a:xfrm>
            <a:off x="3813120" y="2482200"/>
            <a:ext cx="4565160" cy="1731600"/>
          </a:xfrm>
          <a:prstGeom prst="rect">
            <a:avLst/>
          </a:prstGeom>
          <a:noFill/>
          <a:ln w="0">
            <a:noFill/>
          </a:ln>
        </p:spPr>
        <p:txBody>
          <a:bodyPr lIns="0" tIns="0" rIns="0" bIns="0" anchor="t">
            <a:normAutofit fontScale="92500" lnSpcReduction="9999"/>
          </a:bodyPr>
          <a:p>
            <a:pPr indent="0" algn="ctr" defTabSz="914400">
              <a:lnSpc>
                <a:spcPts val="6721"/>
              </a:lnSpc>
              <a:buNone/>
              <a:tabLst>
                <a:tab pos="0" algn="l"/>
              </a:tabLst>
            </a:pPr>
            <a:r>
              <a:rPr lang="en-US" sz="6400" b="1" u="none" spc="-99" strike="noStrike">
                <a:solidFill>
                  <a:srgbClr val="FFF4FD"/>
                </a:solidFill>
                <a:effectLst/>
                <a:uFillTx/>
                <a:latin typeface="Space Grotesk"/>
                <a:ea typeface="Space Grotesk"/>
              </a:rPr>
              <a:t>Prove it.</a:t>
            </a:r>
            <a:endParaRPr lang="en-US" sz="6400" b="0" u="none" strike="noStrike">
              <a:solidFill>
                <a:schemeClr val="lt1"/>
              </a:solidFill>
              <a:effectLst/>
              <a:uFillTx/>
              <a:latin typeface="JetBrains Mono"/>
            </a:endParaRPr>
          </a:p>
          <a:p>
            <a:pPr indent="0" algn="ctr" defTabSz="914400">
              <a:lnSpc>
                <a:spcPts val="6721"/>
              </a:lnSpc>
              <a:buNone/>
              <a:tabLst>
                <a:tab pos="0" algn="l"/>
              </a:tabLst>
            </a:pPr>
            <a:r>
              <a:rPr lang="en-US" sz="6400" b="1" u="none" spc="-99" strike="noStrike">
                <a:solidFill>
                  <a:srgbClr val="FFF4FD"/>
                </a:solidFill>
                <a:effectLst/>
                <a:uFillTx/>
                <a:latin typeface="Space Grotesk"/>
                <a:ea typeface="Space Grotesk"/>
              </a:rPr>
              <a:t>Or delete it.</a:t>
            </a:r>
            <a:endParaRPr lang="en-US" sz="6400" b="0" u="none" strike="noStrike">
              <a:solidFill>
                <a:schemeClr val="lt1"/>
              </a:solidFill>
              <a:effectLst/>
              <a:uFillTx/>
              <a:latin typeface="JetBrains Mono"/>
            </a:endParaRPr>
          </a:p>
        </p:txBody>
      </p:sp>
      <p:sp>
        <p:nvSpPr>
          <p:cNvPr id="672" name="Text 2"/>
          <p:cNvSpPr/>
          <p:nvPr/>
        </p:nvSpPr>
        <p:spPr>
          <a:xfrm>
            <a:off x="1555920" y="4449240"/>
            <a:ext cx="6239160" cy="640800"/>
          </a:xfrm>
          <a:prstGeom prst="roundRect">
            <a:avLst>
              <a:gd name="adj" fmla="val 22765"/>
            </a:avLst>
          </a:prstGeom>
          <a:solidFill>
            <a:srgbClr val="000000"/>
          </a:solidFill>
          <a:ln w="12700">
            <a:solidFill>
              <a:srgbClr val="39FF9C"/>
            </a:solidFill>
            <a:round/>
          </a:ln>
          <a:effectLst>
            <a:outerShdw algn="bl" blurRad="254160" dir="0" dist="0" kx="0" ky="0" rotWithShape="0" sx="100000" sy="100000">
              <a:srgbClr val="39FF9C">
                <a:alpha val="45000"/>
              </a:srgbClr>
            </a:outerShdw>
          </a:effectLst>
        </p:spPr>
        <p:style>
          <a:lnRef idx="0"/>
          <a:fillRef idx="0"/>
          <a:effectRef idx="0"/>
          <a:fontRef idx="minor"/>
        </p:style>
        <p:txBody>
          <a:bodyPr wrap="none" lIns="0" tIns="0" rIns="0" bIns="0" anchor="ctr">
            <a:normAutofit/>
          </a:bodyPr>
          <a:p>
            <a:pPr algn="ctr" defTabSz="914400">
              <a:lnSpc>
                <a:spcPts val="2239"/>
              </a:lnSpc>
              <a:tabLst>
                <a:tab pos="0" algn="l"/>
              </a:tabLst>
            </a:pPr>
            <a:r>
              <a:rPr lang="en-US" sz="1600" b="0" u="none" strike="noStrike">
                <a:solidFill>
                  <a:srgbClr val="39FF9C"/>
                </a:solidFill>
                <a:effectLst/>
                <a:uFillTx/>
                <a:latin typeface="JetBrains Mono"/>
                <a:ea typeface="JetBrains Mono"/>
              </a:rPr>
              <a:t>$ </a:t>
            </a:r>
            <a:r>
              <a:rPr lang="en-US" sz="1600" b="0" u="none" strike="noStrike">
                <a:solidFill>
                  <a:srgbClr val="E8F7FF"/>
                </a:solidFill>
                <a:effectLst/>
                <a:uFillTx/>
                <a:latin typeface="JetBrains Mono"/>
                <a:ea typeface="JetBrains Mono"/>
              </a:rPr>
              <a:t>git clone [github.com/jacksessions/hooksmith]</a:t>
            </a:r>
            <a:endParaRPr lang="en-US" sz="1600" b="0" u="none" strike="noStrike">
              <a:solidFill>
                <a:srgbClr val="FFFFFF"/>
              </a:solidFill>
              <a:effectLst/>
              <a:uFillTx/>
              <a:latin typeface="Arial"/>
            </a:endParaRPr>
          </a:p>
        </p:txBody>
      </p:sp>
      <p:sp>
        <p:nvSpPr>
          <p:cNvPr id="673" name="Text 3"/>
          <p:cNvSpPr/>
          <p:nvPr/>
        </p:nvSpPr>
        <p:spPr>
          <a:xfrm>
            <a:off x="7908840" y="4449960"/>
            <a:ext cx="2981520" cy="664920"/>
          </a:xfrm>
          <a:prstGeom prst="rect">
            <a:avLst/>
          </a:prstGeom>
          <a:noFill/>
          <a:ln w="0">
            <a:noFill/>
          </a:ln>
        </p:spPr>
        <p:style>
          <a:lnRef idx="0"/>
          <a:fillRef idx="0"/>
          <a:effectRef idx="0"/>
          <a:fontRef idx="minor"/>
        </p:style>
        <p:txBody>
          <a:bodyPr lIns="0" tIns="0" rIns="0" bIns="0" anchor="t">
            <a:normAutofit/>
          </a:bodyPr>
          <a:p>
            <a:pPr algn="ctr" defTabSz="914400">
              <a:lnSpc>
                <a:spcPts val="5040"/>
              </a:lnSpc>
              <a:tabLst>
                <a:tab pos="0" algn="l"/>
              </a:tabLst>
            </a:pPr>
            <a:r>
              <a:rPr lang="en-US" sz="3600" b="1" u="none" strike="noStrike">
                <a:solidFill>
                  <a:srgbClr val="00F0FF"/>
                </a:solidFill>
                <a:effectLst/>
                <a:uFillTx/>
                <a:latin typeface="Space Grotesk"/>
                <a:ea typeface="Space Grotesk"/>
              </a:rPr>
              <a:t>Questions?</a:t>
            </a:r>
            <a:endParaRPr lang="en-US" sz="3600" b="0" u="none" strike="noStrike">
              <a:solidFill>
                <a:srgbClr val="FFFFFF"/>
              </a:solidFill>
              <a:effectLst/>
              <a:uFillTx/>
              <a:latin typeface="Arial"/>
            </a:endParaRPr>
          </a:p>
        </p:txBody>
      </p:sp>
      <p:sp>
        <p:nvSpPr>
          <p:cNvPr id="674" name="Text 4"/>
          <p:cNvSpPr/>
          <p:nvPr/>
        </p:nvSpPr>
        <p:spPr>
          <a:xfrm>
            <a:off x="812880" y="6238080"/>
            <a:ext cx="5885640" cy="23796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pc="51" strike="noStrike">
                <a:solidFill>
                  <a:srgbClr val="6F82A8"/>
                </a:solidFill>
                <a:effectLst/>
                <a:uFillTx/>
                <a:latin typeface="JetBrains Mono"/>
                <a:ea typeface="JetBrains Mono"/>
              </a:rPr>
              <a:t>JACK SESSIONS</a:t>
            </a:r>
            <a:endParaRPr lang="en-US" sz="1200" b="0" u="none" strike="noStrike">
              <a:solidFill>
                <a:srgbClr val="FFFFFF"/>
              </a:solidFill>
              <a:effectLst/>
              <a:uFillTx/>
              <a:latin typeface="Arial"/>
            </a:endParaRPr>
          </a:p>
        </p:txBody>
      </p:sp>
      <p:pic>
        <p:nvPicPr>
          <p:cNvPr id="675" name=""/>
          <p:cNvPicPr/>
          <p:nvPr/>
        </p:nvPicPr>
        <p:blipFill>
          <a:blip r:embed="rId2"/>
          <a:stretch/>
        </p:blipFill>
        <p:spPr>
          <a:xfrm>
            <a:off x="9841680" y="457200"/>
            <a:ext cx="2045160" cy="20570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rove or Delete: HookSmith">
  <a:themeElements>
    <a:clrScheme name="Prove or Delete: HookSmith">
      <a:dk1>
        <a:srgbClr val="240B2E"/>
      </a:dk1>
      <a:lt1>
        <a:srgbClr val="FAF9F5"/>
      </a:lt1>
      <a:dk2>
        <a:srgbClr val="392342"/>
      </a:dk2>
      <a:lt2>
        <a:srgbClr val="C5BEC3"/>
      </a:lt2>
      <a:accent1>
        <a:srgbClr val="6F82A8"/>
      </a:accent1>
      <a:accent2>
        <a:srgbClr val="39FF9C"/>
      </a:accent2>
      <a:accent3>
        <a:srgbClr val="8FA3C7"/>
      </a:accent3>
      <a:accent4>
        <a:srgbClr val="FFE600"/>
      </a:accent4>
      <a:accent5>
        <a:srgbClr val="00F0FF"/>
      </a:accent5>
      <a:accent6>
        <a:srgbClr val="FF5A5F"/>
      </a:accent6>
      <a:hlink>
        <a:srgbClr val="0563C1"/>
      </a:hlink>
      <a:folHlink>
        <a:srgbClr val="954F72"/>
      </a:folHlink>
    </a:clrScheme>
    <a:fontScheme name="Prove or Delete: HookSmith">
      <a:majorFont>
        <a:latin typeface="Space Grotesk" pitchFamily="0" charset="1"/>
        <a:ea typeface=""/>
        <a:cs typeface=""/>
      </a:majorFont>
      <a:minorFont>
        <a:latin typeface="JetBrains Mono"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2026-10-13T23:32:28Z</dcterms:created>
  <dc:creator/>
  <dc:description/>
  <dc:language>en-US</dc:language>
  <cp:lastModifiedBy/>
  <dcterms:modified xsi:type="dcterms:W3CDTF">2026-10-16T10:25:38Z</dcterms:modified>
  <cp:revision>3</cp:revision>
  <dc:subject/>
  <dc:title>Prove or Delete: HookSmith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48</vt:i4>
  </property>
  <property fmtid="{D5CDD505-2E9C-101B-9397-08002B2CF9AE}" pid="3" name="PresentationFormat">
    <vt:lpwstr>On-screen Show (16:9)</vt:lpwstr>
  </property>
  <property fmtid="{D5CDD505-2E9C-101B-9397-08002B2CF9AE}" pid="4" name="Slides">
    <vt:i4>48</vt:i4>
  </property>
</Properties>
</file>